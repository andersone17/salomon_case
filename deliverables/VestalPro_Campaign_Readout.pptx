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1_0.xml" ContentType="application/vnd.ms-powerpoint.comments+xml"/>
  <Override PartName="/ppt/comments/modernComment_111_F9A21C54.xml" ContentType="application/vnd.ms-powerpoint.comment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60" r:id="rId5"/>
    <p:sldId id="270" r:id="rId6"/>
    <p:sldId id="263" r:id="rId7"/>
    <p:sldId id="262" r:id="rId8"/>
    <p:sldId id="273" r:id="rId9"/>
    <p:sldId id="264" r:id="rId10"/>
    <p:sldId id="265" r:id="rId11"/>
    <p:sldId id="266" r:id="rId12"/>
    <p:sldId id="267" r:id="rId13"/>
    <p:sldId id="268" r:id="rId14"/>
    <p:sldId id="272" r:id="rId15"/>
    <p:sldId id="269" r:id="rId16"/>
    <p:sldId id="25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7CB7528-0317-1151-A7B7-34D5B6A94F6F}" name="Anderson, Edward Clifford (eca4zm)" initials="EA" userId="S::eca4zm@virginia.edu::8b27aeba-14ab-4313-9339-48da5a11e8c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1" d="100"/>
          <a:sy n="91" d="100"/>
        </p:scale>
        <p:origin x="656" y="7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Lift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057B8"/>
              </a:solidFill>
            </c:spPr>
            <c:extLst>
              <c:ext xmlns:c16="http://schemas.microsoft.com/office/drawing/2014/chart" uri="{C3380CC4-5D6E-409C-BE32-E72D297353CC}">
                <c16:uniqueId val="{00000001-C87C-4166-A2F8-084CFC726EE5}"/>
              </c:ext>
            </c:extLst>
          </c:dPt>
          <c:dPt>
            <c:idx val="1"/>
            <c:invertIfNegative val="1"/>
            <c:bubble3D val="0"/>
            <c:spPr>
              <a:solidFill>
                <a:srgbClr val="0057B8"/>
              </a:solidFill>
            </c:spPr>
            <c:extLst>
              <c:ext xmlns:c16="http://schemas.microsoft.com/office/drawing/2014/chart" uri="{C3380CC4-5D6E-409C-BE32-E72D297353CC}">
                <c16:uniqueId val="{00000003-C87C-4166-A2F8-084CFC726EE5}"/>
              </c:ext>
            </c:extLst>
          </c:dPt>
          <c:dPt>
            <c:idx val="2"/>
            <c:invertIfNegative val="1"/>
            <c:bubble3D val="0"/>
            <c:spPr>
              <a:solidFill>
                <a:srgbClr val="000000"/>
              </a:solidFill>
            </c:spPr>
            <c:extLst>
              <c:ext xmlns:c16="http://schemas.microsoft.com/office/drawing/2014/chart" uri="{C3380CC4-5D6E-409C-BE32-E72D297353CC}">
                <c16:uniqueId val="{00000005-C87C-4166-A2F8-084CFC726EE5}"/>
              </c:ext>
            </c:extLst>
          </c:dPt>
          <c:dLbls>
            <c:numFmt formatCode="\+0.0%;\-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Trail Apparel</c:v>
                </c:pt>
                <c:pt idx="1">
                  <c:v>Trail Accessories</c:v>
                </c:pt>
                <c:pt idx="2">
                  <c:v>All adjacent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5.4031981084650842E-2</c:v>
                </c:pt>
                <c:pt idx="1">
                  <c:v>0.16948559269683569</c:v>
                </c:pt>
                <c:pt idx="2">
                  <c:v>9.1772154004968576E-2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87C-4166-A2F8-084CFC726EE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100">
                <a:solidFill>
                  <a:srgbClr val="757575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;;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iROAS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757575"/>
              </a:solidFill>
            </c:spPr>
            <c:extLst>
              <c:ext xmlns:c16="http://schemas.microsoft.com/office/drawing/2014/chart" uri="{C3380CC4-5D6E-409C-BE32-E72D297353CC}">
                <c16:uniqueId val="{00000001-2A71-41A5-99A8-CE6639E760EB}"/>
              </c:ext>
            </c:extLst>
          </c:dPt>
          <c:dPt>
            <c:idx val="1"/>
            <c:invertIfNegative val="1"/>
            <c:bubble3D val="0"/>
            <c:spPr>
              <a:solidFill>
                <a:srgbClr val="757575"/>
              </a:solidFill>
            </c:spPr>
            <c:extLst>
              <c:ext xmlns:c16="http://schemas.microsoft.com/office/drawing/2014/chart" uri="{C3380CC4-5D6E-409C-BE32-E72D297353CC}">
                <c16:uniqueId val="{00000003-2A71-41A5-99A8-CE6639E760EB}"/>
              </c:ext>
            </c:extLst>
          </c:dPt>
          <c:dPt>
            <c:idx val="2"/>
            <c:invertIfNegative val="1"/>
            <c:bubble3D val="0"/>
            <c:spPr>
              <a:solidFill>
                <a:srgbClr val="0057B8"/>
              </a:solidFill>
            </c:spPr>
            <c:extLst>
              <c:ext xmlns:c16="http://schemas.microsoft.com/office/drawing/2014/chart" uri="{C3380CC4-5D6E-409C-BE32-E72D297353CC}">
                <c16:uniqueId val="{00000005-2A71-41A5-99A8-CE6639E760EB}"/>
              </c:ext>
            </c:extLst>
          </c:dPt>
          <c:dPt>
            <c:idx val="3"/>
            <c:invertIfNegative val="1"/>
            <c:bubble3D val="0"/>
            <c:spPr>
              <a:solidFill>
                <a:srgbClr val="0057B8"/>
              </a:solidFill>
            </c:spPr>
            <c:extLst>
              <c:ext xmlns:c16="http://schemas.microsoft.com/office/drawing/2014/chart" uri="{C3380CC4-5D6E-409C-BE32-E72D297353CC}">
                <c16:uniqueId val="{00000007-2A71-41A5-99A8-CE6639E760EB}"/>
              </c:ext>
            </c:extLst>
          </c:dPt>
          <c:dPt>
            <c:idx val="4"/>
            <c:invertIfNegative val="1"/>
            <c:bubble3D val="0"/>
            <c:spPr>
              <a:solidFill>
                <a:srgbClr val="0057B8"/>
              </a:solidFill>
            </c:spPr>
            <c:extLst>
              <c:ext xmlns:c16="http://schemas.microsoft.com/office/drawing/2014/chart" uri="{C3380CC4-5D6E-409C-BE32-E72D297353CC}">
                <c16:uniqueId val="{00000009-2A71-41A5-99A8-CE6639E760EB}"/>
              </c:ext>
            </c:extLst>
          </c:dPt>
          <c:dLbls>
            <c:numFmt formatCode="0.0&quot;×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Paid Social</c:v>
                </c:pt>
                <c:pt idx="1">
                  <c:v>Paid Search</c:v>
                </c:pt>
                <c:pt idx="2">
                  <c:v>Affiliate</c:v>
                </c:pt>
                <c:pt idx="3">
                  <c:v>SMS</c:v>
                </c:pt>
                <c:pt idx="4">
                  <c:v>Email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0.30263626208104794</c:v>
                </c:pt>
                <c:pt idx="1">
                  <c:v>0.9270704798942021</c:v>
                </c:pt>
                <c:pt idx="2">
                  <c:v>1.2788902238995834</c:v>
                </c:pt>
                <c:pt idx="3">
                  <c:v>2.530420436382097</c:v>
                </c:pt>
                <c:pt idx="4">
                  <c:v>7.1116192565169118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A71-41A5-99A8-CE6639E760E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100">
                <a:solidFill>
                  <a:srgbClr val="757575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numFmt formatCode=";;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Core-size availability</c:v>
                </c:pt>
              </c:strCache>
            </c:strRef>
          </c:tx>
          <c:spPr>
            <a:ln w="34925">
              <a:solidFill>
                <a:srgbClr val="0057B8"/>
              </a:solidFill>
            </a:ln>
          </c:spPr>
          <c:marker>
            <c:symbol val="none"/>
          </c:marker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>
                    <a:solidFill>
                      <a:srgbClr val="0057B8"/>
                    </a:solidFill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Wk 1</c:v>
                </c:pt>
                <c:pt idx="1">
                  <c:v>Wk 2</c:v>
                </c:pt>
                <c:pt idx="2">
                  <c:v>Wk 3</c:v>
                </c:pt>
                <c:pt idx="3">
                  <c:v>Wk 4</c:v>
                </c:pt>
                <c:pt idx="4">
                  <c:v>Wk 5</c:v>
                </c:pt>
                <c:pt idx="5">
                  <c:v>Wk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0.97268571428571426</c:v>
                </c:pt>
                <c:pt idx="1">
                  <c:v>0.97517142857142858</c:v>
                </c:pt>
                <c:pt idx="2">
                  <c:v>0.90817142857142852</c:v>
                </c:pt>
                <c:pt idx="3">
                  <c:v>0.81554285714285712</c:v>
                </c:pt>
                <c:pt idx="4">
                  <c:v>0.73749999999999993</c:v>
                </c:pt>
                <c:pt idx="5">
                  <c:v>0.5618428571428572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05C-49B1-883E-0F80600998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Overall in-stock rate</c:v>
                </c:pt>
              </c:strCache>
            </c:strRef>
          </c:tx>
          <c:spPr>
            <a:ln w="25400">
              <a:solidFill>
                <a:srgbClr val="757575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Wk 1</c:v>
                </c:pt>
                <c:pt idx="1">
                  <c:v>Wk 2</c:v>
                </c:pt>
                <c:pt idx="2">
                  <c:v>Wk 3</c:v>
                </c:pt>
                <c:pt idx="3">
                  <c:v>Wk 4</c:v>
                </c:pt>
                <c:pt idx="4">
                  <c:v>Wk 5</c:v>
                </c:pt>
                <c:pt idx="5">
                  <c:v>Wk 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0.98772857142857151</c:v>
                </c:pt>
                <c:pt idx="1">
                  <c:v>0.98921428571428571</c:v>
                </c:pt>
                <c:pt idx="2">
                  <c:v>0.95195714285714295</c:v>
                </c:pt>
                <c:pt idx="3">
                  <c:v>0.89985714285714291</c:v>
                </c:pt>
                <c:pt idx="4">
                  <c:v>0.8777571428571429</c:v>
                </c:pt>
                <c:pt idx="5">
                  <c:v>0.77852857142857146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05C-49B1-883E-0F80600998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000">
                <a:solidFill>
                  <a:srgbClr val="757575"/>
                </a:solidFill>
                <a:latin typeface="Arial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"/>
          <c:min val="0.4"/>
        </c:scaling>
        <c:delete val="0"/>
        <c:axPos val="l"/>
        <c:majorGridlines>
          <c:spPr>
            <a:ln w="6350">
              <a:solidFill>
                <a:srgbClr val="ECECEC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757575"/>
                </a:solidFill>
                <a:latin typeface="Arial"/>
              </a:defRPr>
            </a:pPr>
            <a:endParaRPr lang="en-US"/>
          </a:p>
        </c:txPr>
        <c:crossAx val="2118791784"/>
        <c:crosses val="autoZero"/>
        <c:crossBetween val="between"/>
        <c:majorUnit val="0.2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D37015C-7D34-49FA-BAA9-B6942D33995A}" authorId="{F7CB7528-0317-1151-A7B7-34D5B6A94F6F}" created="2026-07-17T16:24:44.055">
    <pc:sldMkLst xmlns:pc="http://schemas.microsoft.com/office/powerpoint/2013/main/command">
      <pc:docMk/>
      <pc:sldMk cId="0" sldId="257"/>
    </pc:sldMkLst>
    <p188:txBody>
      <a:bodyPr/>
      <a:lstStyle/>
      <a:p>
        <a:r>
          <a:rPr lang="en-US"/>
          <a:t>Mention brand awareness on this slide?? </a:t>
        </a:r>
      </a:p>
    </p188:txBody>
  </p188:cm>
</p188:cmLst>
</file>

<file path=ppt/comments/modernComment_111_F9A21C5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01D2F72-3A38-41AD-A3F8-C7F5E69541D1}" authorId="{F7CB7528-0317-1151-A7B7-34D5B6A94F6F}" created="2026-07-17T19:32:02.408">
    <pc:sldMkLst xmlns:pc="http://schemas.microsoft.com/office/powerpoint/2013/main/command">
      <pc:docMk/>
      <pc:sldMk cId="4188150868" sldId="273"/>
    </pc:sldMkLst>
    <p188:txBody>
      <a:bodyPr/>
      <a:lstStyle/>
      <a:p>
        <a:r>
          <a:rPr lang="en-US"/>
          <a:t>SLIDE NEEDS WORK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01_0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11_F9A21C5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156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0" i="0" dirty="0">
                <a:solidFill>
                  <a:srgbClr val="FFFFFF"/>
                </a:solidFill>
                <a:latin typeface="Georgia"/>
              </a:rPr>
              <a:t>Vestal Pro </a:t>
            </a:r>
            <a:r>
              <a:rPr lang="en-US" sz="4400" b="0" i="0" dirty="0">
                <a:solidFill>
                  <a:srgbClr val="FFFFFF"/>
                </a:solidFill>
                <a:latin typeface="Georgia"/>
              </a:rPr>
              <a:t>Shoe </a:t>
            </a:r>
            <a:r>
              <a:rPr sz="4400" b="0" i="0" dirty="0">
                <a:solidFill>
                  <a:srgbClr val="FFFFFF"/>
                </a:solidFill>
                <a:latin typeface="Georgia"/>
              </a:rPr>
              <a:t>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515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dirty="0">
                <a:solidFill>
                  <a:srgbClr val="3E8EDE"/>
                </a:solidFill>
                <a:latin typeface="Georgia"/>
              </a:rPr>
              <a:t>Campaign Performance </a:t>
            </a:r>
            <a:r>
              <a:rPr lang="en-US" sz="2400" b="0" i="0" dirty="0">
                <a:solidFill>
                  <a:srgbClr val="3E8EDE"/>
                </a:solidFill>
                <a:latin typeface="Georgia"/>
              </a:rPr>
              <a:t>Report</a:t>
            </a:r>
            <a:endParaRPr sz="2400" b="0" i="0" dirty="0">
              <a:solidFill>
                <a:srgbClr val="3E8EDE"/>
              </a:solidFill>
              <a:latin typeface="Georg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515600" cy="4514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FFFFFF"/>
                </a:solidFill>
                <a:latin typeface="Arial"/>
              </a:rPr>
              <a:t>North America eCommerce</a:t>
            </a:r>
          </a:p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FFFFFF"/>
                </a:solidFill>
                <a:latin typeface="Arial"/>
              </a:rPr>
              <a:t>Active campaign: </a:t>
            </a:r>
            <a:r>
              <a:rPr lang="en-US" sz="1300" b="0" i="0" dirty="0">
                <a:solidFill>
                  <a:srgbClr val="FFFFFF"/>
                </a:solidFill>
                <a:latin typeface="Arial"/>
              </a:rPr>
              <a:t>June 1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– </a:t>
            </a:r>
            <a:r>
              <a:rPr lang="en-US" sz="1300" b="0" i="0" dirty="0">
                <a:solidFill>
                  <a:srgbClr val="FFFFFF"/>
                </a:solidFill>
                <a:latin typeface="Arial"/>
              </a:rPr>
              <a:t>June 20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, 202</a:t>
            </a:r>
            <a:r>
              <a:rPr lang="en-US" sz="1300" b="0" i="0" dirty="0">
                <a:solidFill>
                  <a:srgbClr val="FFFFFF"/>
                </a:solidFill>
                <a:latin typeface="Arial"/>
              </a:rPr>
              <a:t>6</a:t>
            </a:r>
            <a:endParaRPr sz="13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6080760"/>
            <a:ext cx="10515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dirty="0">
                <a:solidFill>
                  <a:srgbClr val="757575"/>
                </a:solidFill>
                <a:latin typeface="Arial"/>
              </a:rPr>
              <a:t>Marketing Insights &amp; Analytics  ·  </a:t>
            </a:r>
            <a:r>
              <a:rPr lang="en-US" sz="1000" b="0" i="0" dirty="0">
                <a:solidFill>
                  <a:srgbClr val="757575"/>
                </a:solidFill>
                <a:latin typeface="Arial"/>
              </a:rPr>
              <a:t>**</a:t>
            </a:r>
            <a:r>
              <a:rPr sz="1000" b="0" i="0" dirty="0">
                <a:solidFill>
                  <a:srgbClr val="757575"/>
                </a:solidFill>
                <a:latin typeface="Arial"/>
              </a:rPr>
              <a:t>synthetic case data</a:t>
            </a:r>
            <a:r>
              <a:rPr lang="en-US" sz="1000" b="0" i="0" dirty="0">
                <a:solidFill>
                  <a:srgbClr val="757575"/>
                </a:solidFill>
                <a:latin typeface="Arial"/>
              </a:rPr>
              <a:t>**</a:t>
            </a:r>
            <a:endParaRPr sz="1000" b="0" i="0" dirty="0">
              <a:solidFill>
                <a:srgbClr val="757575"/>
              </a:solidFill>
              <a:latin typeface="Arial"/>
            </a:endParaRPr>
          </a:p>
        </p:txBody>
      </p:sp>
      <p:pic>
        <p:nvPicPr>
          <p:cNvPr id="7" name="Picture 6" descr="salomon_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900000"/>
            <a:ext cx="2560320" cy="2933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768716-E813-22B1-DA55-7CCD827955A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0" y="-531516"/>
            <a:ext cx="13527464" cy="90183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757575"/>
                </a:solidFill>
                <a:latin typeface="Arial"/>
              </a:rPr>
              <a:t>CAMPAIGN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0140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300" dirty="0">
                <a:solidFill>
                  <a:srgbClr val="000000"/>
                </a:solidFill>
                <a:latin typeface="Georgia"/>
              </a:rPr>
              <a:t>20-day GTM campaign; success measured against campaign forecast.</a:t>
            </a:r>
            <a:endParaRPr sz="2300" b="0" i="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757575"/>
                </a:solidFill>
                <a:latin typeface="Arial"/>
              </a:rPr>
              <a:t>PRIMARY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5394960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 dirty="0">
                <a:solidFill>
                  <a:srgbClr val="333333"/>
                </a:solidFill>
                <a:latin typeface="Arial"/>
              </a:rPr>
              <a:t>•  Create incremental footwear revenue</a:t>
            </a:r>
          </a:p>
          <a:p>
            <a:pPr algn="l">
              <a:spcAft>
                <a:spcPts val="600"/>
              </a:spcAft>
            </a:pPr>
            <a:r>
              <a:rPr sz="1250" b="0" i="0" dirty="0">
                <a:solidFill>
                  <a:srgbClr val="333333"/>
                </a:solidFill>
                <a:latin typeface="Arial"/>
              </a:rPr>
              <a:t>•  Acquire new trail-running consumers</a:t>
            </a:r>
          </a:p>
          <a:p>
            <a:pPr algn="l">
              <a:spcAft>
                <a:spcPts val="600"/>
              </a:spcAft>
            </a:pPr>
            <a:r>
              <a:rPr sz="1250" b="0" i="0" dirty="0">
                <a:solidFill>
                  <a:srgbClr val="333333"/>
                </a:solidFill>
                <a:latin typeface="Arial"/>
              </a:rPr>
              <a:t>•  Establish Vestal Pro </a:t>
            </a:r>
            <a:r>
              <a:rPr lang="en-US" sz="1250" b="0" i="0" dirty="0">
                <a:solidFill>
                  <a:srgbClr val="333333"/>
                </a:solidFill>
                <a:latin typeface="Arial"/>
              </a:rPr>
              <a:t>as flagship Salomon ultra-running shoe</a:t>
            </a:r>
            <a:endParaRPr sz="1250" b="0" i="0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306324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757575"/>
                </a:solidFill>
                <a:latin typeface="Arial"/>
              </a:rPr>
              <a:t>SECONDARY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64992"/>
            <a:ext cx="5394960" cy="1000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 dirty="0">
                <a:solidFill>
                  <a:srgbClr val="333333"/>
                </a:solidFill>
                <a:latin typeface="Arial"/>
              </a:rPr>
              <a:t>•  Grow the email / SMS consumer database</a:t>
            </a:r>
          </a:p>
          <a:p>
            <a:pPr algn="l">
              <a:spcAft>
                <a:spcPts val="600"/>
              </a:spcAft>
            </a:pPr>
            <a:r>
              <a:rPr sz="1250" b="0" i="0" dirty="0">
                <a:solidFill>
                  <a:srgbClr val="333333"/>
                </a:solidFill>
                <a:latin typeface="Arial"/>
              </a:rPr>
              <a:t>•  Generate halo demand across adjacent trail categories</a:t>
            </a:r>
            <a:endParaRPr lang="en-US" sz="1250" b="0" i="0" dirty="0">
              <a:solidFill>
                <a:srgbClr val="333333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lang="en-US" sz="1250" dirty="0">
                <a:solidFill>
                  <a:srgbClr val="333333"/>
                </a:solidFill>
                <a:latin typeface="Arial"/>
              </a:rPr>
              <a:t>•  Increase Salomon brand awareness</a:t>
            </a:r>
            <a:endParaRPr sz="1250" b="0" i="0" dirty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600"/>
              </a:spcAft>
            </a:pPr>
            <a:r>
              <a:rPr sz="1250" b="0" i="0" dirty="0">
                <a:solidFill>
                  <a:srgbClr val="333333"/>
                </a:solidFill>
                <a:latin typeface="Arial"/>
              </a:rPr>
              <a:t>•  Limit cannibalization of existing footwear franchises</a:t>
            </a:r>
            <a:endParaRPr lang="en-US" sz="1250" b="0" i="0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09360" y="1481328"/>
            <a:ext cx="53949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757575"/>
                </a:solidFill>
                <a:latin typeface="Arial"/>
              </a:rPr>
              <a:t>SUCCESS CRITERIA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83080"/>
            <a:ext cx="5394960" cy="1538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 dirty="0">
                <a:solidFill>
                  <a:srgbClr val="333333"/>
                </a:solidFill>
                <a:latin typeface="Arial"/>
              </a:rPr>
              <a:t>•  Incremental revenue ≥ +10% vs no-campaign counterfactual</a:t>
            </a:r>
          </a:p>
          <a:p>
            <a:pPr algn="l">
              <a:spcAft>
                <a:spcPts val="600"/>
              </a:spcAft>
            </a:pPr>
            <a:r>
              <a:rPr sz="1250" b="0" i="0" dirty="0">
                <a:solidFill>
                  <a:srgbClr val="333333"/>
                </a:solidFill>
                <a:latin typeface="Arial"/>
              </a:rPr>
              <a:t>•  New customers ≥ 25% of Vestal Pro purchasers</a:t>
            </a:r>
          </a:p>
          <a:p>
            <a:pPr algn="l">
              <a:spcAft>
                <a:spcPts val="600"/>
              </a:spcAft>
            </a:pPr>
            <a:r>
              <a:rPr sz="1250" b="0" i="0" dirty="0">
                <a:solidFill>
                  <a:srgbClr val="333333"/>
                </a:solidFill>
                <a:latin typeface="Arial"/>
              </a:rPr>
              <a:t>•  Cannibalization &lt; </a:t>
            </a:r>
            <a:r>
              <a:rPr lang="en-US" sz="1250" dirty="0">
                <a:solidFill>
                  <a:srgbClr val="333333"/>
                </a:solidFill>
                <a:latin typeface="Arial"/>
              </a:rPr>
              <a:t>15</a:t>
            </a:r>
            <a:r>
              <a:rPr sz="1250" b="0" i="0" dirty="0">
                <a:solidFill>
                  <a:srgbClr val="333333"/>
                </a:solidFill>
                <a:latin typeface="Arial"/>
              </a:rPr>
              <a:t>% of Vestal Pro sales</a:t>
            </a:r>
          </a:p>
          <a:p>
            <a:pPr algn="l">
              <a:spcAft>
                <a:spcPts val="600"/>
              </a:spcAft>
            </a:pPr>
            <a:r>
              <a:rPr sz="1250" b="0" i="0" dirty="0">
                <a:solidFill>
                  <a:srgbClr val="333333"/>
                </a:solidFill>
                <a:latin typeface="Arial"/>
              </a:rPr>
              <a:t>•  Halo ≥ +5% lift across adjacent trail categories</a:t>
            </a:r>
            <a:endParaRPr lang="en-US" sz="1250" b="0" i="0" dirty="0">
              <a:solidFill>
                <a:srgbClr val="333333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lang="en-US" sz="1250" dirty="0">
                <a:solidFill>
                  <a:srgbClr val="333333"/>
                </a:solidFill>
                <a:latin typeface="Arial"/>
              </a:rPr>
              <a:t>•  Branded search ≥ 10% vs counterfactual baseline.</a:t>
            </a:r>
            <a:endParaRPr sz="1250" b="0" i="0" dirty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600"/>
              </a:spcAft>
            </a:pPr>
            <a:r>
              <a:rPr sz="1250" b="0" i="0" dirty="0">
                <a:solidFill>
                  <a:srgbClr val="333333"/>
                </a:solidFill>
                <a:latin typeface="Arial"/>
              </a:rPr>
              <a:t>•  Guardrails: margin, returns, conversion, availability,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7200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757575"/>
                </a:solidFill>
                <a:latin typeface="Arial"/>
              </a:rPr>
              <a:t>MEASUREMENT WINDOWS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892040"/>
            <a:ext cx="3630168" cy="1234440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5047488"/>
            <a:ext cx="3246120" cy="782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 dirty="0">
                <a:solidFill>
                  <a:srgbClr val="000000"/>
                </a:solidFill>
                <a:latin typeface="Arial"/>
              </a:rPr>
              <a:t>PRE-CAMPAIGN BASELINE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100" b="0" i="0" dirty="0">
                <a:solidFill>
                  <a:srgbClr val="757575"/>
                </a:solidFill>
                <a:latin typeface="Arial"/>
              </a:rPr>
              <a:t>March 1</a:t>
            </a:r>
            <a:r>
              <a:rPr sz="1100" b="0" i="0" dirty="0">
                <a:solidFill>
                  <a:srgbClr val="757575"/>
                </a:solidFill>
                <a:latin typeface="Arial"/>
              </a:rPr>
              <a:t> – </a:t>
            </a:r>
            <a:r>
              <a:rPr lang="en-US" sz="1100" b="0" i="0" dirty="0">
                <a:solidFill>
                  <a:srgbClr val="757575"/>
                </a:solidFill>
                <a:latin typeface="Arial"/>
              </a:rPr>
              <a:t>May 31</a:t>
            </a:r>
            <a:r>
              <a:rPr sz="1100" b="0" i="0" dirty="0">
                <a:solidFill>
                  <a:srgbClr val="757575"/>
                </a:solidFill>
                <a:latin typeface="Arial"/>
              </a:rPr>
              <a:t> ·</a:t>
            </a:r>
            <a:r>
              <a:rPr lang="en-US" sz="1100" b="0" i="0" dirty="0">
                <a:solidFill>
                  <a:srgbClr val="757575"/>
                </a:solidFill>
                <a:latin typeface="Arial"/>
              </a:rPr>
              <a:t> 13 Weeks</a:t>
            </a:r>
            <a:endParaRPr sz="1100" b="0" i="0" dirty="0">
              <a:solidFill>
                <a:srgbClr val="757575"/>
              </a:solidFill>
              <a:latin typeface="Arial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000" b="0" i="0" dirty="0">
                <a:solidFill>
                  <a:srgbClr val="333333"/>
                </a:solidFill>
                <a:latin typeface="Arial"/>
              </a:rPr>
              <a:t>Status Quo </a:t>
            </a:r>
            <a:r>
              <a:rPr sz="1000" b="0" i="0" dirty="0">
                <a:solidFill>
                  <a:srgbClr val="333333"/>
                </a:solidFill>
                <a:latin typeface="Arial"/>
              </a:rPr>
              <a:t>demand, traffic, and channel patterns</a:t>
            </a:r>
            <a:r>
              <a:rPr lang="en-US" sz="1000" b="0" i="0" dirty="0">
                <a:solidFill>
                  <a:srgbClr val="333333"/>
                </a:solidFill>
                <a:latin typeface="Arial"/>
              </a:rPr>
              <a:t>. 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000" b="0" i="0" dirty="0">
                <a:solidFill>
                  <a:srgbClr val="333333"/>
                </a:solidFill>
                <a:latin typeface="Arial"/>
              </a:rPr>
              <a:t>Minimal activations and no launches.</a:t>
            </a:r>
            <a:endParaRPr sz="1000" b="0" i="0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15968" y="4892040"/>
            <a:ext cx="3630168" cy="12344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17136" y="5047488"/>
            <a:ext cx="3246120" cy="744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 dirty="0">
                <a:solidFill>
                  <a:srgbClr val="FFFFFF"/>
                </a:solidFill>
                <a:latin typeface="Arial"/>
              </a:rPr>
              <a:t>ACTIVE CAMPAIGN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100" b="0" i="0" dirty="0">
                <a:solidFill>
                  <a:srgbClr val="0057B8"/>
                </a:solidFill>
                <a:latin typeface="Arial"/>
              </a:rPr>
              <a:t>June 1</a:t>
            </a:r>
            <a:r>
              <a:rPr sz="1100" b="0" i="0" dirty="0">
                <a:solidFill>
                  <a:srgbClr val="0057B8"/>
                </a:solidFill>
                <a:latin typeface="Arial"/>
              </a:rPr>
              <a:t> – </a:t>
            </a:r>
            <a:r>
              <a:rPr lang="en-US" sz="1100" b="0" i="0" dirty="0">
                <a:solidFill>
                  <a:srgbClr val="0057B8"/>
                </a:solidFill>
                <a:latin typeface="Arial"/>
              </a:rPr>
              <a:t>June 20</a:t>
            </a:r>
            <a:r>
              <a:rPr sz="1100" b="0" i="0" dirty="0">
                <a:solidFill>
                  <a:srgbClr val="0057B8"/>
                </a:solidFill>
                <a:latin typeface="Arial"/>
              </a:rPr>
              <a:t> · </a:t>
            </a:r>
            <a:r>
              <a:rPr lang="en-US" sz="1100" dirty="0">
                <a:solidFill>
                  <a:srgbClr val="0057B8"/>
                </a:solidFill>
                <a:latin typeface="Arial"/>
              </a:rPr>
              <a:t>3 </a:t>
            </a:r>
            <a:r>
              <a:rPr sz="1100" b="0" i="0" dirty="0">
                <a:solidFill>
                  <a:srgbClr val="0057B8"/>
                </a:solidFill>
                <a:latin typeface="Arial"/>
              </a:rPr>
              <a:t>weeks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000" b="0" i="0" dirty="0">
                <a:solidFill>
                  <a:srgbClr val="FFFFFF"/>
                </a:solidFill>
                <a:latin typeface="Arial"/>
              </a:rPr>
              <a:t>GTM Strategy</a:t>
            </a:r>
            <a:r>
              <a:rPr lang="en-US" sz="1000" dirty="0">
                <a:solidFill>
                  <a:srgbClr val="FFFFFF"/>
                </a:solidFill>
                <a:latin typeface="Arial"/>
              </a:rPr>
              <a:t> supported by </a:t>
            </a:r>
            <a:r>
              <a:rPr sz="1000" b="0" i="0" dirty="0">
                <a:solidFill>
                  <a:srgbClr val="FFFFFF"/>
                </a:solidFill>
                <a:latin typeface="Arial"/>
              </a:rPr>
              <a:t>paid media, CRM, site merchandising</a:t>
            </a:r>
            <a:r>
              <a:rPr lang="en-US" sz="1000" b="0" i="0" dirty="0">
                <a:solidFill>
                  <a:srgbClr val="FFFFFF"/>
                </a:solidFill>
                <a:latin typeface="Arial"/>
              </a:rPr>
              <a:t>, and affiliate partners.</a:t>
            </a:r>
            <a:endParaRPr sz="10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129016" y="4892040"/>
            <a:ext cx="3630168" cy="1234440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0184" y="5047488"/>
            <a:ext cx="3246120" cy="744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 dirty="0">
                <a:solidFill>
                  <a:srgbClr val="000000"/>
                </a:solidFill>
                <a:latin typeface="Arial"/>
              </a:rPr>
              <a:t>POST-CAMPAIGN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100" dirty="0">
                <a:solidFill>
                  <a:srgbClr val="757575"/>
                </a:solidFill>
                <a:latin typeface="Arial"/>
              </a:rPr>
              <a:t>June 21 </a:t>
            </a:r>
            <a:r>
              <a:rPr sz="1100" b="0" i="0" dirty="0">
                <a:solidFill>
                  <a:srgbClr val="757575"/>
                </a:solidFill>
                <a:latin typeface="Arial"/>
              </a:rPr>
              <a:t>– </a:t>
            </a:r>
            <a:r>
              <a:rPr lang="en-US" sz="1100" b="0" i="0" dirty="0">
                <a:solidFill>
                  <a:srgbClr val="757575"/>
                </a:solidFill>
                <a:latin typeface="Arial"/>
              </a:rPr>
              <a:t>July 20 </a:t>
            </a:r>
            <a:r>
              <a:rPr sz="1100" b="0" i="0" dirty="0">
                <a:solidFill>
                  <a:srgbClr val="757575"/>
                </a:solidFill>
                <a:latin typeface="Arial"/>
              </a:rPr>
              <a:t>· 4 weeks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000" b="0" i="0" dirty="0">
                <a:solidFill>
                  <a:srgbClr val="333333"/>
                </a:solidFill>
                <a:latin typeface="Arial"/>
              </a:rPr>
              <a:t>Demand persistence</a:t>
            </a:r>
            <a:r>
              <a:rPr sz="1000" b="0" i="0" dirty="0">
                <a:solidFill>
                  <a:srgbClr val="333333"/>
                </a:solidFill>
                <a:latin typeface="Arial"/>
              </a:rPr>
              <a:t>, delayed returns, </a:t>
            </a:r>
            <a:r>
              <a:rPr lang="en-US" sz="1000" b="0" i="0" dirty="0">
                <a:solidFill>
                  <a:srgbClr val="333333"/>
                </a:solidFill>
                <a:latin typeface="Arial"/>
              </a:rPr>
              <a:t>CLV retention measurement.</a:t>
            </a:r>
            <a:endParaRPr sz="1000" b="0" i="0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05156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dirty="0">
                <a:solidFill>
                  <a:srgbClr val="757575"/>
                </a:solidFill>
                <a:latin typeface="Arial"/>
              </a:rPr>
              <a:t>Salomon NA eCommerce · Vestal Pro launch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3</a:t>
            </a:r>
          </a:p>
        </p:txBody>
      </p:sp>
      <p:pic>
        <p:nvPicPr>
          <p:cNvPr id="19" name="Picture 18" descr="salomon_wordmark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292608"/>
            <a:ext cx="960120" cy="1100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757575"/>
                </a:solidFill>
                <a:latin typeface="Arial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0140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300" b="0" i="0" dirty="0">
                <a:solidFill>
                  <a:srgbClr val="000000"/>
                </a:solidFill>
                <a:latin typeface="Georgia"/>
              </a:rPr>
              <a:t>Successful Launch; Monitor for continued cannibalization and shifting sales mix</a:t>
            </a:r>
            <a:endParaRPr sz="2300" b="0" i="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2706624" cy="260604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1700784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757575"/>
                </a:solidFill>
                <a:latin typeface="Arial"/>
              </a:rPr>
              <a:t>INCREMENTAL FOOTWEAR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28600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 dirty="0">
                <a:solidFill>
                  <a:srgbClr val="0057B8"/>
                </a:solidFill>
                <a:latin typeface="Arial"/>
              </a:rPr>
              <a:t>+33%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3127248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333333"/>
                </a:solidFill>
                <a:latin typeface="Arial"/>
              </a:rPr>
              <a:t>+$134.6K vs modeled no-campaign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712463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757575"/>
                </a:solidFill>
                <a:latin typeface="Arial"/>
              </a:rPr>
              <a:t>Target ≥ +10%  ·  </a:t>
            </a:r>
            <a:r>
              <a:rPr sz="1050" b="1" i="0">
                <a:solidFill>
                  <a:srgbClr val="1F7A4D"/>
                </a:solidFill>
                <a:latin typeface="Arial"/>
              </a:rPr>
              <a:t>PASS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6704" y="1481328"/>
            <a:ext cx="2706624" cy="260604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47872" y="1700784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757575"/>
                </a:solidFill>
                <a:latin typeface="Arial"/>
              </a:rPr>
              <a:t>NEW-CUSTOMER SHARE, VESTAL PRO BUYERS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28600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0057B8"/>
                </a:solidFill>
                <a:latin typeface="Arial"/>
              </a:rPr>
              <a:t>44%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3127248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333333"/>
                </a:solidFill>
                <a:latin typeface="Arial"/>
              </a:rPr>
              <a:t>590 of 1,335 buyers new to Salomon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3712463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757575"/>
                </a:solidFill>
                <a:latin typeface="Arial"/>
              </a:rPr>
              <a:t>Target ≥ 25%  ·  </a:t>
            </a:r>
            <a:r>
              <a:rPr sz="1050" b="1" i="0">
                <a:solidFill>
                  <a:srgbClr val="1F7A4D"/>
                </a:solidFill>
                <a:latin typeface="Arial"/>
              </a:rPr>
              <a:t>PASS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0488" y="1481328"/>
            <a:ext cx="2706624" cy="26060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91655" y="1700784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757575"/>
                </a:solidFill>
                <a:latin typeface="Arial"/>
              </a:rPr>
              <a:t>FRANCHISE CANNIBALIZATION, 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5" y="228600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0057B8"/>
                </a:solidFill>
                <a:latin typeface="Arial"/>
              </a:rPr>
              <a:t>22–30%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5" y="3127248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333333"/>
                </a:solidFill>
                <a:latin typeface="Arial"/>
              </a:rPr>
              <a:t>17–42% across baseline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5" y="3712463"/>
            <a:ext cx="233172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>
                <a:solidFill>
                  <a:srgbClr val="757575"/>
                </a:solidFill>
                <a:latin typeface="Arial"/>
              </a:rPr>
              <a:t>Guardrail &lt; </a:t>
            </a:r>
            <a:r>
              <a:rPr lang="en-US" sz="1050" b="0" i="0" dirty="0">
                <a:solidFill>
                  <a:srgbClr val="757575"/>
                </a:solidFill>
                <a:latin typeface="Arial"/>
              </a:rPr>
              <a:t>10</a:t>
            </a:r>
            <a:r>
              <a:rPr sz="1050" b="0" i="0" dirty="0">
                <a:solidFill>
                  <a:srgbClr val="757575"/>
                </a:solidFill>
                <a:latin typeface="Arial"/>
              </a:rPr>
              <a:t>%  ·  </a:t>
            </a:r>
            <a:r>
              <a:rPr lang="en-US" sz="1050" b="1" i="0" dirty="0">
                <a:solidFill>
                  <a:schemeClr val="accent6">
                    <a:lumMod val="75000"/>
                  </a:schemeClr>
                </a:solidFill>
                <a:latin typeface="Arial"/>
              </a:rPr>
              <a:t>FLAG &amp; MONITOR</a:t>
            </a:r>
            <a:endParaRPr sz="1050" b="1" i="0" dirty="0">
              <a:solidFill>
                <a:schemeClr val="accent6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034272" y="1481328"/>
            <a:ext cx="2706624" cy="260604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1700784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Arial"/>
              </a:rPr>
              <a:t>ADJACENT-CATEGORY HALO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28600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 dirty="0">
                <a:solidFill>
                  <a:srgbClr val="0057B8"/>
                </a:solidFill>
                <a:latin typeface="Arial"/>
              </a:rPr>
              <a:t>+9%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127248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333333"/>
                </a:solidFill>
                <a:latin typeface="Arial"/>
              </a:rPr>
              <a:t>95% CI +3% to +15% vs baseline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712463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757575"/>
                </a:solidFill>
                <a:latin typeface="Arial"/>
              </a:rPr>
              <a:t>Target ≥ +5%  ·  </a:t>
            </a:r>
            <a:r>
              <a:rPr sz="1050" b="1" i="0">
                <a:solidFill>
                  <a:srgbClr val="1F7A4D"/>
                </a:solidFill>
                <a:latin typeface="Arial"/>
              </a:rPr>
              <a:t>PASS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434840"/>
            <a:ext cx="11183112" cy="17830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681728"/>
            <a:ext cx="10469880" cy="1123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</a:rPr>
              <a:t>VERDICT — a commercial success </a:t>
            </a:r>
            <a:r>
              <a:rPr lang="en-US" sz="1400" b="1" i="0" dirty="0">
                <a:solidFill>
                  <a:srgbClr val="FFFFFF"/>
                </a:solidFill>
                <a:latin typeface="Arial"/>
              </a:rPr>
              <a:t>limited by availability</a:t>
            </a:r>
            <a:r>
              <a:rPr sz="1400" b="1" i="0" dirty="0">
                <a:solidFill>
                  <a:srgbClr val="FFFFFF"/>
                </a:solidFill>
                <a:latin typeface="Arial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 dirty="0">
                <a:solidFill>
                  <a:srgbClr val="FFFFFF"/>
                </a:solidFill>
                <a:latin typeface="Arial"/>
              </a:rPr>
              <a:t>The Vestal Pro delivered $207.7K of </a:t>
            </a:r>
            <a:r>
              <a:rPr sz="1250" b="0" i="0" u="sng" dirty="0">
                <a:solidFill>
                  <a:srgbClr val="FFFFFF"/>
                </a:solidFill>
                <a:latin typeface="Arial"/>
              </a:rPr>
              <a:t>direct revenue</a:t>
            </a:r>
            <a:r>
              <a:rPr sz="1250" b="0" i="0" dirty="0">
                <a:solidFill>
                  <a:srgbClr val="FFFFFF"/>
                </a:solidFill>
                <a:latin typeface="Arial"/>
              </a:rPr>
              <a:t> and $142.5K of </a:t>
            </a:r>
            <a:r>
              <a:rPr sz="1250" b="0" i="0" u="sng" dirty="0">
                <a:solidFill>
                  <a:srgbClr val="FFFFFF"/>
                </a:solidFill>
                <a:latin typeface="Arial"/>
              </a:rPr>
              <a:t>net incremental revenue</a:t>
            </a:r>
            <a:r>
              <a:rPr sz="1250" b="0" i="0" dirty="0">
                <a:solidFill>
                  <a:srgbClr val="FFFFFF"/>
                </a:solidFill>
                <a:latin typeface="Arial"/>
              </a:rPr>
              <a:t> (+29% vs the no-campaign baseline).</a:t>
            </a:r>
            <a:endParaRPr lang="en-US" sz="1250" b="0" i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US" sz="1250" b="0" i="0" dirty="0">
                <a:solidFill>
                  <a:srgbClr val="FFFFFF"/>
                </a:solidFill>
                <a:latin typeface="Arial"/>
              </a:rPr>
              <a:t>Gross Margin was $114.2K. After direct marketing expenses, </a:t>
            </a:r>
            <a:r>
              <a:rPr lang="en-US" sz="1250" b="0" i="0" u="sng" dirty="0">
                <a:solidFill>
                  <a:srgbClr val="FFFFFF"/>
                </a:solidFill>
                <a:latin typeface="Arial"/>
              </a:rPr>
              <a:t>Contribution Margin</a:t>
            </a:r>
            <a:r>
              <a:rPr lang="en-US" sz="1250" b="0" i="0" dirty="0">
                <a:solidFill>
                  <a:srgbClr val="FFFFFF"/>
                </a:solidFill>
                <a:latin typeface="Arial"/>
              </a:rPr>
              <a:t> (CM3) is $24.1K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US" sz="1250" u="sng" dirty="0">
                <a:solidFill>
                  <a:srgbClr val="FFFFFF"/>
                </a:solidFill>
                <a:latin typeface="Arial"/>
              </a:rPr>
              <a:t>Limited factors</a:t>
            </a:r>
            <a:r>
              <a:rPr lang="en-US" sz="1250" dirty="0">
                <a:solidFill>
                  <a:srgbClr val="FFFFFF"/>
                </a:solidFill>
                <a:latin typeface="Arial"/>
              </a:rPr>
              <a:t> included cannibalization of existing portfolio and limited availability in core sizes.</a:t>
            </a:r>
            <a:endParaRPr sz="125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105156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dirty="0">
                <a:solidFill>
                  <a:srgbClr val="757575"/>
                </a:solidFill>
                <a:latin typeface="Arial"/>
              </a:rPr>
              <a:t>Salomon NA eCommerce · Vestal Pro launch readout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2</a:t>
            </a:r>
          </a:p>
        </p:txBody>
      </p:sp>
      <p:pic>
        <p:nvPicPr>
          <p:cNvPr id="28" name="Picture 27" descr="salomon_wordmark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292608"/>
            <a:ext cx="960120" cy="110013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757575"/>
                </a:solidFill>
                <a:latin typeface="Arial"/>
              </a:rPr>
              <a:t>TOPLINE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0140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 i="0" dirty="0">
                <a:solidFill>
                  <a:srgbClr val="000000"/>
                </a:solidFill>
                <a:latin typeface="Georgia"/>
              </a:rPr>
              <a:t>Footwear </a:t>
            </a:r>
            <a:r>
              <a:rPr lang="en-US" sz="2300" b="0" i="0" dirty="0">
                <a:solidFill>
                  <a:srgbClr val="000000"/>
                </a:solidFill>
                <a:latin typeface="Georgia"/>
              </a:rPr>
              <a:t>revenue was 33</a:t>
            </a:r>
            <a:r>
              <a:rPr sz="2300" b="0" i="0" dirty="0">
                <a:solidFill>
                  <a:srgbClr val="000000"/>
                </a:solidFill>
                <a:latin typeface="Georgia"/>
              </a:rPr>
              <a:t>% above the no-campaign baseline throughout </a:t>
            </a:r>
            <a:r>
              <a:rPr lang="en-US" sz="2300" b="0" i="0" dirty="0">
                <a:solidFill>
                  <a:srgbClr val="000000"/>
                </a:solidFill>
                <a:latin typeface="Georgia"/>
              </a:rPr>
              <a:t>the launch</a:t>
            </a:r>
            <a:endParaRPr sz="2300" b="0" i="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5156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 dirty="0">
                <a:solidFill>
                  <a:srgbClr val="757575"/>
                </a:solidFill>
                <a:latin typeface="Arial"/>
              </a:rPr>
              <a:t>Salomon NA eCommerce · Vestal Pro launch readout · Baseline: pre-period trend + weekly seasonality; </a:t>
            </a:r>
            <a:r>
              <a:rPr sz="800" b="0" i="0" dirty="0" err="1">
                <a:solidFill>
                  <a:srgbClr val="757575"/>
                </a:solidFill>
                <a:latin typeface="Arial"/>
              </a:rPr>
              <a:t>backtest</a:t>
            </a:r>
            <a:r>
              <a:rPr sz="800" b="0" i="0" dirty="0">
                <a:solidFill>
                  <a:srgbClr val="757575"/>
                </a:solidFill>
                <a:latin typeface="Arial"/>
              </a:rPr>
              <a:t> MAPE 10.1%</a:t>
            </a:r>
            <a:r>
              <a:rPr lang="en-US" sz="800" dirty="0">
                <a:solidFill>
                  <a:srgbClr val="757575"/>
                </a:solidFill>
                <a:latin typeface="Arial"/>
              </a:rPr>
              <a:t> · FOOTWEAR ONLY</a:t>
            </a:r>
            <a:endParaRPr sz="800" b="0" i="0" dirty="0">
              <a:solidFill>
                <a:srgbClr val="757575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5</a:t>
            </a:r>
          </a:p>
        </p:txBody>
      </p:sp>
      <p:pic>
        <p:nvPicPr>
          <p:cNvPr id="10" name="Picture 9" descr="salomon_wordmark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292608"/>
            <a:ext cx="960120" cy="110013"/>
          </a:xfrm>
          <a:prstGeom prst="rect">
            <a:avLst/>
          </a:prstGeom>
        </p:spPr>
      </p:pic>
      <p:pic>
        <p:nvPicPr>
          <p:cNvPr id="27" name="Picture 26" descr="The diagram illustrates a comparison of actual footwear revenue against a modeled baseline without campaigns, showing fluctuations over a period from April to July 2026.&#10;&#10;AI-generated content may be incorrect.">
            <a:extLst>
              <a:ext uri="{FF2B5EF4-FFF2-40B4-BE49-F238E27FC236}">
                <a16:creationId xmlns:a16="http://schemas.microsoft.com/office/drawing/2014/main" id="{64434D0D-7640-3878-BE81-3F62CC1E3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19" y="1347909"/>
            <a:ext cx="8178093" cy="463920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E82E62F-FA01-E7F7-6EF9-0FEF33029B3C}"/>
              </a:ext>
            </a:extLst>
          </p:cNvPr>
          <p:cNvSpPr txBox="1"/>
          <p:nvPr/>
        </p:nvSpPr>
        <p:spPr>
          <a:xfrm>
            <a:off x="3951484" y="1693790"/>
            <a:ext cx="1394238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dirty="0">
                <a:solidFill>
                  <a:srgbClr val="000000"/>
                </a:solidFill>
                <a:latin typeface="Arial"/>
              </a:rPr>
              <a:t>Campaign start · </a:t>
            </a:r>
            <a:r>
              <a:rPr lang="en-US" sz="950" b="1" dirty="0">
                <a:solidFill>
                  <a:srgbClr val="000000"/>
                </a:solidFill>
                <a:latin typeface="Arial"/>
              </a:rPr>
              <a:t>June 1</a:t>
            </a:r>
            <a:endParaRPr sz="950" b="1" i="0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0" name="Connector 4">
            <a:extLst>
              <a:ext uri="{FF2B5EF4-FFF2-40B4-BE49-F238E27FC236}">
                <a16:creationId xmlns:a16="http://schemas.microsoft.com/office/drawing/2014/main" id="{2182B22E-D2F7-9B21-00D8-2C74D8A23957}"/>
              </a:ext>
            </a:extLst>
          </p:cNvPr>
          <p:cNvCxnSpPr>
            <a:cxnSpLocks/>
          </p:cNvCxnSpPr>
          <p:nvPr/>
        </p:nvCxnSpPr>
        <p:spPr>
          <a:xfrm>
            <a:off x="4607553" y="1870947"/>
            <a:ext cx="0" cy="3760267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2DB04F6-878A-7650-2CA9-516870587838}"/>
              </a:ext>
            </a:extLst>
          </p:cNvPr>
          <p:cNvCxnSpPr>
            <a:cxnSpLocks/>
          </p:cNvCxnSpPr>
          <p:nvPr/>
        </p:nvCxnSpPr>
        <p:spPr>
          <a:xfrm>
            <a:off x="6011870" y="1907414"/>
            <a:ext cx="0" cy="1063352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D4C3E16-9C64-DE44-353F-A9C88D8B0E76}"/>
              </a:ext>
            </a:extLst>
          </p:cNvPr>
          <p:cNvSpPr txBox="1"/>
          <p:nvPr/>
        </p:nvSpPr>
        <p:spPr>
          <a:xfrm>
            <a:off x="5619129" y="1735937"/>
            <a:ext cx="802357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950" b="1" i="0" dirty="0">
                <a:solidFill>
                  <a:srgbClr val="000000"/>
                </a:solidFill>
                <a:latin typeface="Arial"/>
              </a:rPr>
              <a:t>Final comms</a:t>
            </a:r>
            <a:endParaRPr sz="950" b="1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94D8EF9-9D81-0106-B82E-21450F2E84FB}"/>
              </a:ext>
            </a:extLst>
          </p:cNvPr>
          <p:cNvSpPr txBox="1"/>
          <p:nvPr/>
        </p:nvSpPr>
        <p:spPr>
          <a:xfrm>
            <a:off x="8745156" y="1989167"/>
            <a:ext cx="3108960" cy="2717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 i="0" dirty="0">
                <a:solidFill>
                  <a:srgbClr val="757575"/>
                </a:solidFill>
                <a:latin typeface="Arial"/>
              </a:rPr>
              <a:t>ACTIVE CAMPAIGN, </a:t>
            </a:r>
            <a:r>
              <a:rPr lang="en-US" sz="1000" b="1" i="0" dirty="0">
                <a:solidFill>
                  <a:srgbClr val="757575"/>
                </a:solidFill>
                <a:latin typeface="Arial"/>
              </a:rPr>
              <a:t>~3 </a:t>
            </a:r>
            <a:r>
              <a:rPr sz="1000" b="1" i="0" dirty="0">
                <a:solidFill>
                  <a:srgbClr val="757575"/>
                </a:solidFill>
                <a:latin typeface="Arial"/>
              </a:rPr>
              <a:t>WEEKS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00" b="0" i="0" dirty="0">
                <a:solidFill>
                  <a:srgbClr val="757575"/>
                </a:solidFill>
                <a:latin typeface="Arial"/>
              </a:rPr>
              <a:t>Observed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333333"/>
                </a:solidFill>
                <a:latin typeface="Arial"/>
              </a:rPr>
              <a:t>$</a:t>
            </a:r>
            <a:r>
              <a:rPr lang="en-US" sz="2200" b="1" dirty="0">
                <a:solidFill>
                  <a:srgbClr val="333333"/>
                </a:solidFill>
                <a:latin typeface="Arial"/>
              </a:rPr>
              <a:t>262.8</a:t>
            </a:r>
            <a:r>
              <a:rPr sz="2200" b="1" i="0" dirty="0">
                <a:solidFill>
                  <a:srgbClr val="333333"/>
                </a:solidFill>
                <a:latin typeface="Arial"/>
              </a:rPr>
              <a:t>K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00" b="0" i="0" dirty="0">
                <a:solidFill>
                  <a:srgbClr val="757575"/>
                </a:solidFill>
                <a:latin typeface="Arial"/>
              </a:rPr>
              <a:t>Counterfactual baseline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lang="en-US" sz="2200" b="1" i="0" dirty="0">
                <a:solidFill>
                  <a:srgbClr val="757575"/>
                </a:solidFill>
                <a:latin typeface="Arial"/>
              </a:rPr>
              <a:t>$193.5</a:t>
            </a:r>
            <a:r>
              <a:rPr sz="2200" b="1" i="0" dirty="0">
                <a:solidFill>
                  <a:srgbClr val="757575"/>
                </a:solidFill>
                <a:latin typeface="Arial"/>
              </a:rPr>
              <a:t>K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00" b="0" i="0" dirty="0">
                <a:solidFill>
                  <a:srgbClr val="757575"/>
                </a:solidFill>
                <a:latin typeface="Arial"/>
              </a:rPr>
              <a:t>Incremental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0057B8"/>
                </a:solidFill>
                <a:latin typeface="Arial"/>
              </a:rPr>
              <a:t>+$</a:t>
            </a:r>
            <a:r>
              <a:rPr lang="en-US" sz="2200" b="1" dirty="0">
                <a:solidFill>
                  <a:srgbClr val="0057B8"/>
                </a:solidFill>
                <a:latin typeface="Arial"/>
              </a:rPr>
              <a:t>69.3</a:t>
            </a:r>
            <a:r>
              <a:rPr sz="2200" b="1" i="0" dirty="0">
                <a:solidFill>
                  <a:srgbClr val="0057B8"/>
                </a:solidFill>
                <a:latin typeface="Arial"/>
              </a:rPr>
              <a:t>K  (+</a:t>
            </a:r>
            <a:r>
              <a:rPr lang="en-US" sz="2200" b="1" i="0" dirty="0">
                <a:solidFill>
                  <a:srgbClr val="0057B8"/>
                </a:solidFill>
                <a:latin typeface="Arial"/>
              </a:rPr>
              <a:t>35.8</a:t>
            </a:r>
            <a:r>
              <a:rPr sz="2200" b="1" i="0" dirty="0">
                <a:solidFill>
                  <a:srgbClr val="0057B8"/>
                </a:solidFill>
                <a:latin typeface="Arial"/>
              </a:rPr>
              <a:t>%)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50" b="0" i="0" dirty="0">
                <a:solidFill>
                  <a:srgbClr val="333333"/>
                </a:solidFill>
                <a:latin typeface="Arial"/>
              </a:rPr>
              <a:t>95% CI +3</a:t>
            </a:r>
            <a:r>
              <a:rPr lang="en-US" sz="1050" b="0" i="0" dirty="0">
                <a:solidFill>
                  <a:srgbClr val="333333"/>
                </a:solidFill>
                <a:latin typeface="Arial"/>
              </a:rPr>
              <a:t>2</a:t>
            </a:r>
            <a:r>
              <a:rPr sz="1050" b="0" i="0" dirty="0">
                <a:solidFill>
                  <a:srgbClr val="333333"/>
                </a:solidFill>
                <a:latin typeface="Arial"/>
              </a:rPr>
              <a:t>% to +</a:t>
            </a:r>
            <a:r>
              <a:rPr lang="en-US" sz="1050" dirty="0">
                <a:solidFill>
                  <a:srgbClr val="333333"/>
                </a:solidFill>
                <a:latin typeface="Arial"/>
              </a:rPr>
              <a:t>40</a:t>
            </a:r>
            <a:r>
              <a:rPr sz="1050" b="0" i="0" dirty="0">
                <a:solidFill>
                  <a:srgbClr val="333333"/>
                </a:solidFill>
                <a:latin typeface="Arial"/>
              </a:rPr>
              <a:t>% · every campaign week ran above baseline · peak gap +$</a:t>
            </a:r>
            <a:r>
              <a:rPr lang="en-US" sz="1050" dirty="0">
                <a:solidFill>
                  <a:srgbClr val="333333"/>
                </a:solidFill>
                <a:latin typeface="Arial"/>
              </a:rPr>
              <a:t>29</a:t>
            </a:r>
            <a:r>
              <a:rPr sz="1050" b="0" i="0" dirty="0">
                <a:solidFill>
                  <a:srgbClr val="333333"/>
                </a:solidFill>
                <a:latin typeface="Arial"/>
              </a:rPr>
              <a:t>K in launch week</a:t>
            </a:r>
            <a:endParaRPr lang="en-US" sz="1050" b="0" i="0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B421296-6D36-5BA2-0BBB-85ACABA9BD75}"/>
              </a:ext>
            </a:extLst>
          </p:cNvPr>
          <p:cNvSpPr txBox="1"/>
          <p:nvPr/>
        </p:nvSpPr>
        <p:spPr>
          <a:xfrm>
            <a:off x="6655432" y="1870947"/>
            <a:ext cx="1591173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950" b="1" dirty="0">
                <a:solidFill>
                  <a:srgbClr val="000000"/>
                </a:solidFill>
                <a:latin typeface="Arial"/>
              </a:rPr>
              <a:t>Incrementality Persists</a:t>
            </a:r>
            <a:endParaRPr sz="950" b="1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Left Brace 60">
            <a:extLst>
              <a:ext uri="{FF2B5EF4-FFF2-40B4-BE49-F238E27FC236}">
                <a16:creationId xmlns:a16="http://schemas.microsoft.com/office/drawing/2014/main" id="{6B8B920B-D082-C7E8-9CD9-051B8E07D7AA}"/>
              </a:ext>
            </a:extLst>
          </p:cNvPr>
          <p:cNvSpPr/>
          <p:nvPr/>
        </p:nvSpPr>
        <p:spPr>
          <a:xfrm rot="5400000">
            <a:off x="7157421" y="2512903"/>
            <a:ext cx="292388" cy="1539807"/>
          </a:xfrm>
          <a:prstGeom prst="leftBrac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188AC56-9AB6-D5E4-79F2-FDD7D90EF49B}"/>
              </a:ext>
            </a:extLst>
          </p:cNvPr>
          <p:cNvCxnSpPr>
            <a:cxnSpLocks/>
          </p:cNvCxnSpPr>
          <p:nvPr/>
        </p:nvCxnSpPr>
        <p:spPr>
          <a:xfrm flipH="1">
            <a:off x="7306008" y="2040342"/>
            <a:ext cx="145011" cy="109627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C0DEA-41C2-4717-7BB7-2E2510AAE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9270C0-0E14-AE60-2BDE-B604056B919A}"/>
              </a:ext>
            </a:extLst>
          </p:cNvPr>
          <p:cNvSpPr txBox="1"/>
          <p:nvPr/>
        </p:nvSpPr>
        <p:spPr>
          <a:xfrm>
            <a:off x="502920" y="292608"/>
            <a:ext cx="1115568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757575"/>
                </a:solidFill>
                <a:latin typeface="Arial"/>
              </a:rPr>
              <a:t>SALES DECOMPOSITION</a:t>
            </a:r>
            <a:endParaRPr sz="1050" b="1" i="0" dirty="0">
              <a:solidFill>
                <a:srgbClr val="757575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DC6D62-E787-BDC4-A8A4-88F4F066067B}"/>
              </a:ext>
            </a:extLst>
          </p:cNvPr>
          <p:cNvSpPr txBox="1"/>
          <p:nvPr/>
        </p:nvSpPr>
        <p:spPr>
          <a:xfrm>
            <a:off x="502920" y="566928"/>
            <a:ext cx="1120140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300" b="0" i="0" dirty="0">
                <a:solidFill>
                  <a:srgbClr val="000000"/>
                </a:solidFill>
                <a:latin typeface="Georgia"/>
              </a:rPr>
              <a:t>Contribution Margin of ~4</a:t>
            </a:r>
            <a:r>
              <a:rPr lang="en-US" sz="2300" dirty="0">
                <a:solidFill>
                  <a:srgbClr val="000000"/>
                </a:solidFill>
                <a:latin typeface="Georgia"/>
              </a:rPr>
              <a:t>K limited by Franchise Shift</a:t>
            </a:r>
            <a:endParaRPr sz="2300" b="0" i="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2C852A-0947-CC31-24EA-21558B7529F1}"/>
              </a:ext>
            </a:extLst>
          </p:cNvPr>
          <p:cNvSpPr txBox="1"/>
          <p:nvPr/>
        </p:nvSpPr>
        <p:spPr>
          <a:xfrm>
            <a:off x="502920" y="6510528"/>
            <a:ext cx="105156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dirty="0">
                <a:solidFill>
                  <a:srgbClr val="757575"/>
                </a:solidFill>
                <a:latin typeface="Arial"/>
              </a:rPr>
              <a:t>Salomon NA eCommerce · Vestal Pro launch readout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4D592D-5118-0F52-8A16-F0154A8C5542}"/>
              </a:ext>
            </a:extLst>
          </p:cNvPr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6</a:t>
            </a:r>
          </a:p>
        </p:txBody>
      </p:sp>
      <p:pic>
        <p:nvPicPr>
          <p:cNvPr id="8" name="Picture 7" descr="salomon_wordmark_black.png">
            <a:extLst>
              <a:ext uri="{FF2B5EF4-FFF2-40B4-BE49-F238E27FC236}">
                <a16:creationId xmlns:a16="http://schemas.microsoft.com/office/drawing/2014/main" id="{5EE0F2A8-B8E1-20F0-A76D-D19F00756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292608"/>
            <a:ext cx="960120" cy="110013"/>
          </a:xfrm>
          <a:prstGeom prst="rect">
            <a:avLst/>
          </a:prstGeom>
        </p:spPr>
      </p:pic>
      <p:pic>
        <p:nvPicPr>
          <p:cNvPr id="10" name="Picture 9" descr="The diagram illustrates the net campaign value of $35K, after accounting for direct marketing spend ($43K), COGS ($31K), and resulting in a contribution margin of $4K.&#10;&#10;AI-generated content may be incorrect.">
            <a:extLst>
              <a:ext uri="{FF2B5EF4-FFF2-40B4-BE49-F238E27FC236}">
                <a16:creationId xmlns:a16="http://schemas.microsoft.com/office/drawing/2014/main" id="{7565D719-965D-D210-8AFA-EC5825F04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62" y="1172764"/>
            <a:ext cx="7817207" cy="45652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217997E-14A7-467E-4AF8-2DFB786A3FE8}"/>
              </a:ext>
            </a:extLst>
          </p:cNvPr>
          <p:cNvSpPr txBox="1"/>
          <p:nvPr/>
        </p:nvSpPr>
        <p:spPr>
          <a:xfrm>
            <a:off x="7774445" y="1880650"/>
            <a:ext cx="4272519" cy="29352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900"/>
              </a:spcAft>
            </a:pPr>
            <a:r>
              <a:rPr lang="en-US" sz="1000" b="1" i="0" u="sng" dirty="0">
                <a:solidFill>
                  <a:srgbClr val="757575"/>
                </a:solidFill>
                <a:latin typeface="Arial"/>
              </a:rPr>
              <a:t>INCREMENTALITY BREAKDOWN</a:t>
            </a:r>
            <a:endParaRPr lang="en-US" sz="1100" b="0" i="0" u="sng" dirty="0">
              <a:solidFill>
                <a:srgbClr val="333333"/>
              </a:solidFill>
              <a:latin typeface="Arial"/>
            </a:endParaRP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lang="en-US" sz="1100" b="1" dirty="0">
                <a:solidFill>
                  <a:srgbClr val="333333"/>
                </a:solidFill>
                <a:latin typeface="Arial"/>
              </a:rPr>
              <a:t>Baseline</a:t>
            </a:r>
            <a:r>
              <a:rPr lang="en-US" sz="1100" dirty="0">
                <a:solidFill>
                  <a:srgbClr val="333333"/>
                </a:solidFill>
                <a:latin typeface="Arial"/>
              </a:rPr>
              <a:t>: $234.0K of business would have occurred without the campaign and is excluded. Only movement vs. baseline is counted.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lang="en-US" sz="1100" b="1" dirty="0">
                <a:solidFill>
                  <a:srgbClr val="333333"/>
                </a:solidFill>
                <a:latin typeface="Arial"/>
              </a:rPr>
              <a:t>Sales Shift</a:t>
            </a:r>
            <a:r>
              <a:rPr lang="en-US" sz="1100" dirty="0">
                <a:solidFill>
                  <a:srgbClr val="333333"/>
                </a:solidFill>
                <a:latin typeface="Arial"/>
              </a:rPr>
              <a:t>: $30.5K of Vestal Pro revenue displaced Ultra Glide and Sense Ride sales, net of </a:t>
            </a:r>
            <a:r>
              <a:rPr lang="en-US" sz="1100" dirty="0" err="1">
                <a:solidFill>
                  <a:srgbClr val="333333"/>
                </a:solidFill>
                <a:latin typeface="Arial"/>
              </a:rPr>
              <a:t>Speedcross</a:t>
            </a:r>
            <a:r>
              <a:rPr lang="en-US" sz="1100" dirty="0">
                <a:solidFill>
                  <a:srgbClr val="333333"/>
                </a:solidFill>
                <a:latin typeface="Arial"/>
              </a:rPr>
              <a:t> gains (19–32% of Vestal Pro units).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lang="en-US" sz="1100" b="1" dirty="0">
                <a:solidFill>
                  <a:srgbClr val="333333"/>
                </a:solidFill>
                <a:latin typeface="Arial"/>
              </a:rPr>
              <a:t>Marketing</a:t>
            </a:r>
            <a:r>
              <a:rPr lang="en-US" sz="1100" dirty="0">
                <a:solidFill>
                  <a:srgbClr val="333333"/>
                </a:solidFill>
                <a:latin typeface="Arial"/>
              </a:rPr>
              <a:t>: $74.6K campaign spend less $31.6K baseline 20-day run rate → $43.0K additional spend.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lang="en-US" sz="1100" dirty="0">
                <a:solidFill>
                  <a:srgbClr val="333333"/>
                </a:solidFill>
                <a:latin typeface="Arial"/>
              </a:rPr>
              <a:t>	</a:t>
            </a:r>
            <a:r>
              <a:rPr lang="en-US" sz="1100" i="1" dirty="0">
                <a:solidFill>
                  <a:srgbClr val="333333"/>
                </a:solidFill>
                <a:latin typeface="Arial"/>
              </a:rPr>
              <a:t>** Paid investment is persistent (more on this…) **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lang="en-US" sz="1100" b="1" dirty="0">
                <a:solidFill>
                  <a:srgbClr val="333333"/>
                </a:solidFill>
                <a:latin typeface="Arial"/>
              </a:rPr>
              <a:t>Return on Marketing</a:t>
            </a:r>
            <a:r>
              <a:rPr lang="en-US" sz="1100" dirty="0">
                <a:solidFill>
                  <a:srgbClr val="333333"/>
                </a:solidFill>
                <a:latin typeface="Arial"/>
              </a:rPr>
              <a:t>: $77.5K ÷ $43.0K = 1.80× on a revenue basis.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lang="en-US" sz="1100" b="1" dirty="0">
                <a:solidFill>
                  <a:srgbClr val="333333"/>
                </a:solidFill>
                <a:latin typeface="Arial"/>
              </a:rPr>
              <a:t>Contribution Margin (CM3)</a:t>
            </a:r>
            <a:r>
              <a:rPr lang="en-US" sz="1100" dirty="0">
                <a:solidFill>
                  <a:srgbClr val="333333"/>
                </a:solidFill>
                <a:latin typeface="Arial"/>
              </a:rPr>
              <a:t>: After accounting for COGS and direct overhead, CM3 sit at $3.5K.</a:t>
            </a:r>
            <a:endParaRPr lang="en-US" sz="1100" b="0" i="0" dirty="0">
              <a:solidFill>
                <a:srgbClr val="333333"/>
              </a:solidFill>
              <a:latin typeface="Arial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FDE4B2E-FBA8-C266-0E27-5E9BF89C30B6}"/>
              </a:ext>
            </a:extLst>
          </p:cNvPr>
          <p:cNvCxnSpPr>
            <a:cxnSpLocks/>
          </p:cNvCxnSpPr>
          <p:nvPr/>
        </p:nvCxnSpPr>
        <p:spPr>
          <a:xfrm flipH="1">
            <a:off x="4168942" y="3778197"/>
            <a:ext cx="661737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CB29B8B-707A-5ED5-BC88-D4D5FAC23634}"/>
              </a:ext>
            </a:extLst>
          </p:cNvPr>
          <p:cNvSpPr txBox="1"/>
          <p:nvPr/>
        </p:nvSpPr>
        <p:spPr>
          <a:xfrm>
            <a:off x="4775970" y="3647392"/>
            <a:ext cx="20784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Persistent effect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E362A5B-97B9-4102-9411-46125E1F3F7A}"/>
              </a:ext>
            </a:extLst>
          </p:cNvPr>
          <p:cNvCxnSpPr>
            <a:cxnSpLocks/>
          </p:cNvCxnSpPr>
          <p:nvPr/>
        </p:nvCxnSpPr>
        <p:spPr>
          <a:xfrm flipH="1">
            <a:off x="4090865" y="2502569"/>
            <a:ext cx="5113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C213073-8F80-0566-7942-346C278D95C4}"/>
              </a:ext>
            </a:extLst>
          </p:cNvPr>
          <p:cNvSpPr txBox="1"/>
          <p:nvPr/>
        </p:nvSpPr>
        <p:spPr>
          <a:xfrm>
            <a:off x="4602207" y="2361606"/>
            <a:ext cx="114005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Primary Concern</a:t>
            </a:r>
          </a:p>
        </p:txBody>
      </p:sp>
    </p:spTree>
    <p:extLst>
      <p:ext uri="{BB962C8B-B14F-4D97-AF65-F5344CB8AC3E}">
        <p14:creationId xmlns:p14="http://schemas.microsoft.com/office/powerpoint/2010/main" val="45494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757575"/>
                </a:solidFill>
                <a:latin typeface="Arial"/>
              </a:rPr>
              <a:t>CANNIBALIZATION</a:t>
            </a:r>
            <a:r>
              <a:rPr lang="en-US" sz="1050" b="1" i="0" dirty="0">
                <a:solidFill>
                  <a:srgbClr val="757575"/>
                </a:solidFill>
                <a:latin typeface="Arial"/>
              </a:rPr>
              <a:t> BREAKDOWN</a:t>
            </a:r>
            <a:endParaRPr sz="1050" b="1" i="0" dirty="0">
              <a:solidFill>
                <a:srgbClr val="757575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0140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 i="0" dirty="0">
                <a:solidFill>
                  <a:srgbClr val="000000"/>
                </a:solidFill>
                <a:latin typeface="Georgia"/>
              </a:rPr>
              <a:t>19–32% of Vestal Pro units shifted from existing shoes</a:t>
            </a:r>
            <a:r>
              <a:rPr lang="en-US" sz="2300" b="0" i="0" dirty="0">
                <a:solidFill>
                  <a:srgbClr val="000000"/>
                </a:solidFill>
                <a:latin typeface="Georgia"/>
              </a:rPr>
              <a:t>; exceeding </a:t>
            </a:r>
            <a:r>
              <a:rPr lang="en-US" sz="2300" dirty="0">
                <a:solidFill>
                  <a:srgbClr val="000000"/>
                </a:solidFill>
                <a:latin typeface="Georgia"/>
              </a:rPr>
              <a:t>10% threshold.</a:t>
            </a:r>
            <a:endParaRPr sz="2300" b="0" i="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05156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dirty="0">
                <a:solidFill>
                  <a:srgbClr val="757575"/>
                </a:solidFill>
                <a:latin typeface="Arial"/>
              </a:rPr>
              <a:t>Salomon NA eCommerce · Vestal Pro launch readout · Unit baselines per franchise; range reflects </a:t>
            </a:r>
            <a:r>
              <a:rPr lang="en-US" sz="800" b="0" i="0" dirty="0">
                <a:solidFill>
                  <a:srgbClr val="757575"/>
                </a:solidFill>
                <a:latin typeface="Arial"/>
              </a:rPr>
              <a:t>baseline forecast uncertainty</a:t>
            </a:r>
            <a:endParaRPr sz="800" b="0" i="0" dirty="0">
              <a:solidFill>
                <a:srgbClr val="757575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8</a:t>
            </a:r>
          </a:p>
        </p:txBody>
      </p:sp>
      <p:pic>
        <p:nvPicPr>
          <p:cNvPr id="12" name="Picture 11" descr="salomon_wordmark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292608"/>
            <a:ext cx="960120" cy="110013"/>
          </a:xfrm>
          <a:prstGeom prst="rect">
            <a:avLst/>
          </a:prstGeom>
        </p:spPr>
      </p:pic>
      <p:pic>
        <p:nvPicPr>
          <p:cNvPr id="16" name="Picture 15" descr="The image displays a chart comparing campaign-period unit changes to an expected baseline, showing a +2% increase, -15% decrease, and -26% decrease, with categories labeled as Ultra Glide, Sense Ride, and Speedcross.&#10;&#10;AI-generated content may be incorrect.">
            <a:extLst>
              <a:ext uri="{FF2B5EF4-FFF2-40B4-BE49-F238E27FC236}">
                <a16:creationId xmlns:a16="http://schemas.microsoft.com/office/drawing/2014/main" id="{BE3DF061-0D4F-724D-5B57-0E4889E12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88609"/>
            <a:ext cx="7214614" cy="428067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A3AA3B7-4504-7461-E05E-7A04EC99A85D}"/>
              </a:ext>
            </a:extLst>
          </p:cNvPr>
          <p:cNvSpPr txBox="1"/>
          <p:nvPr/>
        </p:nvSpPr>
        <p:spPr>
          <a:xfrm>
            <a:off x="7086600" y="1372249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757575"/>
                </a:solidFill>
                <a:latin typeface="Arial"/>
              </a:rPr>
              <a:t>OVERALL CANNIBALIZATION ESTIMATE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3EC008-E86B-BB1E-B68A-E0227EE13781}"/>
              </a:ext>
            </a:extLst>
          </p:cNvPr>
          <p:cNvSpPr txBox="1"/>
          <p:nvPr/>
        </p:nvSpPr>
        <p:spPr>
          <a:xfrm>
            <a:off x="7086600" y="1840512"/>
            <a:ext cx="4572000" cy="751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 dirty="0">
                <a:solidFill>
                  <a:srgbClr val="DA291C"/>
                </a:solidFill>
                <a:latin typeface="Arial"/>
              </a:rPr>
              <a:t>19–32%</a:t>
            </a:r>
            <a:endParaRPr sz="1300" b="0" i="0" dirty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150" b="0" i="0" dirty="0">
                <a:solidFill>
                  <a:srgbClr val="757575"/>
                </a:solidFill>
                <a:latin typeface="Arial"/>
              </a:rPr>
              <a:t>Goal &lt; </a:t>
            </a:r>
            <a:r>
              <a:rPr lang="en-US" sz="1150" b="0" i="0" dirty="0">
                <a:solidFill>
                  <a:srgbClr val="757575"/>
                </a:solidFill>
                <a:latin typeface="Arial"/>
              </a:rPr>
              <a:t>10</a:t>
            </a:r>
            <a:r>
              <a:rPr sz="1150" b="0" i="0" dirty="0">
                <a:solidFill>
                  <a:srgbClr val="757575"/>
                </a:solidFill>
                <a:latin typeface="Arial"/>
              </a:rPr>
              <a:t>% · </a:t>
            </a:r>
            <a:r>
              <a:rPr sz="1150" b="1" i="0" dirty="0">
                <a:solidFill>
                  <a:schemeClr val="accent1"/>
                </a:solidFill>
                <a:latin typeface="Arial"/>
              </a:rPr>
              <a:t>WATCH</a:t>
            </a:r>
            <a:endParaRPr sz="1150" b="0" i="0" dirty="0">
              <a:solidFill>
                <a:srgbClr val="757575"/>
              </a:solidFill>
              <a:latin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9A2D8F-D114-4311-F64E-C1212D5B5A9F}"/>
              </a:ext>
            </a:extLst>
          </p:cNvPr>
          <p:cNvSpPr txBox="1"/>
          <p:nvPr/>
        </p:nvSpPr>
        <p:spPr>
          <a:xfrm>
            <a:off x="8737707" y="1930997"/>
            <a:ext cx="22808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333333"/>
                </a:solidFill>
                <a:latin typeface="Arial"/>
              </a:rPr>
              <a:t>of Vestal Pro units cannibalized existing portfolio</a:t>
            </a:r>
            <a:endParaRPr lang="en-US" sz="11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1642DC-B5C0-3D18-ECD9-49E05A17835B}"/>
              </a:ext>
            </a:extLst>
          </p:cNvPr>
          <p:cNvSpPr txBox="1"/>
          <p:nvPr/>
        </p:nvSpPr>
        <p:spPr>
          <a:xfrm>
            <a:off x="7086600" y="2863959"/>
            <a:ext cx="4572000" cy="19799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0" i="0" dirty="0">
                <a:solidFill>
                  <a:srgbClr val="333333"/>
                </a:solidFill>
                <a:latin typeface="Arial"/>
              </a:rPr>
              <a:t>•  The three baseline estimates are 19%, 28%, and 32%, with a median of 28%.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0" i="0" dirty="0">
                <a:solidFill>
                  <a:srgbClr val="333333"/>
                </a:solidFill>
                <a:latin typeface="Arial"/>
              </a:rPr>
              <a:t>•  </a:t>
            </a:r>
            <a:r>
              <a:rPr sz="1150" b="1" i="0" dirty="0">
                <a:solidFill>
                  <a:srgbClr val="333333"/>
                </a:solidFill>
                <a:latin typeface="Arial"/>
              </a:rPr>
              <a:t>$30.5K</a:t>
            </a:r>
            <a:r>
              <a:rPr sz="1150" b="0" i="0" dirty="0">
                <a:solidFill>
                  <a:srgbClr val="333333"/>
                </a:solidFill>
                <a:latin typeface="Arial"/>
              </a:rPr>
              <a:t> of existing-shoe revenue was displaced </a:t>
            </a:r>
            <a:r>
              <a:rPr lang="en-US" sz="1150" dirty="0">
                <a:solidFill>
                  <a:srgbClr val="333333"/>
                </a:solidFill>
                <a:latin typeface="Arial"/>
              </a:rPr>
              <a:t>by </a:t>
            </a:r>
            <a:r>
              <a:rPr sz="1150" b="0" i="0" dirty="0">
                <a:solidFill>
                  <a:srgbClr val="333333"/>
                </a:solidFill>
                <a:latin typeface="Arial"/>
              </a:rPr>
              <a:t>about </a:t>
            </a:r>
            <a:r>
              <a:rPr sz="1150" b="1" i="0" dirty="0">
                <a:solidFill>
                  <a:srgbClr val="333333"/>
                </a:solidFill>
                <a:latin typeface="Arial"/>
              </a:rPr>
              <a:t>31% </a:t>
            </a:r>
            <a:r>
              <a:rPr sz="1150" b="0" i="0" dirty="0">
                <a:solidFill>
                  <a:srgbClr val="333333"/>
                </a:solidFill>
                <a:latin typeface="Arial"/>
              </a:rPr>
              <a:t>of Vestal Pro's $99.8K direct revenue.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0" i="0" dirty="0">
                <a:solidFill>
                  <a:srgbClr val="333333"/>
                </a:solidFill>
                <a:latin typeface="Arial"/>
              </a:rPr>
              <a:t>•  </a:t>
            </a:r>
            <a:r>
              <a:rPr lang="en-US" sz="1150" b="0" i="0" dirty="0">
                <a:solidFill>
                  <a:srgbClr val="333333"/>
                </a:solidFill>
                <a:latin typeface="Arial"/>
              </a:rPr>
              <a:t>Sales shift is concentrated where product </a:t>
            </a:r>
            <a:r>
              <a:rPr sz="1150" b="0" i="0" dirty="0">
                <a:solidFill>
                  <a:srgbClr val="333333"/>
                </a:solidFill>
                <a:latin typeface="Arial"/>
              </a:rPr>
              <a:t>positioning overlaps</a:t>
            </a:r>
            <a:r>
              <a:rPr lang="en-US" sz="1150" dirty="0">
                <a:solidFill>
                  <a:srgbClr val="333333"/>
                </a:solidFill>
                <a:latin typeface="Arial"/>
              </a:rPr>
              <a:t>. </a:t>
            </a:r>
            <a:endParaRPr lang="en-US" sz="1150" b="0" i="0" dirty="0">
              <a:solidFill>
                <a:srgbClr val="333333"/>
              </a:solidFill>
              <a:latin typeface="Arial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lang="en-US" sz="1150" b="0" i="0" dirty="0">
                <a:solidFill>
                  <a:srgbClr val="333333"/>
                </a:solidFill>
                <a:latin typeface="Arial"/>
              </a:rPr>
              <a:t>•  The launch remains net positive: +$69.3K in additional footwear revenue after the shift.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lang="en-US" sz="1150" dirty="0">
                <a:solidFill>
                  <a:srgbClr val="333333"/>
                </a:solidFill>
                <a:latin typeface="Arial"/>
              </a:rPr>
              <a:t>• </a:t>
            </a:r>
            <a:r>
              <a:rPr lang="en-US" sz="1150" dirty="0" err="1">
                <a:solidFill>
                  <a:srgbClr val="333333"/>
                </a:solidFill>
                <a:latin typeface="Arial"/>
              </a:rPr>
              <a:t>Speedcross</a:t>
            </a:r>
            <a:r>
              <a:rPr lang="en-US" sz="1150" dirty="0">
                <a:solidFill>
                  <a:srgbClr val="333333"/>
                </a:solidFill>
                <a:latin typeface="Arial"/>
              </a:rPr>
              <a:t> displacement is insignificant.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E3D2DA-5796-3584-EDB3-ED2796F107D6}"/>
              </a:ext>
            </a:extLst>
          </p:cNvPr>
          <p:cNvSpPr txBox="1"/>
          <p:nvPr/>
        </p:nvSpPr>
        <p:spPr>
          <a:xfrm>
            <a:off x="7086600" y="5293372"/>
            <a:ext cx="45720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i="1" dirty="0">
                <a:solidFill>
                  <a:schemeClr val="accent6">
                    <a:lumMod val="75000"/>
                  </a:schemeClr>
                </a:solidFill>
                <a:latin typeface="Arial"/>
              </a:rPr>
              <a:t>MANAGE</a:t>
            </a:r>
            <a:r>
              <a:rPr lang="en-US" sz="1100" b="1" i="1" dirty="0">
                <a:latin typeface="Arial"/>
              </a:rPr>
              <a:t> </a:t>
            </a:r>
            <a:r>
              <a:rPr lang="en-US" sz="1100" i="1" dirty="0">
                <a:latin typeface="Arial"/>
              </a:rPr>
              <a:t>franchise shift with merchandising that reduces head-to-head substitution. </a:t>
            </a:r>
            <a:endParaRPr sz="1100" i="1" dirty="0"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757575"/>
                </a:solidFill>
                <a:latin typeface="Arial"/>
              </a:rPr>
              <a:t>CUSTOMER ACQUISITION</a:t>
            </a:r>
            <a:r>
              <a:rPr lang="en-US" sz="1050" b="1" i="0" dirty="0">
                <a:solidFill>
                  <a:srgbClr val="757575"/>
                </a:solidFill>
                <a:latin typeface="Arial"/>
              </a:rPr>
              <a:t> AND LTV</a:t>
            </a:r>
            <a:endParaRPr sz="1050" b="1" i="0" dirty="0">
              <a:solidFill>
                <a:srgbClr val="757575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0140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 i="0" dirty="0">
                <a:solidFill>
                  <a:srgbClr val="000000"/>
                </a:solidFill>
                <a:latin typeface="Georgia"/>
              </a:rPr>
              <a:t>4</a:t>
            </a:r>
            <a:r>
              <a:rPr lang="en-US" sz="2300" b="0" i="0" dirty="0">
                <a:solidFill>
                  <a:srgbClr val="000000"/>
                </a:solidFill>
                <a:latin typeface="Georgia"/>
              </a:rPr>
              <a:t>0</a:t>
            </a:r>
            <a:r>
              <a:rPr sz="2300" b="0" i="0" dirty="0">
                <a:solidFill>
                  <a:srgbClr val="000000"/>
                </a:solidFill>
                <a:latin typeface="Georgia"/>
              </a:rPr>
              <a:t>% of Vestal Pro </a:t>
            </a:r>
            <a:r>
              <a:rPr lang="en-US" sz="2300" b="0" i="0" dirty="0">
                <a:solidFill>
                  <a:srgbClr val="000000"/>
                </a:solidFill>
                <a:latin typeface="Georgia"/>
              </a:rPr>
              <a:t>buyers</a:t>
            </a:r>
            <a:r>
              <a:rPr sz="2300" b="0" i="0" dirty="0">
                <a:solidFill>
                  <a:srgbClr val="000000"/>
                </a:solidFill>
                <a:latin typeface="Georgia"/>
              </a:rPr>
              <a:t> were new to Salomon</a:t>
            </a:r>
            <a:r>
              <a:rPr lang="en-US" sz="2300" dirty="0">
                <a:solidFill>
                  <a:srgbClr val="000000"/>
                </a:solidFill>
                <a:latin typeface="Georgia"/>
              </a:rPr>
              <a:t>. A</a:t>
            </a:r>
            <a:r>
              <a:rPr sz="2300" b="0" i="0" dirty="0">
                <a:solidFill>
                  <a:srgbClr val="000000"/>
                </a:solidFill>
                <a:latin typeface="Georgia"/>
              </a:rPr>
              <a:t>cquired at half early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481328"/>
            <a:ext cx="34747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757575"/>
                </a:solidFill>
                <a:latin typeface="Arial"/>
              </a:rPr>
              <a:t>ACQUISITION</a:t>
            </a:r>
            <a:r>
              <a:rPr lang="en-US" sz="1000" b="1" i="0" dirty="0">
                <a:solidFill>
                  <a:srgbClr val="757575"/>
                </a:solidFill>
                <a:latin typeface="Arial"/>
              </a:rPr>
              <a:t> METRICS</a:t>
            </a:r>
            <a:endParaRPr sz="1000" b="1" i="0" dirty="0">
              <a:solidFill>
                <a:srgbClr val="757575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43400" y="1847088"/>
            <a:ext cx="3474720" cy="510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100" b="1" i="0" dirty="0">
                <a:solidFill>
                  <a:srgbClr val="333333"/>
                </a:solidFill>
                <a:latin typeface="Arial"/>
              </a:rPr>
              <a:t>$10</a:t>
            </a:r>
            <a:r>
              <a:rPr lang="en-US" sz="2100" b="1" i="0" dirty="0">
                <a:solidFill>
                  <a:srgbClr val="333333"/>
                </a:solidFill>
                <a:latin typeface="Arial"/>
              </a:rPr>
              <a:t>2</a:t>
            </a:r>
            <a:r>
              <a:rPr sz="2100" b="1" i="0" dirty="0">
                <a:solidFill>
                  <a:srgbClr val="333333"/>
                </a:solidFill>
                <a:latin typeface="Arial"/>
              </a:rPr>
              <a:t>   </a:t>
            </a:r>
            <a:r>
              <a:rPr sz="1200" b="1" i="0" dirty="0">
                <a:solidFill>
                  <a:srgbClr val="333333"/>
                </a:solidFill>
                <a:latin typeface="Arial"/>
              </a:rPr>
              <a:t>Blended CAC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 dirty="0">
                <a:solidFill>
                  <a:srgbClr val="757575"/>
                </a:solidFill>
                <a:latin typeface="Arial"/>
              </a:rPr>
              <a:t>$155.8K spend ÷ </a:t>
            </a:r>
            <a:r>
              <a:rPr lang="en-US" sz="1050" b="0" i="0" dirty="0">
                <a:solidFill>
                  <a:srgbClr val="757575"/>
                </a:solidFill>
                <a:latin typeface="Arial"/>
              </a:rPr>
              <a:t>730 </a:t>
            </a:r>
            <a:r>
              <a:rPr sz="1050" b="0" i="0" dirty="0">
                <a:solidFill>
                  <a:srgbClr val="757575"/>
                </a:solidFill>
                <a:latin typeface="Arial"/>
              </a:rPr>
              <a:t>new 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834640"/>
            <a:ext cx="3474720" cy="510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100" b="1" i="0" dirty="0">
                <a:solidFill>
                  <a:srgbClr val="333333"/>
                </a:solidFill>
                <a:latin typeface="Arial"/>
              </a:rPr>
              <a:t>$1</a:t>
            </a:r>
            <a:r>
              <a:rPr lang="en-US" sz="2100" b="1" i="0" dirty="0">
                <a:solidFill>
                  <a:srgbClr val="333333"/>
                </a:solidFill>
                <a:latin typeface="Arial"/>
              </a:rPr>
              <a:t>29</a:t>
            </a:r>
            <a:r>
              <a:rPr sz="2100" b="1" i="0" dirty="0">
                <a:solidFill>
                  <a:srgbClr val="333333"/>
                </a:solidFill>
                <a:latin typeface="Arial"/>
              </a:rPr>
              <a:t>   </a:t>
            </a:r>
            <a:r>
              <a:rPr sz="1200" b="1" i="0" dirty="0">
                <a:solidFill>
                  <a:srgbClr val="333333"/>
                </a:solidFill>
                <a:latin typeface="Arial"/>
              </a:rPr>
              <a:t>First-order value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 dirty="0">
                <a:solidFill>
                  <a:srgbClr val="757575"/>
                </a:solidFill>
                <a:latin typeface="Arial"/>
              </a:rPr>
              <a:t>average first basket, new 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822191"/>
            <a:ext cx="3474720" cy="510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100" b="1" i="0" dirty="0">
                <a:solidFill>
                  <a:srgbClr val="0057B8"/>
                </a:solidFill>
                <a:latin typeface="Arial"/>
              </a:rPr>
              <a:t>$</a:t>
            </a:r>
            <a:r>
              <a:rPr lang="en-US" sz="2100" b="1" i="0" dirty="0">
                <a:solidFill>
                  <a:srgbClr val="0057B8"/>
                </a:solidFill>
                <a:latin typeface="Arial"/>
              </a:rPr>
              <a:t>188</a:t>
            </a:r>
            <a:r>
              <a:rPr sz="2100" b="1" i="0" dirty="0">
                <a:solidFill>
                  <a:srgbClr val="0057B8"/>
                </a:solidFill>
                <a:latin typeface="Arial"/>
              </a:rPr>
              <a:t>   </a:t>
            </a:r>
            <a:r>
              <a:rPr sz="1200" b="1" i="0" dirty="0">
                <a:solidFill>
                  <a:srgbClr val="333333"/>
                </a:solidFill>
                <a:latin typeface="Arial"/>
              </a:rPr>
              <a:t>Early customer value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 dirty="0">
                <a:solidFill>
                  <a:srgbClr val="757575"/>
                </a:solidFill>
                <a:latin typeface="Arial"/>
              </a:rPr>
              <a:t>revenue through </a:t>
            </a:r>
            <a:r>
              <a:rPr lang="en-US" sz="1050" b="0" i="0" dirty="0">
                <a:solidFill>
                  <a:srgbClr val="757575"/>
                </a:solidFill>
                <a:latin typeface="Arial"/>
              </a:rPr>
              <a:t>June 20</a:t>
            </a:r>
            <a:r>
              <a:rPr sz="1050" b="0" i="0" dirty="0">
                <a:solidFill>
                  <a:srgbClr val="757575"/>
                </a:solidFill>
                <a:latin typeface="Arial"/>
              </a:rPr>
              <a:t> · </a:t>
            </a:r>
            <a:r>
              <a:rPr lang="en-US" sz="1050" b="0" i="0" dirty="0">
                <a:solidFill>
                  <a:srgbClr val="757575"/>
                </a:solidFill>
                <a:latin typeface="Arial"/>
              </a:rPr>
              <a:t>1.8</a:t>
            </a:r>
            <a:r>
              <a:rPr sz="1050" b="0" i="0" dirty="0">
                <a:solidFill>
                  <a:srgbClr val="757575"/>
                </a:solidFill>
                <a:latin typeface="Arial"/>
              </a:rPr>
              <a:t>× CAC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4809744"/>
            <a:ext cx="3474720" cy="510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en-US" sz="2100" b="1" dirty="0">
                <a:solidFill>
                  <a:srgbClr val="333333"/>
                </a:solidFill>
                <a:latin typeface="Arial"/>
              </a:rPr>
              <a:t>28.1</a:t>
            </a:r>
            <a:r>
              <a:rPr sz="2100" b="1" i="0" dirty="0">
                <a:solidFill>
                  <a:srgbClr val="333333"/>
                </a:solidFill>
                <a:latin typeface="Arial"/>
              </a:rPr>
              <a:t>%   </a:t>
            </a:r>
            <a:r>
              <a:rPr sz="1200" b="1" i="0" dirty="0">
                <a:solidFill>
                  <a:srgbClr val="333333"/>
                </a:solidFill>
                <a:latin typeface="Arial"/>
              </a:rPr>
              <a:t>Post-period repeat rate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 dirty="0">
                <a:solidFill>
                  <a:srgbClr val="757575"/>
                </a:solidFill>
                <a:latin typeface="Arial"/>
              </a:rPr>
              <a:t>repurchased within 4 weeks of </a:t>
            </a:r>
            <a:r>
              <a:rPr lang="en-US" sz="1050" b="0" i="0" dirty="0">
                <a:solidFill>
                  <a:srgbClr val="757575"/>
                </a:solidFill>
                <a:latin typeface="Arial"/>
              </a:rPr>
              <a:t>initial purchase</a:t>
            </a:r>
            <a:endParaRPr sz="1050" b="0" i="0" dirty="0">
              <a:solidFill>
                <a:srgbClr val="757575"/>
              </a:solidFill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83879" y="5074920"/>
            <a:ext cx="3520440" cy="7493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lang="en-US" sz="1050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</a:rPr>
              <a:t>1,361 email and 678 SMS adds during the 20-day campaign.</a:t>
            </a:r>
            <a:endParaRPr sz="1050" b="0" i="0" dirty="0">
              <a:solidFill>
                <a:schemeClr val="tx2">
                  <a:lumMod val="50000"/>
                  <a:lumOff val="50000"/>
                </a:schemeClr>
              </a:solidFill>
              <a:latin typeface="Arial"/>
            </a:endParaRP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en-US" sz="1050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</a:rPr>
              <a:t>New Vestal Pro buyers opt in at 72% email / 40% SMS, vs 51% / 24% for existing buyers.</a:t>
            </a:r>
            <a:endParaRPr sz="1050" b="0" i="0" dirty="0">
              <a:solidFill>
                <a:schemeClr val="tx2">
                  <a:lumMod val="50000"/>
                  <a:lumOff val="50000"/>
                </a:schemeClr>
              </a:solidFill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05156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dirty="0">
                <a:solidFill>
                  <a:srgbClr val="757575"/>
                </a:solidFill>
                <a:latin typeface="Arial"/>
              </a:rPr>
              <a:t>Salomon NA eCommerce · Vestal Pro launch readout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7</a:t>
            </a:r>
          </a:p>
        </p:txBody>
      </p:sp>
      <p:pic>
        <p:nvPicPr>
          <p:cNvPr id="19" name="Picture 18" descr="salomon_wordmark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292608"/>
            <a:ext cx="960120" cy="110013"/>
          </a:xfrm>
          <a:prstGeom prst="rect">
            <a:avLst/>
          </a:prstGeom>
        </p:spPr>
      </p:pic>
      <p:pic>
        <p:nvPicPr>
          <p:cNvPr id="21" name="Picture 20" descr="The image displays a pie chart indicating that 25% of Vestal Pro buyers choose to pass, with new Salomon products being more popular at 268 and existing products at 399.&#10;&#10;AI-generated content may be incorrect.">
            <a:extLst>
              <a:ext uri="{FF2B5EF4-FFF2-40B4-BE49-F238E27FC236}">
                <a16:creationId xmlns:a16="http://schemas.microsoft.com/office/drawing/2014/main" id="{EDD06685-1F8D-CD67-638F-B32B434A1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408656"/>
            <a:ext cx="4313947" cy="3805518"/>
          </a:xfrm>
          <a:prstGeom prst="rect">
            <a:avLst/>
          </a:prstGeom>
        </p:spPr>
      </p:pic>
      <p:pic>
        <p:nvPicPr>
          <p:cNvPr id="23" name="Picture 22" descr="The diagram illustrates an increasing trend in daily database additions, with percentages rising from +35% to +37% and a significant increase in email activity, contrasted with a smaller growth in SMS engagement.&#10;&#10;AI-generated content may be incorrect.">
            <a:extLst>
              <a:ext uri="{FF2B5EF4-FFF2-40B4-BE49-F238E27FC236}">
                <a16:creationId xmlns:a16="http://schemas.microsoft.com/office/drawing/2014/main" id="{8A7433B0-14CE-40AB-7678-59C5DDFC7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4277" y="1481327"/>
            <a:ext cx="4530844" cy="34972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9F1A2-49D4-AE4A-1D0A-23C7A2254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AF255B-BC9F-3F24-461F-7B00C6BE6B54}"/>
              </a:ext>
            </a:extLst>
          </p:cNvPr>
          <p:cNvSpPr txBox="1"/>
          <p:nvPr/>
        </p:nvSpPr>
        <p:spPr>
          <a:xfrm>
            <a:off x="502920" y="292608"/>
            <a:ext cx="1115568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757575"/>
                </a:solidFill>
                <a:latin typeface="Arial"/>
              </a:rPr>
              <a:t>CUSTOMER ACQUISITION</a:t>
            </a:r>
            <a:r>
              <a:rPr lang="en-US" sz="1050" b="1" i="0" dirty="0">
                <a:solidFill>
                  <a:srgbClr val="757575"/>
                </a:solidFill>
                <a:latin typeface="Arial"/>
              </a:rPr>
              <a:t> AND LTV</a:t>
            </a:r>
            <a:endParaRPr sz="1050" b="1" i="0" dirty="0">
              <a:solidFill>
                <a:srgbClr val="757575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3D5D81-D5F6-4AAE-1E2A-8080FB2F4082}"/>
              </a:ext>
            </a:extLst>
          </p:cNvPr>
          <p:cNvSpPr txBox="1"/>
          <p:nvPr/>
        </p:nvSpPr>
        <p:spPr>
          <a:xfrm>
            <a:off x="502920" y="566928"/>
            <a:ext cx="1120140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300" b="0" i="0" dirty="0">
                <a:solidFill>
                  <a:srgbClr val="000000"/>
                </a:solidFill>
                <a:latin typeface="Georgia"/>
              </a:rPr>
              <a:t>Projected 24-month value of ~$387 per new customer; 3.8× acquisition cost</a:t>
            </a:r>
            <a:endParaRPr sz="2300" b="0" i="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7D67C6-323C-82EF-4AC6-94AA08868144}"/>
              </a:ext>
            </a:extLst>
          </p:cNvPr>
          <p:cNvSpPr txBox="1"/>
          <p:nvPr/>
        </p:nvSpPr>
        <p:spPr>
          <a:xfrm>
            <a:off x="502920" y="6510528"/>
            <a:ext cx="105156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dirty="0">
                <a:solidFill>
                  <a:srgbClr val="757575"/>
                </a:solidFill>
                <a:latin typeface="Arial"/>
              </a:rPr>
              <a:t>Salomon NA eCommerce · Vestal Pro launch readout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3D1226-9BE7-41CB-399A-C53415DF9AB7}"/>
              </a:ext>
            </a:extLst>
          </p:cNvPr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7</a:t>
            </a:r>
          </a:p>
        </p:txBody>
      </p:sp>
      <p:pic>
        <p:nvPicPr>
          <p:cNvPr id="19" name="Picture 18" descr="salomon_wordmark_black.png">
            <a:extLst>
              <a:ext uri="{FF2B5EF4-FFF2-40B4-BE49-F238E27FC236}">
                <a16:creationId xmlns:a16="http://schemas.microsoft.com/office/drawing/2014/main" id="{C54FDC2E-F88A-4793-C382-698F26484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292608"/>
            <a:ext cx="960120" cy="110013"/>
          </a:xfrm>
          <a:prstGeom prst="rect">
            <a:avLst/>
          </a:prstGeom>
        </p:spPr>
      </p:pic>
      <p:pic>
        <p:nvPicPr>
          <p:cNvPr id="5" name="Picture 4" descr="The diagram illustrates the projected and actual customer lifetime values, including the first order, blended customer acquisition cost (CAC), and the cumulative value per customer over time.&#10;&#10;AI-generated content may be incorrect.">
            <a:extLst>
              <a:ext uri="{FF2B5EF4-FFF2-40B4-BE49-F238E27FC236}">
                <a16:creationId xmlns:a16="http://schemas.microsoft.com/office/drawing/2014/main" id="{4BADB25B-6C91-F75F-9BCD-A697A8C859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19" y="1834765"/>
            <a:ext cx="6484213" cy="402353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79F3486-0308-AEA3-B6CD-45160B32CA97}"/>
              </a:ext>
            </a:extLst>
          </p:cNvPr>
          <p:cNvCxnSpPr/>
          <p:nvPr/>
        </p:nvCxnSpPr>
        <p:spPr>
          <a:xfrm>
            <a:off x="5877289" y="2135926"/>
            <a:ext cx="0" cy="425789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AED6645-9556-3AB4-7674-3147830657AB}"/>
              </a:ext>
            </a:extLst>
          </p:cNvPr>
          <p:cNvSpPr txBox="1"/>
          <p:nvPr/>
        </p:nvSpPr>
        <p:spPr>
          <a:xfrm>
            <a:off x="5065149" y="1916665"/>
            <a:ext cx="17799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Prior CLV cohort analysis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AA0C35-1420-E2C8-050C-10BB01FA0712}"/>
              </a:ext>
            </a:extLst>
          </p:cNvPr>
          <p:cNvSpPr txBox="1"/>
          <p:nvPr/>
        </p:nvSpPr>
        <p:spPr>
          <a:xfrm>
            <a:off x="7817805" y="1915228"/>
            <a:ext cx="3589511" cy="22920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900"/>
              </a:spcAft>
            </a:pPr>
            <a:r>
              <a:rPr lang="en-US" sz="1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</a:rPr>
              <a:t>LIFETIME VALUE</a:t>
            </a:r>
            <a:r>
              <a:rPr lang="en-US" sz="1200" b="1" i="0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</a:rPr>
              <a:t> BREAKDOWN</a:t>
            </a:r>
            <a:endParaRPr lang="en-US" sz="1200" b="1" dirty="0">
              <a:solidFill>
                <a:schemeClr val="tx2">
                  <a:lumMod val="50000"/>
                  <a:lumOff val="50000"/>
                </a:schemeClr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/>
              </a:rPr>
              <a:t>•  </a:t>
            </a: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/>
              </a:rPr>
              <a:t>LTV Forecast of $387/customer </a:t>
            </a: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/>
              </a:rPr>
              <a:t>at 24 months (3.8x CAC) based on prior CLV cohort analysis.</a:t>
            </a:r>
          </a:p>
          <a:p>
            <a:pPr>
              <a:spcAft>
                <a:spcPts val="600"/>
              </a:spcAft>
            </a:pPr>
            <a:endParaRPr lang="en-US" sz="1200" dirty="0">
              <a:solidFill>
                <a:schemeClr val="tx2">
                  <a:lumMod val="75000"/>
                  <a:lumOff val="25000"/>
                </a:schemeClr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/>
              </a:rPr>
              <a:t>• </a:t>
            </a: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/>
              </a:rPr>
              <a:t>Value is front-loaded: </a:t>
            </a: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/>
              </a:rPr>
              <a:t>We will see most of the LTV within the first 12 months (Roughly 86% accrues within the first year).</a:t>
            </a:r>
          </a:p>
          <a:p>
            <a:pPr>
              <a:spcAft>
                <a:spcPts val="600"/>
              </a:spcAft>
            </a:pPr>
            <a:endParaRPr lang="en-US" sz="1200" dirty="0">
              <a:solidFill>
                <a:schemeClr val="tx2">
                  <a:lumMod val="75000"/>
                  <a:lumOff val="25000"/>
                </a:schemeClr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/>
              </a:rPr>
              <a:t>• Currently </a:t>
            </a: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/>
              </a:rPr>
              <a:t>outperforming </a:t>
            </a: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/>
              </a:rPr>
              <a:t>LTV forecast at $188 after 4 weeks (1.8x CAC)</a:t>
            </a:r>
            <a:endParaRPr lang="en-US" sz="12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881508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757575"/>
                </a:solidFill>
                <a:latin typeface="Arial"/>
              </a:rPr>
              <a:t>HALO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0140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 i="0" dirty="0">
                <a:solidFill>
                  <a:srgbClr val="000000"/>
                </a:solidFill>
                <a:latin typeface="Georgia"/>
              </a:rPr>
              <a:t>Adjacent categories lifted +9%, but as standalone purchases, </a:t>
            </a:r>
            <a:r>
              <a:rPr lang="en-US" sz="2300" b="0" i="0" dirty="0">
                <a:solidFill>
                  <a:srgbClr val="000000"/>
                </a:solidFill>
                <a:latin typeface="Georgia"/>
              </a:rPr>
              <a:t>bigger carts.</a:t>
            </a:r>
            <a:endParaRPr sz="2300" b="0" i="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757575"/>
                </a:solidFill>
                <a:latin typeface="Arial"/>
              </a:rPr>
              <a:t>ADJACENT-CATEGORY REVENUE VS EXPECTED BASELINE, ACTIVE FLIGHT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828800"/>
          <a:ext cx="63093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806440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Arial"/>
              </a:rPr>
              <a:t>Success criterion ≥ +5%: </a:t>
            </a:r>
            <a:r>
              <a:rPr sz="1000" b="1" i="0">
                <a:solidFill>
                  <a:srgbClr val="1F7A4D"/>
                </a:solidFill>
                <a:latin typeface="Arial"/>
              </a:rPr>
              <a:t>PASS</a:t>
            </a:r>
            <a:r>
              <a:rPr sz="1000" b="0" i="0">
                <a:solidFill>
                  <a:srgbClr val="757575"/>
                </a:solidFill>
                <a:latin typeface="Arial"/>
              </a:rPr>
              <a:t>  (+9.2%, 95% CI +3.0% to +15.4% · +$7.9K)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14813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Arial"/>
              </a:rPr>
              <a:t>ATTACH RATE TO VESTAL PRO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1828800"/>
            <a:ext cx="457200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 dirty="0">
                <a:solidFill>
                  <a:srgbClr val="333333"/>
                </a:solidFill>
                <a:latin typeface="Arial"/>
              </a:rPr>
              <a:t>17.8%</a:t>
            </a:r>
            <a:r>
              <a:rPr sz="1300" b="0" i="0" dirty="0">
                <a:solidFill>
                  <a:srgbClr val="757575"/>
                </a:solidFill>
                <a:latin typeface="Arial"/>
              </a:rPr>
              <a:t>   flat vs 18.0% </a:t>
            </a:r>
            <a:r>
              <a:rPr lang="en-US" sz="1300" b="0" i="0" dirty="0">
                <a:solidFill>
                  <a:srgbClr val="757575"/>
                </a:solidFill>
                <a:latin typeface="Arial"/>
              </a:rPr>
              <a:t>historical average</a:t>
            </a:r>
            <a:endParaRPr sz="1300" b="0" i="0" dirty="0">
              <a:solidFill>
                <a:srgbClr val="757575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086600" y="2834640"/>
            <a:ext cx="4572000" cy="1378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0" i="0" dirty="0">
                <a:solidFill>
                  <a:srgbClr val="333333"/>
                </a:solidFill>
                <a:latin typeface="Arial"/>
              </a:rPr>
              <a:t>•  </a:t>
            </a:r>
            <a:r>
              <a:rPr lang="en-US" sz="1150" b="0" i="0" dirty="0">
                <a:solidFill>
                  <a:srgbClr val="333333"/>
                </a:solidFill>
                <a:latin typeface="Arial"/>
              </a:rPr>
              <a:t>Halo effect </a:t>
            </a:r>
            <a:r>
              <a:rPr lang="en-US" sz="1150" dirty="0">
                <a:solidFill>
                  <a:srgbClr val="333333"/>
                </a:solidFill>
                <a:latin typeface="Arial"/>
              </a:rPr>
              <a:t>realized through increased </a:t>
            </a:r>
            <a:r>
              <a:rPr lang="en-US" sz="1150" b="1" dirty="0">
                <a:solidFill>
                  <a:srgbClr val="333333"/>
                </a:solidFill>
                <a:latin typeface="Arial"/>
              </a:rPr>
              <a:t>standalone accessory purchases</a:t>
            </a:r>
            <a:r>
              <a:rPr lang="en-US" sz="1150" dirty="0">
                <a:solidFill>
                  <a:srgbClr val="333333"/>
                </a:solidFill>
                <a:latin typeface="Arial"/>
              </a:rPr>
              <a:t>, driven by </a:t>
            </a:r>
            <a:r>
              <a:rPr sz="1150" b="0" i="0" dirty="0">
                <a:solidFill>
                  <a:srgbClr val="333333"/>
                </a:solidFill>
                <a:latin typeface="Arial"/>
              </a:rPr>
              <a:t>campaign </a:t>
            </a:r>
            <a:r>
              <a:rPr sz="1150" b="1" i="0" dirty="0">
                <a:solidFill>
                  <a:srgbClr val="333333"/>
                </a:solidFill>
                <a:latin typeface="Arial"/>
              </a:rPr>
              <a:t>traffic </a:t>
            </a:r>
            <a:r>
              <a:rPr sz="1150" b="0" i="0" dirty="0">
                <a:solidFill>
                  <a:srgbClr val="333333"/>
                </a:solidFill>
                <a:latin typeface="Arial"/>
              </a:rPr>
              <a:t>and </a:t>
            </a:r>
            <a:r>
              <a:rPr lang="en-US" sz="1150" b="0" i="0" dirty="0">
                <a:solidFill>
                  <a:srgbClr val="333333"/>
                </a:solidFill>
                <a:latin typeface="Arial"/>
              </a:rPr>
              <a:t>brand </a:t>
            </a:r>
            <a:r>
              <a:rPr sz="1150" b="1" i="0" dirty="0">
                <a:solidFill>
                  <a:srgbClr val="333333"/>
                </a:solidFill>
                <a:latin typeface="Arial"/>
              </a:rPr>
              <a:t>awareness</a:t>
            </a:r>
            <a:r>
              <a:rPr lang="en-US" sz="1150" b="0" i="0" dirty="0">
                <a:solidFill>
                  <a:srgbClr val="333333"/>
                </a:solidFill>
                <a:latin typeface="Arial"/>
              </a:rPr>
              <a:t>.</a:t>
            </a:r>
            <a:endParaRPr sz="1150" b="0" i="0" dirty="0">
              <a:solidFill>
                <a:srgbClr val="333333"/>
              </a:solidFill>
              <a:latin typeface="Arial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0" i="0" dirty="0">
                <a:solidFill>
                  <a:srgbClr val="333333"/>
                </a:solidFill>
                <a:latin typeface="Arial"/>
              </a:rPr>
              <a:t>•  Accessories led (+16.9%); apparel followed (+5.4%). Other footwear orders attached at the same 18% rate.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0" i="0" dirty="0">
                <a:solidFill>
                  <a:srgbClr val="333333"/>
                </a:solidFill>
                <a:latin typeface="Arial"/>
              </a:rPr>
              <a:t>•  </a:t>
            </a:r>
            <a:r>
              <a:rPr sz="1150" b="1" i="0" dirty="0">
                <a:solidFill>
                  <a:srgbClr val="333333"/>
                </a:solidFill>
                <a:latin typeface="Arial"/>
              </a:rPr>
              <a:t>Opportunity</a:t>
            </a:r>
            <a:r>
              <a:rPr sz="1150" b="0" i="0" dirty="0">
                <a:solidFill>
                  <a:srgbClr val="333333"/>
                </a:solidFill>
                <a:latin typeface="Arial"/>
              </a:rPr>
              <a:t>: PDP bundles (socks, gaiters, hydration) and </a:t>
            </a:r>
            <a:r>
              <a:rPr lang="en-US" sz="1150" b="0" i="0" dirty="0">
                <a:solidFill>
                  <a:srgbClr val="333333"/>
                </a:solidFill>
                <a:latin typeface="Arial"/>
              </a:rPr>
              <a:t>enhanced item-item recommendation</a:t>
            </a:r>
            <a:r>
              <a:rPr lang="en-US" sz="1150" dirty="0">
                <a:solidFill>
                  <a:srgbClr val="333333"/>
                </a:solidFill>
                <a:latin typeface="Arial"/>
              </a:rPr>
              <a:t> systems </a:t>
            </a:r>
            <a:r>
              <a:rPr lang="en-US" sz="1150" b="0" i="0">
                <a:solidFill>
                  <a:srgbClr val="333333"/>
                </a:solidFill>
                <a:latin typeface="Arial"/>
              </a:rPr>
              <a:t>to push bigger baskets.</a:t>
            </a:r>
            <a:endParaRPr sz="1150" b="0" i="0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Salomon NA eCommerce · Vestal Pro launch readout · Illustrative synthetic case data · Baseline: pre-period trend + weekly seasonality per 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9</a:t>
            </a:r>
          </a:p>
        </p:txBody>
      </p:sp>
      <p:pic>
        <p:nvPicPr>
          <p:cNvPr id="12" name="Picture 11" descr="salomon_wordmark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292608"/>
            <a:ext cx="960120" cy="1100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757575"/>
                </a:solidFill>
                <a:latin typeface="Arial"/>
              </a:rPr>
              <a:t>CHANNEL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01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 i="0">
                <a:solidFill>
                  <a:srgbClr val="000000"/>
                </a:solidFill>
                <a:latin typeface="Georgia"/>
              </a:rPr>
              <a:t>CRM and affiliate cleared breakeven on incremental ROAS; paid media did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Arial"/>
              </a:rPr>
              <a:t>INCREMENTAL ROAS BY CHANNEL (BREAKEVEN = 1.0×)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828800"/>
          <a:ext cx="63093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086600" y="1600200"/>
            <a:ext cx="45720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1" i="0">
                <a:solidFill>
                  <a:srgbClr val="333333"/>
                </a:solidFill>
                <a:latin typeface="Arial"/>
              </a:rPr>
              <a:t>•  CRM: </a:t>
            </a:r>
            <a:r>
              <a:rPr sz="1150" b="0" i="0">
                <a:solidFill>
                  <a:srgbClr val="333333"/>
                </a:solidFill>
                <a:latin typeface="Arial"/>
              </a:rPr>
              <a:t>8% of spend, 44% of attributed revenue. Efficient activation of existing buyers — though without a holdout, high-intent audiences inflate its read.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1" i="0">
                <a:solidFill>
                  <a:srgbClr val="333333"/>
                </a:solidFill>
                <a:latin typeface="Arial"/>
              </a:rPr>
              <a:t>•  Paid social: </a:t>
            </a:r>
            <a:r>
              <a:rPr sz="1150" b="0" i="0">
                <a:solidFill>
                  <a:srgbClr val="333333"/>
                </a:solidFill>
                <a:latin typeface="Arial"/>
              </a:rPr>
              <a:t>59% of spend at 0.3× iROAS — but it acquired 629 of 1,499 new customers (42%) at $147 CAC vs $212 early value. It pays back as acquisition, not immediate revenue; judge it on CAC and LTV.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1" i="0">
                <a:solidFill>
                  <a:srgbClr val="333333"/>
                </a:solidFill>
                <a:latin typeface="Arial"/>
              </a:rPr>
              <a:t>•  Paid search: </a:t>
            </a:r>
            <a:r>
              <a:rPr sz="1150" b="0" i="0">
                <a:solidFill>
                  <a:srgbClr val="333333"/>
                </a:solidFill>
                <a:latin typeface="Arial"/>
              </a:rPr>
              <a:t>0.9× — strong early flight, efficiency fell as core sizes stocked out while spend kept running.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1" i="0">
                <a:solidFill>
                  <a:srgbClr val="757575"/>
                </a:solidFill>
                <a:latin typeface="Arial"/>
              </a:rPr>
              <a:t>•  Method: </a:t>
            </a:r>
            <a:r>
              <a:rPr sz="1150" b="0" i="0">
                <a:solidFill>
                  <a:srgbClr val="757575"/>
                </a:solidFill>
                <a:latin typeface="Arial"/>
              </a:rPr>
              <a:t>iROAS = attributed ROAS × 0.31 site-level incrementality factor, applied uniformly (no holdout or geo split this flight). Attributed ROAS: Email 23.2×, SMS 8.3×, Affiliate 4.2×, Search 3.0×, Social 1.0×.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Salomon NA eCommerce · Vestal Pro launch readout · Illustrative synthetic case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10</a:t>
            </a:r>
          </a:p>
        </p:txBody>
      </p:sp>
      <p:pic>
        <p:nvPicPr>
          <p:cNvPr id="9" name="Picture 8" descr="salomon_wordmark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292608"/>
            <a:ext cx="960120" cy="1100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757575"/>
                </a:solidFill>
                <a:latin typeface="Arial"/>
              </a:rPr>
              <a:t>GUARDRAIL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01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 i="0">
                <a:solidFill>
                  <a:srgbClr val="000000"/>
                </a:solidFill>
                <a:latin typeface="Georgia"/>
              </a:rPr>
              <a:t>Pricing and basket guardrails held; returns, service load, and availability strained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54480"/>
          <a:ext cx="11183112" cy="42565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79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Guardrail</a:t>
                      </a:r>
                    </a:p>
                  </a:txBody>
                  <a:tcPr marL="73152" marR="36576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Pre</a:t>
                      </a:r>
                    </a:p>
                  </a:txBody>
                  <a:tcPr marL="73152" marR="36576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flight</a:t>
                      </a:r>
                    </a:p>
                  </a:txBody>
                  <a:tcPr marL="73152" marR="36576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73152" marR="36576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Note</a:t>
                      </a:r>
                    </a:p>
                  </a:txBody>
                  <a:tcPr marL="73152" marR="36576"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Average order value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$123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$132  (+7.1%)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7A4D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757575"/>
                          </a:solidFill>
                          <a:latin typeface="Arial"/>
                        </a:rPr>
                        <a:t>Footwear mix plus accessory attachment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Discounting (ASP proxy)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Vestal Pro $145, full price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7A4D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757575"/>
                          </a:solidFill>
                          <a:latin typeface="Arial"/>
                        </a:rPr>
                        <a:t>No launch markdown; post-period ASP eased 7.7% to $134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Site conversion rate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2.33%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2.42% avg · 2.23% wk 6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57575"/>
                          </a:solidFill>
                          <a:latin typeface="Arial"/>
                        </a:rPr>
                        <a:t>WATCH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757575"/>
                          </a:solidFill>
                          <a:latin typeface="Arial"/>
                        </a:rPr>
                        <a:t>Improved early, then fell below pre-period as core sizes depleted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Return rate, site-wide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6.6%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8.7%  (+2.1 pts)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57575"/>
                          </a:solidFill>
                          <a:latin typeface="Arial"/>
                        </a:rPr>
                        <a:t>WATCH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757575"/>
                          </a:solidFill>
                          <a:latin typeface="Arial"/>
                        </a:rPr>
                        <a:t>Within the 1–3 pt launch expectation; still maturing post-period (9.4%)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Return rate, Vestal Pro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14.4% → 19.8% post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57575"/>
                          </a:solidFill>
                          <a:latin typeface="Arial"/>
                        </a:rPr>
                        <a:t>WATCH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757575"/>
                          </a:solidFill>
                          <a:latin typeface="Arial"/>
                        </a:rPr>
                        <a:t>≈2× fleet average; sizing-and-fit driven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Service contact rate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3.5%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7.7% of orders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57575"/>
                          </a:solidFill>
                          <a:latin typeface="Arial"/>
                        </a:rPr>
                        <a:t>WATCH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757575"/>
                          </a:solidFill>
                          <a:latin typeface="Arial"/>
                        </a:rPr>
                        <a:t>Sizing +199%, inventory +152%, comparison +109% vs pre-period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Core-size availability, Vestal Pro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97%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56% by week 6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3261E"/>
                          </a:solidFill>
                          <a:latin typeface="Arial"/>
                        </a:rPr>
                        <a:t>MISS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757575"/>
                          </a:solidFill>
                          <a:latin typeface="Arial"/>
                        </a:rPr>
                        <a:t>Below 90% from week 3; ≈$20K modeled unmet demand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Email / SMS unsubscribes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not measured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D9D9D9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757575"/>
                          </a:solidFill>
                          <a:latin typeface="Arial"/>
                        </a:rPr>
                        <a:t>No send-level CRM data captured — instrument next flight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Gross margin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not measured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D9D9D9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757575"/>
                          </a:solidFill>
                          <a:latin typeface="Arial"/>
                        </a:rPr>
                        <a:t>COGS not tracked; price and discount proxies look healthy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51052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Salomon NA eCommerce · Vestal Pro launch readout · Illustrative synthetic case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11</a:t>
            </a:r>
          </a:p>
        </p:txBody>
      </p:sp>
      <p:pic>
        <p:nvPicPr>
          <p:cNvPr id="7" name="Picture 6" descr="salomon_wordmark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292608"/>
            <a:ext cx="960120" cy="1100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757575"/>
                </a:solidFill>
                <a:latin typeface="Arial"/>
              </a:rPr>
              <a:t>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01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 i="0">
                <a:solidFill>
                  <a:srgbClr val="000000"/>
                </a:solidFill>
                <a:latin typeface="Georgia"/>
              </a:rPr>
              <a:t>Core sizes were 44% unavailable by week 6, costing an estimated $20K in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Arial"/>
              </a:rPr>
              <a:t>VESTAL PRO AVAILABILITY BY CAMPAIGN WEEK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828800"/>
          <a:ext cx="6309360" cy="3977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086600" y="1600200"/>
            <a:ext cx="45720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1" i="0">
                <a:solidFill>
                  <a:srgbClr val="333333"/>
                </a:solidFill>
                <a:latin typeface="Arial"/>
              </a:rPr>
              <a:t>•  Depletion, not demand, ended the flight: </a:t>
            </a:r>
            <a:r>
              <a:rPr sz="1150" b="0" i="0">
                <a:solidFill>
                  <a:srgbClr val="333333"/>
                </a:solidFill>
                <a:latin typeface="Arial"/>
              </a:rPr>
              <a:t>core sizes (M9–11, W7–9) fell below 90% in week 3 and hit 56% by week 6.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0" i="0">
                <a:solidFill>
                  <a:srgbClr val="333333"/>
                </a:solidFill>
                <a:latin typeface="Arial"/>
              </a:rPr>
              <a:t>•  Vestal Pro sell-through conversion fell 35% (5.2% weeks 1–3 → 3.4% week 6) while paid media kept sending traffic.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0" i="0">
                <a:solidFill>
                  <a:srgbClr val="333333"/>
                </a:solidFill>
                <a:latin typeface="Arial"/>
              </a:rPr>
              <a:t>•  Modeled unmet demand: ≈140 units, ≈$20.4K, from applying early-flight conversion to weeks 4–6 traffic.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0" i="0">
                <a:solidFill>
                  <a:srgbClr val="333333"/>
                </a:solidFill>
                <a:latin typeface="Arial"/>
              </a:rPr>
              <a:t>•  Site conversion followed: 2.52% week 1 → 2.23% week 6, below the 2.33% pre-period average.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0" i="0">
                <a:solidFill>
                  <a:srgbClr val="333333"/>
                </a:solidFill>
                <a:latin typeface="Arial"/>
              </a:rPr>
              <a:t>•  Speedcross picked up +14% units as shoppers substituted — a partial, lower-price offset.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Salomon NA eCommerce · Vestal Pro launch readout · Illustrative synthetic case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12</a:t>
            </a:r>
          </a:p>
        </p:txBody>
      </p:sp>
      <p:pic>
        <p:nvPicPr>
          <p:cNvPr id="9" name="Picture 8" descr="salomon_wordmark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292608"/>
            <a:ext cx="960120" cy="11001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57B8"/>
                </a:solidFill>
                <a:latin typeface="Arial"/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Six changes for the next launch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502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57B8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18488"/>
            <a:ext cx="996696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Buy deeper on core sizes.  </a:t>
            </a:r>
            <a:r>
              <a:rPr sz="1150" b="0" i="0">
                <a:solidFill>
                  <a:srgbClr val="BFD5ED"/>
                </a:solidFill>
                <a:latin typeface="Arial"/>
              </a:rPr>
              <a:t>Week-3 depletion of M9–11 / W7–9 cost ≈140 units (≈$20K) and dragged site conversion below baseline by week 6. Size-curve depth should cover a full 6-week flight.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86584"/>
            <a:ext cx="502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57B8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404872"/>
            <a:ext cx="996696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Tie paid media to inventory signals.  </a:t>
            </a:r>
            <a:r>
              <a:rPr sz="1150" b="0" i="0">
                <a:solidFill>
                  <a:srgbClr val="BFD5ED"/>
                </a:solidFill>
                <a:latin typeface="Arial"/>
              </a:rPr>
              <a:t>Throttle prospecting when core-size availability drops below 80%. Paid social ran 59% of budget at 0.3× iROAS into a constrained assortment; reallocate mid-flight to CRM and search.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72968"/>
            <a:ext cx="502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57B8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191256"/>
            <a:ext cx="996696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Judge paid social on acquisition economics, not last-click revenue.  </a:t>
            </a:r>
            <a:r>
              <a:rPr sz="1150" b="0" i="0">
                <a:solidFill>
                  <a:srgbClr val="BFD5ED"/>
                </a:solidFill>
                <a:latin typeface="Arial"/>
              </a:rPr>
              <a:t>It delivered 42% of new customers at $147 CAC against $212 early customer value. Set a CAC target pre-launch and add a day-90 LTV readout.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59352"/>
            <a:ext cx="502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57B8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977639"/>
            <a:ext cx="996696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Fix sizing upstream of the return.  </a:t>
            </a:r>
            <a:r>
              <a:rPr sz="1150" b="0" i="0">
                <a:solidFill>
                  <a:srgbClr val="BFD5ED"/>
                </a:solidFill>
                <a:latin typeface="Arial"/>
              </a:rPr>
              <a:t>Vestal Pro returns hit 14–20% (≈2× fleet) and sizing contacts tripled. Add fit guidance to the PDP, launch emails, and post-purchase flows.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45736"/>
            <a:ext cx="502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57B8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764023"/>
            <a:ext cx="996696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Convert the halo into baskets.  </a:t>
            </a:r>
            <a:r>
              <a:rPr sz="1150" b="0" i="0">
                <a:solidFill>
                  <a:srgbClr val="BFD5ED"/>
                </a:solidFill>
                <a:latin typeface="Arial"/>
              </a:rPr>
              <a:t>Adjacent demand lifted +9% but attach to Vestal Pro orders stayed flat at 18%. Bundle socks and accessories at PDP and activate the 2,776 email / 1,447 SMS adds on cross-category journeys.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32120"/>
            <a:ext cx="502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57B8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550407"/>
            <a:ext cx="996696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Instrument incrementality before launch day.  </a:t>
            </a:r>
            <a:r>
              <a:rPr sz="1150" b="0" i="0">
                <a:solidFill>
                  <a:srgbClr val="BFD5ED"/>
                </a:solidFill>
                <a:latin typeface="Arial"/>
              </a:rPr>
              <a:t>Field a CRM holdout and a geo split, set numeric revenue / CAC / database targets, and track COGS and unsubscribes so the next readout measures margin, not proxies.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Salomon NA eCommerce · Vestal Pro launch readout · Illustrative synthetic case data</a:t>
            </a:r>
          </a:p>
        </p:txBody>
      </p:sp>
      <p:pic>
        <p:nvPicPr>
          <p:cNvPr id="18" name="Picture 17" descr="salomon_wordmark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292608"/>
            <a:ext cx="960120" cy="11001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BD774-5215-56D0-5E2D-5BEB935C2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2B0E74-D5E6-28E0-4424-F20FC2FD156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588DE6-B55D-C61B-F685-4F509F0716EE}"/>
              </a:ext>
            </a:extLst>
          </p:cNvPr>
          <p:cNvSpPr txBox="1"/>
          <p:nvPr/>
        </p:nvSpPr>
        <p:spPr>
          <a:xfrm>
            <a:off x="822960" y="1965960"/>
            <a:ext cx="10515600" cy="1354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400" dirty="0">
                <a:solidFill>
                  <a:srgbClr val="FFFFFF"/>
                </a:solidFill>
                <a:latin typeface="Georgia"/>
              </a:rPr>
              <a:t>THANK YOU</a:t>
            </a:r>
          </a:p>
          <a:p>
            <a:pPr algn="l"/>
            <a:r>
              <a:rPr lang="en-US" sz="4400" b="0" i="0" dirty="0">
                <a:solidFill>
                  <a:srgbClr val="FFFFFF"/>
                </a:solidFill>
                <a:latin typeface="Georgia"/>
              </a:rPr>
              <a:t>MERCI</a:t>
            </a:r>
            <a:endParaRPr sz="4400" b="0" i="0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312117-B385-77DE-78A5-DC270890AC11}"/>
              </a:ext>
            </a:extLst>
          </p:cNvPr>
          <p:cNvSpPr txBox="1"/>
          <p:nvPr/>
        </p:nvSpPr>
        <p:spPr>
          <a:xfrm>
            <a:off x="822960" y="6080760"/>
            <a:ext cx="10515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dirty="0">
                <a:solidFill>
                  <a:srgbClr val="757575"/>
                </a:solidFill>
                <a:latin typeface="Arial"/>
              </a:rPr>
              <a:t>Marketing Insights &amp; Analytics</a:t>
            </a:r>
          </a:p>
        </p:txBody>
      </p:sp>
      <p:pic>
        <p:nvPicPr>
          <p:cNvPr id="7" name="Picture 6" descr="salomon_wordmark_white.png">
            <a:extLst>
              <a:ext uri="{FF2B5EF4-FFF2-40B4-BE49-F238E27FC236}">
                <a16:creationId xmlns:a16="http://schemas.microsoft.com/office/drawing/2014/main" id="{4137F25F-3223-1AA1-5222-9B0CA75E7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900000"/>
            <a:ext cx="2560320" cy="293370"/>
          </a:xfrm>
          <a:prstGeom prst="rect">
            <a:avLst/>
          </a:prstGeom>
        </p:spPr>
      </p:pic>
      <p:pic>
        <p:nvPicPr>
          <p:cNvPr id="5" name="Picture 4" descr="The image shows a steep, rocky mountain side under a cloudy sky.&#10;&#10;AI-generated content may be incorrect.">
            <a:extLst>
              <a:ext uri="{FF2B5EF4-FFF2-40B4-BE49-F238E27FC236}">
                <a16:creationId xmlns:a16="http://schemas.microsoft.com/office/drawing/2014/main" id="{5D256C6D-8464-4352-96C6-EE210AA6C5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4851" y="0"/>
            <a:ext cx="13452826" cy="795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451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CA7C4-DD03-977A-26ED-597F07993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9E9FC8-0A6C-639A-55CC-FF675D22BB1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A55F5F-4D4F-01B7-4269-502598763585}"/>
              </a:ext>
            </a:extLst>
          </p:cNvPr>
          <p:cNvSpPr txBox="1"/>
          <p:nvPr/>
        </p:nvSpPr>
        <p:spPr>
          <a:xfrm>
            <a:off x="822960" y="1965960"/>
            <a:ext cx="105156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400" dirty="0">
                <a:solidFill>
                  <a:srgbClr val="FFFFFF"/>
                </a:solidFill>
                <a:latin typeface="Georgia"/>
              </a:rPr>
              <a:t>APPENDIX</a:t>
            </a:r>
            <a:endParaRPr sz="4400" b="0" i="0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5042CB-5990-BF91-038A-7DA5859E0C0B}"/>
              </a:ext>
            </a:extLst>
          </p:cNvPr>
          <p:cNvSpPr txBox="1"/>
          <p:nvPr/>
        </p:nvSpPr>
        <p:spPr>
          <a:xfrm>
            <a:off x="822960" y="6080760"/>
            <a:ext cx="10515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dirty="0">
                <a:solidFill>
                  <a:srgbClr val="757575"/>
                </a:solidFill>
                <a:latin typeface="Arial"/>
              </a:rPr>
              <a:t>Marketing Insights &amp; Analytics</a:t>
            </a:r>
          </a:p>
        </p:txBody>
      </p:sp>
      <p:pic>
        <p:nvPicPr>
          <p:cNvPr id="7" name="Picture 6" descr="salomon_wordmark_white.png">
            <a:extLst>
              <a:ext uri="{FF2B5EF4-FFF2-40B4-BE49-F238E27FC236}">
                <a16:creationId xmlns:a16="http://schemas.microsoft.com/office/drawing/2014/main" id="{7E51FCA6-267E-8599-5BE8-752560193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900000"/>
            <a:ext cx="2560320" cy="29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470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757575"/>
                </a:solidFill>
                <a:latin typeface="Arial"/>
              </a:rPr>
              <a:t>MEASUREMENT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01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 i="0" dirty="0">
                <a:solidFill>
                  <a:srgbClr val="000000"/>
                </a:solidFill>
                <a:latin typeface="Georgia"/>
              </a:rPr>
              <a:t>Impact is measured against a modeled no-campaign baseline, not channel attribution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54480"/>
            <a:ext cx="5394960" cy="2011680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dirty="0">
                <a:solidFill>
                  <a:srgbClr val="000000"/>
                </a:solidFill>
                <a:latin typeface="Arial"/>
              </a:rPr>
              <a:t>COUNTERFACTUAL BASELINE   </a:t>
            </a:r>
            <a:r>
              <a:rPr sz="1000" b="1" i="0" dirty="0">
                <a:solidFill>
                  <a:srgbClr val="0057B8"/>
                </a:solidFill>
                <a:latin typeface="Arial"/>
              </a:rPr>
              <a:t>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84831"/>
            <a:ext cx="4937760" cy="74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333333"/>
                </a:solidFill>
                <a:latin typeface="Arial"/>
              </a:rPr>
              <a:t>Expected no-campaign revenue = linear trend + </a:t>
            </a:r>
            <a:r>
              <a:rPr lang="en-US" sz="1100" b="0" i="0" dirty="0">
                <a:solidFill>
                  <a:srgbClr val="333333"/>
                </a:solidFill>
                <a:latin typeface="Arial"/>
              </a:rPr>
              <a:t>weekly </a:t>
            </a:r>
            <a:r>
              <a:rPr sz="1100" b="0" i="0" dirty="0">
                <a:solidFill>
                  <a:srgbClr val="333333"/>
                </a:solidFill>
                <a:latin typeface="Arial"/>
              </a:rPr>
              <a:t>seasonality, fit to the 8-week pre-period and projected through the flight. Validated on a held-out final fortnight of the pre-period: 8.8–10.1% mean error. Lift is reported with 95% confidence intervals.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91072" y="1554480"/>
            <a:ext cx="5394960" cy="2011680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19672" y="173736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00000"/>
                </a:solidFill>
                <a:latin typeface="Arial"/>
              </a:rPr>
              <a:t>IMPACT DECOMPOSITION   </a:t>
            </a:r>
            <a:r>
              <a:rPr sz="1000" b="1" i="0">
                <a:solidFill>
                  <a:srgbClr val="0057B8"/>
                </a:solidFill>
                <a:latin typeface="Arial"/>
              </a:rPr>
              <a:t>USED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2084831"/>
            <a:ext cx="49377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333333"/>
                </a:solidFill>
                <a:latin typeface="Arial"/>
              </a:rPr>
              <a:t>Net campaign value = direct Vestal Pro revenue − franchise shift (cannibalization) + adjacent-category halo − incremental media spend. Franchise shift is stress-tested across three baseline specifications and reported as a range, not a point.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794760"/>
            <a:ext cx="5394960" cy="2011680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97764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dirty="0">
                <a:solidFill>
                  <a:srgbClr val="000000"/>
                </a:solidFill>
                <a:latin typeface="Arial"/>
              </a:rPr>
              <a:t>CRM HOLDOUT   </a:t>
            </a:r>
            <a:r>
              <a:rPr sz="1000" b="1" i="0" dirty="0">
                <a:solidFill>
                  <a:srgbClr val="757575"/>
                </a:solidFill>
                <a:latin typeface="Arial"/>
              </a:rPr>
              <a:t>NOT FIELDED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25112"/>
            <a:ext cx="49377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333333"/>
                </a:solidFill>
                <a:latin typeface="Arial"/>
              </a:rPr>
              <a:t>No held-out control group was reserved this flight, so channel-level incrementality is proxied: attributed revenue is scaled to the site-level incremental total (factor 0.31). Reserve a 10% CRM holdout next launch to measure it directly.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1072" y="3794760"/>
            <a:ext cx="5394960" cy="2011680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9672" y="397764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00000"/>
                </a:solidFill>
                <a:latin typeface="Arial"/>
              </a:rPr>
              <a:t>GEO SPLIT   </a:t>
            </a:r>
            <a:r>
              <a:rPr sz="1000" b="1" i="0">
                <a:solidFill>
                  <a:srgbClr val="757575"/>
                </a:solidFill>
                <a:latin typeface="Arial"/>
              </a:rPr>
              <a:t>NOT 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4325112"/>
            <a:ext cx="49377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333333"/>
                </a:solidFill>
                <a:latin typeface="Arial"/>
              </a:rPr>
              <a:t>Campaign reporting carries no regional dimension, so no geo-matched test was possible. A matched-market design on the next launch would give a second, model-free read on incrementality.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Salomon NA eCommerce · Vestal Pro launch readout · Illustrative synthetic case data · All lift figures are modeled estimates vs a no-campaign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4</a:t>
            </a:r>
          </a:p>
        </p:txBody>
      </p:sp>
      <p:pic>
        <p:nvPicPr>
          <p:cNvPr id="18" name="Picture 17" descr="salomon_wordmark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292608"/>
            <a:ext cx="960120" cy="1100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EEECE1"/>
      </a:lt2>
      <a:accent1>
        <a:srgbClr val="DA291C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2222</Words>
  <Application>Microsoft Office PowerPoint</Application>
  <PresentationFormat>Widescreen</PresentationFormat>
  <Paragraphs>244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Anderson, Edward Clifford (eca4zm)</cp:lastModifiedBy>
  <cp:revision>23</cp:revision>
  <dcterms:created xsi:type="dcterms:W3CDTF">2013-01-27T09:14:16Z</dcterms:created>
  <dcterms:modified xsi:type="dcterms:W3CDTF">2026-07-17T19:52:12Z</dcterms:modified>
  <cp:category/>
</cp:coreProperties>
</file>