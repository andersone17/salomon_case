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footwear revenue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59675</c:v>
                </c:pt>
                <c:pt idx="1">
                  <c:v>59754</c:v>
                </c:pt>
                <c:pt idx="2">
                  <c:v>58025</c:v>
                </c:pt>
                <c:pt idx="3">
                  <c:v>61476</c:v>
                </c:pt>
                <c:pt idx="4">
                  <c:v>62771</c:v>
                </c:pt>
                <c:pt idx="5">
                  <c:v>62908</c:v>
                </c:pt>
                <c:pt idx="6">
                  <c:v>68234</c:v>
                </c:pt>
                <c:pt idx="7">
                  <c:v>61971</c:v>
                </c:pt>
                <c:pt idx="8">
                  <c:v>95778</c:v>
                </c:pt>
                <c:pt idx="9">
                  <c:v>91117</c:v>
                </c:pt>
                <c:pt idx="10">
                  <c:v>93839</c:v>
                </c:pt>
                <c:pt idx="11">
                  <c:v>92751</c:v>
                </c:pt>
                <c:pt idx="12">
                  <c:v>85777</c:v>
                </c:pt>
                <c:pt idx="13">
                  <c:v>83631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2AD-492F-AD7A-3A703CAB577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No-campaign counterfactual</c:v>
                </c:pt>
              </c:strCache>
            </c:strRef>
          </c:tx>
          <c:spPr>
            <a:ln w="25400">
              <a:solidFill>
                <a:srgbClr val="757575"/>
              </a:solidFill>
              <a:prstDash val="dash"/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58751</c:v>
                </c:pt>
                <c:pt idx="1">
                  <c:v>59637</c:v>
                </c:pt>
                <c:pt idx="2">
                  <c:v>60523</c:v>
                </c:pt>
                <c:pt idx="3">
                  <c:v>61409</c:v>
                </c:pt>
                <c:pt idx="4">
                  <c:v>62295</c:v>
                </c:pt>
                <c:pt idx="5">
                  <c:v>63181</c:v>
                </c:pt>
                <c:pt idx="6">
                  <c:v>64067</c:v>
                </c:pt>
                <c:pt idx="7">
                  <c:v>64953</c:v>
                </c:pt>
                <c:pt idx="8">
                  <c:v>65839</c:v>
                </c:pt>
                <c:pt idx="9">
                  <c:v>66725</c:v>
                </c:pt>
                <c:pt idx="10">
                  <c:v>67611</c:v>
                </c:pt>
                <c:pt idx="11">
                  <c:v>68497</c:v>
                </c:pt>
                <c:pt idx="12">
                  <c:v>69383</c:v>
                </c:pt>
                <c:pt idx="13">
                  <c:v>70269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2AD-492F-AD7A-3A703CAB57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000"/>
          <c:min val="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\$#,##0,&quot;K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25000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Ledger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1-2D4B-47E8-8381-BE1D62950621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D4B-47E8-8381-BE1D62950621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2D4B-47E8-8381-BE1D62950621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D4B-47E8-8381-BE1D62950621}"/>
              </c:ext>
            </c:extLst>
          </c:dPt>
          <c:dPt>
            <c:idx val="4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9-2D4B-47E8-8381-BE1D62950621}"/>
              </c:ext>
            </c:extLst>
          </c:dPt>
          <c:dPt>
            <c:idx val="5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B-2D4B-47E8-8381-BE1D62950621}"/>
              </c:ext>
            </c:extLst>
          </c:dPt>
          <c:dLbls>
            <c:numFmt formatCode="\$#,##0,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Net campaign value (revenue basis)</c:v>
                </c:pt>
                <c:pt idx="1">
                  <c:v>Incremental media spend</c:v>
                </c:pt>
                <c:pt idx="2">
                  <c:v>Net incremental revenue</c:v>
                </c:pt>
                <c:pt idx="3">
                  <c:v>Adjacent-category halo</c:v>
                </c:pt>
                <c:pt idx="4">
                  <c:v>Franchise shift (cannibalization)</c:v>
                </c:pt>
                <c:pt idx="5">
                  <c:v>Vestal Pro direct revenue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52448</c:v>
                </c:pt>
                <c:pt idx="1">
                  <c:v>-90051</c:v>
                </c:pt>
                <c:pt idx="2">
                  <c:v>142499</c:v>
                </c:pt>
                <c:pt idx="3">
                  <c:v>7928</c:v>
                </c:pt>
                <c:pt idx="4">
                  <c:v>-73100</c:v>
                </c:pt>
                <c:pt idx="5">
                  <c:v>207671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4B-47E8-8381-BE1D629506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Buyers</c:v>
                </c:pt>
              </c:strCache>
            </c:strRef>
          </c:tx>
          <c:dPt>
            <c:idx val="0"/>
            <c:bubble3D val="0"/>
            <c:spPr>
              <a:solidFill>
                <a:srgbClr val="0057B8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1A6-4492-8A77-9F8FCAD9DDED}"/>
              </c:ext>
            </c:extLst>
          </c:dPt>
          <c:dPt>
            <c:idx val="1"/>
            <c:bubble3D val="0"/>
            <c:spPr>
              <a:solidFill>
                <a:srgbClr val="D9D9D9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1A6-4492-8A77-9F8FCAD9DDED}"/>
              </c:ext>
            </c:extLst>
          </c:dPt>
          <c:cat>
            <c:strRef>
              <c:f>Sheet1!$A$2:$A$3</c:f>
              <c:strCache>
                <c:ptCount val="2"/>
                <c:pt idx="0">
                  <c:v>New to Salomon</c:v>
                </c:pt>
                <c:pt idx="1">
                  <c:v>Existing customers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590</c:v>
                </c:pt>
                <c:pt idx="1">
                  <c:v>745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1A6-4492-8A77-9F8FCAD9DD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Pre-period</c:v>
                </c:pt>
              </c:strCache>
            </c:strRef>
          </c:tx>
          <c:spPr>
            <a:solidFill>
              <a:srgbClr val="D9D9D9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49.25</c:v>
                </c:pt>
                <c:pt idx="1">
                  <c:v>24.571428571428573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89-42CA-81C2-54DC5FF3B5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campaign</c:v>
                </c:pt>
              </c:strCache>
            </c:strRef>
          </c:tx>
          <c:spPr>
            <a:solidFill>
              <a:srgbClr val="0057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66.095238095238102</c:v>
                </c:pt>
                <c:pt idx="1">
                  <c:v>34.452380952380949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789-42CA-81C2-54DC5FF3B5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Units vs baseline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1-D683-4F3D-BD68-BE719D740B70}"/>
              </c:ext>
            </c:extLst>
          </c:dPt>
          <c:dPt>
            <c:idx val="1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3-D683-4F3D-BD68-BE719D740B70}"/>
              </c:ext>
            </c:extLst>
          </c:dPt>
          <c:dPt>
            <c:idx val="2"/>
            <c:invertIfNegative val="1"/>
            <c:bubble3D val="0"/>
            <c:spPr>
              <a:solidFill>
                <a:srgbClr val="1F7A4D"/>
              </a:solidFill>
            </c:spPr>
            <c:extLst>
              <c:ext xmlns:c16="http://schemas.microsoft.com/office/drawing/2014/chart" uri="{C3380CC4-5D6E-409C-BE32-E72D297353CC}">
                <c16:uniqueId val="{00000005-D683-4F3D-BD68-BE719D740B70}"/>
              </c:ext>
            </c:extLst>
          </c:dPt>
          <c:dLbls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Sense Ride</c:v>
                </c:pt>
                <c:pt idx="1">
                  <c:v>Genesis</c:v>
                </c:pt>
                <c:pt idx="2">
                  <c:v>Speedcross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-0.24078834618680378</c:v>
                </c:pt>
                <c:pt idx="1">
                  <c:v>-0.18192488262910797</c:v>
                </c:pt>
                <c:pt idx="2">
                  <c:v>0.14424242424242426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683-4F3D-BD68-BE719D740B7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1-C87C-4166-A2F8-084CFC726EE5}"/>
              </c:ext>
            </c:extLst>
          </c:dPt>
          <c:dPt>
            <c:idx val="1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3-C87C-4166-A2F8-084CFC726EE5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C87C-4166-A2F8-084CFC726EE5}"/>
              </c:ext>
            </c:extLst>
          </c:dPt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5.4031981084650842E-2</c:v>
                </c:pt>
                <c:pt idx="1">
                  <c:v>0.16948559269683569</c:v>
                </c:pt>
                <c:pt idx="2">
                  <c:v>9.1772154004968576E-2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7C-4166-A2F8-084CFC726EE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1-2A71-41A5-99A8-CE6639E760EB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A71-41A5-99A8-CE6639E760EB}"/>
              </c:ext>
            </c:extLst>
          </c:dPt>
          <c:dPt>
            <c:idx val="2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5-2A71-41A5-99A8-CE6639E760EB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A71-41A5-99A8-CE6639E760EB}"/>
              </c:ext>
            </c:extLst>
          </c:dPt>
          <c:dPt>
            <c:idx val="4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9-2A71-41A5-99A8-CE6639E760EB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A71-41A5-99A8-CE6639E760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>
                    <a:solidFill>
                      <a:srgbClr val="0057B8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0.97268571428571426</c:v>
                </c:pt>
                <c:pt idx="1">
                  <c:v>0.97517142857142858</c:v>
                </c:pt>
                <c:pt idx="2">
                  <c:v>0.90817142857142852</c:v>
                </c:pt>
                <c:pt idx="3">
                  <c:v>0.81554285714285712</c:v>
                </c:pt>
                <c:pt idx="4">
                  <c:v>0.73749999999999993</c:v>
                </c:pt>
                <c:pt idx="5">
                  <c:v>0.5618428571428572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5C-49B1-883E-0F80600998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0.98772857142857151</c:v>
                </c:pt>
                <c:pt idx="1">
                  <c:v>0.98921428571428571</c:v>
                </c:pt>
                <c:pt idx="2">
                  <c:v>0.95195714285714295</c:v>
                </c:pt>
                <c:pt idx="3">
                  <c:v>0.89985714285714291</c:v>
                </c:pt>
                <c:pt idx="4">
                  <c:v>0.8777571428571429</c:v>
                </c:pt>
                <c:pt idx="5">
                  <c:v>0.77852857142857146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5C-49B1-883E-0F80600998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 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600200"/>
          <a:ext cx="8001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5532120" y="1783080"/>
            <a:ext cx="0" cy="379476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23560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Arial"/>
              </a:rPr>
              <a:t>Campaign start · Mar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73736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6 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$542.9K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757575"/>
                </a:solidFill>
                <a:latin typeface="Arial"/>
              </a:rPr>
              <a:t>$408.3K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+$134.6K  (+33%)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+30% to +36% · every campaign week ran above baseline · peak gap +$30K in launch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REVENUE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After franchise shift and media cost, the launch created ≈$52K of net new revenue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554480"/>
          <a:ext cx="72237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691640"/>
            <a:ext cx="393192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000" b="1" i="0">
                <a:solidFill>
                  <a:srgbClr val="757575"/>
                </a:solidFill>
                <a:latin typeface="Arial"/>
              </a:rPr>
              <a:t>HOW TO READ THIS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Baseline business of $494.7K would have occurred without the campaign and is excluded — only movement vs baseline is counted.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Franchise shift: $73.1K of Vestal Pro revenue displaced Sense Ride and Genesis sales, net of Speedcross substitution gains.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Media basis: $155.8K active spend less the $65.8K pre-period run-rate the business would have spent anyway → $90.1K incremental.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Return on incremental media: $142.5K ÷ $90.1K = 1.58× on a revenue basis. A margin-adjusted view requires COGS, which this dataset does not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CUSTOMER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44% of Vestal Pro buyers were new to Salomon, acquired at half their early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BUYER MIX (N = 1,335)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828800"/>
          <a:ext cx="3383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24612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600" b="1" i="0">
                <a:solidFill>
                  <a:srgbClr val="000000"/>
                </a:solidFill>
                <a:latin typeface="Arial"/>
              </a:rPr>
              <a:t>44%</a:t>
            </a:r>
          </a:p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757575"/>
                </a:solidFill>
                <a:latin typeface="Arial"/>
              </a:rPr>
              <a:t>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0057B8"/>
                </a:solidFill>
                <a:latin typeface="Arial"/>
              </a:rPr>
              <a:t>New 590 · </a:t>
            </a:r>
            <a:r>
              <a:rPr sz="1100" b="1" i="0">
                <a:solidFill>
                  <a:srgbClr val="757575"/>
                </a:solidFill>
                <a:latin typeface="Arial"/>
              </a:rPr>
              <a:t>Existing 745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Success criterion ≥ 25% ·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ACQUISITION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$104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$155.8K spend ÷ 1,499 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$130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0057B8"/>
                </a:solidFill>
                <a:latin typeface="Arial"/>
              </a:rPr>
              <a:t>$212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revenue through May 10 · 2.0×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27%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repurchased within 4 weeks of flight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60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757575"/>
                </a:solidFill>
                <a:latin typeface="Arial"/>
              </a:rPr>
              <a:t>Full LTV needs cohort history beyond this window; early value already covers CAC twice 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4813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DATABASE ADDS PER DAY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046719" y="182880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83879" y="5074920"/>
            <a:ext cx="3520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Email +34% · SMS +40% vs pre-period run-rate → 2,776 email and 1,447 SMS adds in six weeks.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New Vestal Pro buyers opt in at 77% email / 47% SMS vs a 56% / 28% site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No numeric CAC or database targets were set pre-launch — set them next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CANNIBALIZATION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An estimated 22–30% of Vestal Pro units shifted from existing franchises — at the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EXISTING-FRANCHISE UNITS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Arial"/>
              </a:rPr>
              <a:t>Speedcross gained — substitution capture when Vestal Pro core sizes stocked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DA291C"/>
                </a:solidFill>
                <a:latin typeface="Arial"/>
              </a:rPr>
              <a:t>22–30%</a:t>
            </a:r>
            <a:r>
              <a:rPr sz="1300" b="0" i="0">
                <a:solidFill>
                  <a:srgbClr val="333333"/>
                </a:solidFill>
                <a:latin typeface="Arial"/>
              </a:rPr>
              <a:t>   of Vestal Pro units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757575"/>
                </a:solidFill>
                <a:latin typeface="Arial"/>
              </a:rPr>
              <a:t>Guardrail &lt; 25% · </a:t>
            </a:r>
            <a:r>
              <a:rPr sz="1150" b="1" i="0">
                <a:solidFill>
                  <a:srgbClr val="757575"/>
                </a:solidFill>
                <a:latin typeface="Arial"/>
              </a:rPr>
              <a:t>WATCH</a:t>
            </a:r>
            <a:r>
              <a:rPr sz="1150" b="0" i="0">
                <a:solidFill>
                  <a:srgbClr val="757575"/>
                </a:solidFill>
                <a:latin typeface="Arial"/>
              </a:rPr>
              <a:t> — at the line, not clearly through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017520"/>
            <a:ext cx="4572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Central estimates (recent-baseline and flat-seasonal models) span 22–30%; the full range across specifications is 17–42%.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$73.1K of existing-franchise revenue was displaced — about a third of Vestal Pro's $207.7K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Shift concentrated where positioning overlaps: Sense Ride (−24%) and Genesis (−18%), both high-cushion trail franchises.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Launch remains clearly net-positive: +$134.6K incremental footwear revenue after absorbing the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Unit baselines per franchise; range reflects three baseline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Adjacent categories lifted +9%, but as standalone purchases, not bigger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>
                <a:solidFill>
                  <a:srgbClr val="757575"/>
                </a:solidFill>
                <a:latin typeface="Arial"/>
              </a:rPr>
              <a:t>   flat vs 18.0% pre-period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halo arrived as standalone adjacent purchases driven by campaign traffic and awareness — not as bigger Vestal Pro baskets.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Opportunity: PDP bundles (socks, gaiters, hydration) and CRM cross-sell journeys to convert awareness halo into basket halo.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Vestal Pro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 dirty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74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Expected no-campaign revenue = linear trend + </a:t>
            </a:r>
            <a:r>
              <a:rPr lang="en-US" sz="1100" b="0" i="0" dirty="0">
                <a:solidFill>
                  <a:srgbClr val="333333"/>
                </a:solidFill>
                <a:latin typeface="Arial"/>
              </a:rPr>
              <a:t>weekly </a:t>
            </a:r>
            <a:r>
              <a:rPr sz="1100" b="0" i="0" dirty="0">
                <a:solidFill>
                  <a:srgbClr val="333333"/>
                </a:solidFill>
                <a:latin typeface="Arial"/>
              </a:rPr>
              <a:t>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Vestal Pro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2200</Words>
  <Application>Microsoft Office PowerPoint</Application>
  <PresentationFormat>Widescreen</PresentationFormat>
  <Paragraphs>230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6</cp:revision>
  <dcterms:created xsi:type="dcterms:W3CDTF">2013-01-27T09:14:16Z</dcterms:created>
  <dcterms:modified xsi:type="dcterms:W3CDTF">2026-07-16T20:07:59Z</dcterms:modified>
  <cp:category/>
</cp:coreProperties>
</file>