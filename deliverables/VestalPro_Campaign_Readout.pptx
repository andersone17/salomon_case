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1_0.xml" ContentType="application/vnd.ms-powerpoint.comment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0" r:id="rId5"/>
    <p:sldId id="270" r:id="rId6"/>
    <p:sldId id="263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7CB7528-0317-1151-A7B7-34D5B6A94F6F}" name="Anderson, Edward Clifford (eca4zm)" initials="EA" userId="S::eca4zm@virginia.edu::8b27aeba-14ab-4313-9339-48da5a11e8c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8" d="100"/>
          <a:sy n="98" d="100"/>
        </p:scale>
        <p:origin x="392" y="6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Buyers</c:v>
                </c:pt>
              </c:strCache>
            </c:strRef>
          </c:tx>
          <c:dPt>
            <c:idx val="0"/>
            <c:bubble3D val="0"/>
            <c:spPr>
              <a:solidFill>
                <a:srgbClr val="0057B8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1A6-4492-8A77-9F8FCAD9DDED}"/>
              </c:ext>
            </c:extLst>
          </c:dPt>
          <c:dPt>
            <c:idx val="1"/>
            <c:bubble3D val="0"/>
            <c:spPr>
              <a:solidFill>
                <a:srgbClr val="D9D9D9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1A6-4492-8A77-9F8FCAD9DDED}"/>
              </c:ext>
            </c:extLst>
          </c:dPt>
          <c:cat>
            <c:strRef>
              <c:f>Sheet1!$A$2:$A$3</c:f>
              <c:strCache>
                <c:ptCount val="2"/>
                <c:pt idx="0">
                  <c:v>New to Salomon</c:v>
                </c:pt>
                <c:pt idx="1">
                  <c:v>Existing customers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590</c:v>
                </c:pt>
                <c:pt idx="1">
                  <c:v>745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1A6-4492-8A77-9F8FCAD9DD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Pre-period</c:v>
                </c:pt>
              </c:strCache>
            </c:strRef>
          </c:tx>
          <c:spPr>
            <a:solidFill>
              <a:srgbClr val="D9D9D9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49.25</c:v>
                </c:pt>
                <c:pt idx="1">
                  <c:v>24.571428571428573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789-42CA-81C2-54DC5FF3B5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campaign</c:v>
                </c:pt>
              </c:strCache>
            </c:strRef>
          </c:tx>
          <c:spPr>
            <a:solidFill>
              <a:srgbClr val="0057B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66.095238095238102</c:v>
                </c:pt>
                <c:pt idx="1">
                  <c:v>34.452380952380949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789-42CA-81C2-54DC5FF3B5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1-C87C-4166-A2F8-084CFC726EE5}"/>
              </c:ext>
            </c:extLst>
          </c:dPt>
          <c:dPt>
            <c:idx val="1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3-C87C-4166-A2F8-084CFC726EE5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C87C-4166-A2F8-084CFC726EE5}"/>
              </c:ext>
            </c:extLst>
          </c:dPt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Trail Apparel</c:v>
                </c:pt>
                <c:pt idx="1">
                  <c:v>Trail Accessories</c:v>
                </c:pt>
                <c:pt idx="2">
                  <c:v>All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5.4031981084650842E-2</c:v>
                </c:pt>
                <c:pt idx="1">
                  <c:v>0.16948559269683569</c:v>
                </c:pt>
                <c:pt idx="2">
                  <c:v>9.1772154004968576E-2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87C-4166-A2F8-084CFC726EE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iROAS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1-2A71-41A5-99A8-CE6639E760EB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A71-41A5-99A8-CE6639E760EB}"/>
              </c:ext>
            </c:extLst>
          </c:dPt>
          <c:dPt>
            <c:idx val="2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5-2A71-41A5-99A8-CE6639E760EB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A71-41A5-99A8-CE6639E760EB}"/>
              </c:ext>
            </c:extLst>
          </c:dPt>
          <c:dPt>
            <c:idx val="4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9-2A71-41A5-99A8-CE6639E760EB}"/>
              </c:ext>
            </c:extLst>
          </c:dPt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Paid Social</c:v>
                </c:pt>
                <c:pt idx="1">
                  <c:v>Paid Search</c:v>
                </c:pt>
                <c:pt idx="2">
                  <c:v>Affiliate</c:v>
                </c:pt>
                <c:pt idx="3">
                  <c:v>SMS</c:v>
                </c:pt>
                <c:pt idx="4">
                  <c:v>Email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0.30263626208104794</c:v>
                </c:pt>
                <c:pt idx="1">
                  <c:v>0.9270704798942021</c:v>
                </c:pt>
                <c:pt idx="2">
                  <c:v>1.2788902238995834</c:v>
                </c:pt>
                <c:pt idx="3">
                  <c:v>2.530420436382097</c:v>
                </c:pt>
                <c:pt idx="4">
                  <c:v>7.1116192565169118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A71-41A5-99A8-CE6639E760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Core-size availability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>
                    <a:solidFill>
                      <a:srgbClr val="0057B8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0.97268571428571426</c:v>
                </c:pt>
                <c:pt idx="1">
                  <c:v>0.97517142857142858</c:v>
                </c:pt>
                <c:pt idx="2">
                  <c:v>0.90817142857142852</c:v>
                </c:pt>
                <c:pt idx="3">
                  <c:v>0.81554285714285712</c:v>
                </c:pt>
                <c:pt idx="4">
                  <c:v>0.73749999999999993</c:v>
                </c:pt>
                <c:pt idx="5">
                  <c:v>0.5618428571428572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5C-49B1-883E-0F80600998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in-stock rate</c:v>
                </c:pt>
              </c:strCache>
            </c:strRef>
          </c:tx>
          <c:spPr>
            <a:ln w="25400">
              <a:solidFill>
                <a:srgbClr val="75757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0.98772857142857151</c:v>
                </c:pt>
                <c:pt idx="1">
                  <c:v>0.98921428571428571</c:v>
                </c:pt>
                <c:pt idx="2">
                  <c:v>0.95195714285714295</c:v>
                </c:pt>
                <c:pt idx="3">
                  <c:v>0.89985714285714291</c:v>
                </c:pt>
                <c:pt idx="4">
                  <c:v>0.8777571428571429</c:v>
                </c:pt>
                <c:pt idx="5">
                  <c:v>0.77852857142857146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5C-49B1-883E-0F80600998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  <c:min val="0.4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37015C-7D34-49FA-BAA9-B6942D33995A}" authorId="{F7CB7528-0317-1151-A7B7-34D5B6A94F6F}" created="2026-07-17T16:24:44.055">
    <pc:sldMkLst xmlns:pc="http://schemas.microsoft.com/office/powerpoint/2013/main/command">
      <pc:docMk/>
      <pc:sldMk cId="0" sldId="257"/>
    </pc:sldMkLst>
    <p188:txBody>
      <a:bodyPr/>
      <a:lstStyle/>
      <a:p>
        <a:r>
          <a:rPr lang="en-US"/>
          <a:t>Mention brand awareness on this slide?? 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1_0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 dirty="0">
                <a:solidFill>
                  <a:srgbClr val="FFFFFF"/>
                </a:solidFill>
                <a:latin typeface="Georgia"/>
              </a:rPr>
              <a:t>Vestal Pro </a:t>
            </a:r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Shoe </a:t>
            </a:r>
            <a:r>
              <a:rPr sz="4400" b="0" i="0" dirty="0">
                <a:solidFill>
                  <a:srgbClr val="FFFFFF"/>
                </a:solidFill>
                <a:latin typeface="Georgia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3E8EDE"/>
                </a:solidFill>
                <a:latin typeface="Georgia"/>
              </a:rPr>
              <a:t>Campaign Performance </a:t>
            </a:r>
            <a:r>
              <a:rPr lang="en-US" sz="2400" b="0" i="0" dirty="0">
                <a:solidFill>
                  <a:srgbClr val="3E8EDE"/>
                </a:solidFill>
                <a:latin typeface="Georgia"/>
              </a:rPr>
              <a:t>Report</a:t>
            </a:r>
            <a:endParaRPr sz="2400" b="0" i="0" dirty="0">
              <a:solidFill>
                <a:srgbClr val="3E8EDE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Active campaign: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1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–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20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, 202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6</a:t>
            </a:r>
            <a:endParaRPr sz="13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  ·  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r>
              <a:rPr sz="1000" b="0" i="0" dirty="0">
                <a:solidFill>
                  <a:srgbClr val="757575"/>
                </a:solidFill>
                <a:latin typeface="Arial"/>
              </a:rPr>
              <a:t>synthetic case data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endParaRPr sz="10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768716-E813-22B1-DA55-7CCD827955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-531516"/>
            <a:ext cx="13527464" cy="90183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dirty="0">
                <a:solidFill>
                  <a:srgbClr val="000000"/>
                </a:solidFill>
                <a:latin typeface="Georgia"/>
              </a:rPr>
              <a:t>20-day GTM campaign; success measured against campaign forecast.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Establish Vestal Pro </a:t>
            </a:r>
            <a:r>
              <a:rPr lang="en-US" sz="1250" b="0" i="0" dirty="0">
                <a:solidFill>
                  <a:srgbClr val="333333"/>
                </a:solidFill>
                <a:latin typeface="Arial"/>
              </a:rPr>
              <a:t>as flagship Salomon ultra-running shoe</a:t>
            </a:r>
            <a:endParaRPr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Increase Salomon brand awareness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New customers ≥ 25% of Vestal Pro purchasers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Cannibalization &lt; </a:t>
            </a:r>
            <a:r>
              <a:rPr lang="en-US" sz="1250" dirty="0">
                <a:solidFill>
                  <a:srgbClr val="333333"/>
                </a:solidFill>
                <a:latin typeface="Arial"/>
              </a:rPr>
              <a:t>15</a:t>
            </a:r>
            <a:r>
              <a:rPr sz="1250" b="0" i="0" dirty="0">
                <a:solidFill>
                  <a:srgbClr val="333333"/>
                </a:solidFill>
                <a:latin typeface="Arial"/>
              </a:rPr>
              <a:t>% of Vestal Pro sales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Branded search ≥ 10% vs counterfactual baseline.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782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March 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May 31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·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 13 Weeks</a:t>
            </a:r>
            <a:endParaRPr sz="1100" b="0" i="0" dirty="0">
              <a:solidFill>
                <a:srgbClr val="757575"/>
              </a:solidFill>
              <a:latin typeface="Arial"/>
            </a:endParaRP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Status Quo 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demand, traffic, and channel patterns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.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Minimal activations and no launches.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1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20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· </a:t>
            </a:r>
            <a:r>
              <a:rPr lang="en-US" sz="1100" dirty="0">
                <a:solidFill>
                  <a:srgbClr val="0057B8"/>
                </a:solidFill>
                <a:latin typeface="Arial"/>
              </a:rPr>
              <a:t>3 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FFFFFF"/>
                </a:solidFill>
                <a:latin typeface="Arial"/>
              </a:rPr>
              <a:t>GTM Strategy</a:t>
            </a:r>
            <a:r>
              <a:rPr lang="en-US" sz="1000" dirty="0">
                <a:solidFill>
                  <a:srgbClr val="FFFFFF"/>
                </a:solidFill>
                <a:latin typeface="Arial"/>
              </a:rPr>
              <a:t> supported by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paid media, CRM, site merchandising</a:t>
            </a:r>
            <a:r>
              <a:rPr lang="en-US" sz="1000" b="0" i="0" dirty="0">
                <a:solidFill>
                  <a:srgbClr val="FFFFFF"/>
                </a:solidFill>
                <a:latin typeface="Arial"/>
              </a:rPr>
              <a:t>, and affiliate partners.</a:t>
            </a:r>
            <a:endParaRPr sz="10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dirty="0">
                <a:solidFill>
                  <a:srgbClr val="757575"/>
                </a:solidFill>
                <a:latin typeface="Arial"/>
              </a:rPr>
              <a:t>June 21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July 20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Demand persistence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, delayed returns, 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CLV retention measurement.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Successful Launch; Monitor for continued cannibalization and shifting sales mix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NEW-CUSTOMER SHARE, VESTAL PRO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757575"/>
                </a:solidFill>
                <a:latin typeface="Arial"/>
              </a:rPr>
              <a:t>Guardrail &lt;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%  ·  </a:t>
            </a:r>
            <a:r>
              <a:rPr lang="en-US" sz="1050" b="1" i="0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FLAG &amp; MONITOR</a:t>
            </a:r>
            <a:endParaRPr sz="1050" b="1" i="0" dirty="0">
              <a:solidFill>
                <a:schemeClr val="accent6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1234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 dirty="0">
                <a:solidFill>
                  <a:srgbClr val="FFFFFF"/>
                </a:solidFill>
                <a:latin typeface="Arial"/>
              </a:rPr>
              <a:t>VERDICT — a commercial success </a:t>
            </a:r>
            <a:r>
              <a:rPr lang="en-US" sz="1400" b="1" i="0" dirty="0">
                <a:solidFill>
                  <a:srgbClr val="FFFFFF"/>
                </a:solidFill>
                <a:latin typeface="Arial"/>
              </a:rPr>
              <a:t>limited by availability</a:t>
            </a:r>
            <a:r>
              <a:rPr sz="14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 dirty="0">
                <a:solidFill>
                  <a:srgbClr val="FFFFFF"/>
                </a:solidFill>
                <a:latin typeface="Arial"/>
              </a:rPr>
              <a:t>The Vestal Pro delivered $207.7K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direct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and $142.5K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net incremental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(+29% vs the no-campaign baseline).</a:t>
            </a:r>
            <a:endParaRPr lang="en-US" sz="125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b="0" i="0" dirty="0">
                <a:solidFill>
                  <a:srgbClr val="FFFFFF"/>
                </a:solidFill>
                <a:latin typeface="Arial"/>
              </a:rPr>
              <a:t>Gross Margin was $114.2K. After direct marketing expenses, </a:t>
            </a:r>
            <a:r>
              <a:rPr lang="en-US" sz="1250" b="0" i="0" u="sng" dirty="0">
                <a:solidFill>
                  <a:srgbClr val="FFFFFF"/>
                </a:solidFill>
                <a:latin typeface="Arial"/>
              </a:rPr>
              <a:t>Contribution Margin</a:t>
            </a:r>
            <a:r>
              <a:rPr lang="en-US" sz="1250" b="0" i="0" dirty="0">
                <a:solidFill>
                  <a:srgbClr val="FFFFFF"/>
                </a:solidFill>
                <a:latin typeface="Arial"/>
              </a:rPr>
              <a:t> (CM3) is $24.1K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u="sng" dirty="0">
                <a:solidFill>
                  <a:srgbClr val="FFFFFF"/>
                </a:solidFill>
                <a:latin typeface="Arial"/>
              </a:rPr>
              <a:t>Limited factors</a:t>
            </a:r>
            <a:r>
              <a:rPr lang="en-US" sz="1250" dirty="0">
                <a:solidFill>
                  <a:srgbClr val="FFFFFF"/>
                </a:solidFill>
                <a:latin typeface="Arial"/>
              </a:rPr>
              <a:t> included cannibalization of existing portfolio and limited availability in core sizes.</a:t>
            </a:r>
            <a:endParaRPr sz="125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Footwear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revenue was 33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above the no-campaign baseline throughout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the launch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seasonality; </a:t>
            </a:r>
            <a:r>
              <a:rPr sz="800" b="0" i="0" dirty="0" err="1">
                <a:solidFill>
                  <a:srgbClr val="757575"/>
                </a:solidFill>
                <a:latin typeface="Arial"/>
              </a:rPr>
              <a:t>backtest</a:t>
            </a:r>
            <a:r>
              <a:rPr sz="800" b="0" i="0" dirty="0">
                <a:solidFill>
                  <a:srgbClr val="757575"/>
                </a:solidFill>
                <a:latin typeface="Arial"/>
              </a:rPr>
              <a:t> MAPE 10.1%</a:t>
            </a:r>
            <a:r>
              <a:rPr lang="en-US" sz="800" dirty="0">
                <a:solidFill>
                  <a:srgbClr val="757575"/>
                </a:solidFill>
                <a:latin typeface="Arial"/>
              </a:rPr>
              <a:t> · FOOTWEAR ONLY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27" name="Picture 26" descr="The diagram illustrates a comparison of actual footwear revenue against a modeled baseline without campaigns, showing fluctuations over a period from April to July 2026.&#10;&#10;AI-generated content may be incorrect.">
            <a:extLst>
              <a:ext uri="{FF2B5EF4-FFF2-40B4-BE49-F238E27FC236}">
                <a16:creationId xmlns:a16="http://schemas.microsoft.com/office/drawing/2014/main" id="{64434D0D-7640-3878-BE81-3F62CC1E3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347909"/>
            <a:ext cx="8178093" cy="46392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E82E62F-FA01-E7F7-6EF9-0FEF33029B3C}"/>
              </a:ext>
            </a:extLst>
          </p:cNvPr>
          <p:cNvSpPr txBox="1"/>
          <p:nvPr/>
        </p:nvSpPr>
        <p:spPr>
          <a:xfrm>
            <a:off x="3951484" y="1693790"/>
            <a:ext cx="1394238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000000"/>
                </a:solidFill>
                <a:latin typeface="Arial"/>
              </a:rPr>
              <a:t>Campaign start · </a:t>
            </a:r>
            <a:r>
              <a:rPr lang="en-US" sz="950" b="1" dirty="0">
                <a:solidFill>
                  <a:srgbClr val="000000"/>
                </a:solidFill>
                <a:latin typeface="Arial"/>
              </a:rPr>
              <a:t>June 1</a:t>
            </a:r>
            <a:endParaRPr sz="950" b="1" i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" name="Connector 4">
            <a:extLst>
              <a:ext uri="{FF2B5EF4-FFF2-40B4-BE49-F238E27FC236}">
                <a16:creationId xmlns:a16="http://schemas.microsoft.com/office/drawing/2014/main" id="{2182B22E-D2F7-9B21-00D8-2C74D8A23957}"/>
              </a:ext>
            </a:extLst>
          </p:cNvPr>
          <p:cNvCxnSpPr>
            <a:cxnSpLocks/>
          </p:cNvCxnSpPr>
          <p:nvPr/>
        </p:nvCxnSpPr>
        <p:spPr>
          <a:xfrm>
            <a:off x="4607553" y="1870947"/>
            <a:ext cx="0" cy="3760267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2DB04F6-878A-7650-2CA9-516870587838}"/>
              </a:ext>
            </a:extLst>
          </p:cNvPr>
          <p:cNvCxnSpPr>
            <a:cxnSpLocks/>
          </p:cNvCxnSpPr>
          <p:nvPr/>
        </p:nvCxnSpPr>
        <p:spPr>
          <a:xfrm>
            <a:off x="6011870" y="1907414"/>
            <a:ext cx="0" cy="1063352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4C3E16-9C64-DE44-353F-A9C88D8B0E76}"/>
              </a:ext>
            </a:extLst>
          </p:cNvPr>
          <p:cNvSpPr txBox="1"/>
          <p:nvPr/>
        </p:nvSpPr>
        <p:spPr>
          <a:xfrm>
            <a:off x="5619129" y="1735937"/>
            <a:ext cx="802357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50" b="1" i="0" dirty="0">
                <a:solidFill>
                  <a:srgbClr val="000000"/>
                </a:solidFill>
                <a:latin typeface="Arial"/>
              </a:rPr>
              <a:t>Final comms</a:t>
            </a:r>
            <a:endParaRPr sz="950" b="1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4D8EF9-9D81-0106-B82E-21450F2E84FB}"/>
              </a:ext>
            </a:extLst>
          </p:cNvPr>
          <p:cNvSpPr txBox="1"/>
          <p:nvPr/>
        </p:nvSpPr>
        <p:spPr>
          <a:xfrm>
            <a:off x="8745156" y="1989167"/>
            <a:ext cx="3108960" cy="2717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 dirty="0">
                <a:solidFill>
                  <a:srgbClr val="757575"/>
                </a:solidFill>
                <a:latin typeface="Arial"/>
              </a:rPr>
              <a:t>ACTIVE CAMPAIGN, </a:t>
            </a:r>
            <a:r>
              <a:rPr lang="en-US" sz="1000" b="1" i="0" dirty="0">
                <a:solidFill>
                  <a:srgbClr val="757575"/>
                </a:solidFill>
                <a:latin typeface="Arial"/>
              </a:rPr>
              <a:t>~3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333333"/>
                </a:solidFill>
                <a:latin typeface="Arial"/>
              </a:rPr>
              <a:t>$</a:t>
            </a:r>
            <a:r>
              <a:rPr lang="en-US" sz="2200" b="1" dirty="0">
                <a:solidFill>
                  <a:srgbClr val="333333"/>
                </a:solidFill>
                <a:latin typeface="Arial"/>
              </a:rPr>
              <a:t>262.8</a:t>
            </a:r>
            <a:r>
              <a:rPr sz="2200" b="1" i="0" dirty="0">
                <a:solidFill>
                  <a:srgbClr val="333333"/>
                </a:solidFill>
                <a:latin typeface="Arial"/>
              </a:rPr>
              <a:t>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lang="en-US" sz="2200" b="1" i="0" dirty="0">
                <a:solidFill>
                  <a:srgbClr val="757575"/>
                </a:solidFill>
                <a:latin typeface="Arial"/>
              </a:rPr>
              <a:t>$193.5</a:t>
            </a:r>
            <a:r>
              <a:rPr sz="2200" b="1" i="0" dirty="0">
                <a:solidFill>
                  <a:srgbClr val="757575"/>
                </a:solidFill>
                <a:latin typeface="Arial"/>
              </a:rPr>
              <a:t>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0057B8"/>
                </a:solidFill>
                <a:latin typeface="Arial"/>
              </a:rPr>
              <a:t>+$</a:t>
            </a:r>
            <a:r>
              <a:rPr lang="en-US" sz="2200" b="1" dirty="0">
                <a:solidFill>
                  <a:srgbClr val="0057B8"/>
                </a:solidFill>
                <a:latin typeface="Arial"/>
              </a:rPr>
              <a:t>69.3</a:t>
            </a:r>
            <a:r>
              <a:rPr sz="2200" b="1" i="0" dirty="0">
                <a:solidFill>
                  <a:srgbClr val="0057B8"/>
                </a:solidFill>
                <a:latin typeface="Arial"/>
              </a:rPr>
              <a:t>K  (+</a:t>
            </a:r>
            <a:r>
              <a:rPr lang="en-US" sz="2200" b="1" i="0" dirty="0">
                <a:solidFill>
                  <a:srgbClr val="0057B8"/>
                </a:solidFill>
                <a:latin typeface="Arial"/>
              </a:rPr>
              <a:t>35.8</a:t>
            </a:r>
            <a:r>
              <a:rPr sz="2200" b="1" i="0" dirty="0">
                <a:solidFill>
                  <a:srgbClr val="0057B8"/>
                </a:solidFill>
                <a:latin typeface="Arial"/>
              </a:rPr>
              <a:t>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</a:t>
            </a:r>
            <a:r>
              <a:rPr lang="en-US" sz="1050" b="0" i="0" dirty="0">
                <a:solidFill>
                  <a:srgbClr val="333333"/>
                </a:solidFill>
                <a:latin typeface="Arial"/>
              </a:rPr>
              <a:t>2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% to +</a:t>
            </a:r>
            <a:r>
              <a:rPr lang="en-US" sz="1050" dirty="0">
                <a:solidFill>
                  <a:srgbClr val="333333"/>
                </a:solidFill>
                <a:latin typeface="Arial"/>
              </a:rPr>
              <a:t>40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% · every campaign week ran above baseline · peak gap +$</a:t>
            </a:r>
            <a:r>
              <a:rPr lang="en-US" sz="1050" dirty="0">
                <a:solidFill>
                  <a:srgbClr val="333333"/>
                </a:solidFill>
                <a:latin typeface="Arial"/>
              </a:rPr>
              <a:t>29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K in launch week</a:t>
            </a:r>
            <a:endParaRPr lang="en-US" sz="10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B421296-6D36-5BA2-0BBB-85ACABA9BD75}"/>
              </a:ext>
            </a:extLst>
          </p:cNvPr>
          <p:cNvSpPr txBox="1"/>
          <p:nvPr/>
        </p:nvSpPr>
        <p:spPr>
          <a:xfrm>
            <a:off x="6655432" y="1870947"/>
            <a:ext cx="1591173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50" b="1" dirty="0">
                <a:solidFill>
                  <a:srgbClr val="000000"/>
                </a:solidFill>
                <a:latin typeface="Arial"/>
              </a:rPr>
              <a:t>Incrementality Persists</a:t>
            </a:r>
            <a:endParaRPr sz="950" b="1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Left Brace 60">
            <a:extLst>
              <a:ext uri="{FF2B5EF4-FFF2-40B4-BE49-F238E27FC236}">
                <a16:creationId xmlns:a16="http://schemas.microsoft.com/office/drawing/2014/main" id="{6B8B920B-D082-C7E8-9CD9-051B8E07D7AA}"/>
              </a:ext>
            </a:extLst>
          </p:cNvPr>
          <p:cNvSpPr/>
          <p:nvPr/>
        </p:nvSpPr>
        <p:spPr>
          <a:xfrm rot="5400000">
            <a:off x="7157421" y="2512903"/>
            <a:ext cx="292388" cy="1539807"/>
          </a:xfrm>
          <a:prstGeom prst="leftBrac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88AC56-9AB6-D5E4-79F2-FDD7D90EF49B}"/>
              </a:ext>
            </a:extLst>
          </p:cNvPr>
          <p:cNvCxnSpPr>
            <a:cxnSpLocks/>
          </p:cNvCxnSpPr>
          <p:nvPr/>
        </p:nvCxnSpPr>
        <p:spPr>
          <a:xfrm flipH="1">
            <a:off x="7306008" y="2040342"/>
            <a:ext cx="145011" cy="109627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C0DEA-41C2-4717-7BB7-2E2510AA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270C0-0E14-AE60-2BDE-B604056B919A}"/>
              </a:ext>
            </a:extLst>
          </p:cNvPr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757575"/>
                </a:solidFill>
                <a:latin typeface="Arial"/>
              </a:rPr>
              <a:t>SALES DECOMPOSITION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DC6D62-E787-BDC4-A8A4-88F4F066067B}"/>
              </a:ext>
            </a:extLst>
          </p:cNvPr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Contribution Margin of ~4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K limited by Franchise Shift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2C852A-0947-CC31-24EA-21558B7529F1}"/>
              </a:ext>
            </a:extLst>
          </p:cNvPr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D592D-5118-0F52-8A16-F0154A8C5542}"/>
              </a:ext>
            </a:extLst>
          </p:cNvPr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>
            <a:extLst>
              <a:ext uri="{FF2B5EF4-FFF2-40B4-BE49-F238E27FC236}">
                <a16:creationId xmlns:a16="http://schemas.microsoft.com/office/drawing/2014/main" id="{5EE0F2A8-B8E1-20F0-A76D-D19F00756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10" name="Picture 9" descr="The diagram illustrates the net campaign value of $35K, after accounting for direct marketing spend ($43K), COGS ($31K), and resulting in a contribution margin of $4K.&#10;&#10;AI-generated content may be incorrect.">
            <a:extLst>
              <a:ext uri="{FF2B5EF4-FFF2-40B4-BE49-F238E27FC236}">
                <a16:creationId xmlns:a16="http://schemas.microsoft.com/office/drawing/2014/main" id="{7565D719-965D-D210-8AFA-EC5825F0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2" y="1172764"/>
            <a:ext cx="7817207" cy="45652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7997E-14A7-467E-4AF8-2DFB786A3FE8}"/>
              </a:ext>
            </a:extLst>
          </p:cNvPr>
          <p:cNvSpPr txBox="1"/>
          <p:nvPr/>
        </p:nvSpPr>
        <p:spPr>
          <a:xfrm>
            <a:off x="7774445" y="1880650"/>
            <a:ext cx="4272519" cy="29352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900"/>
              </a:spcAft>
            </a:pPr>
            <a:r>
              <a:rPr lang="en-US" sz="1000" b="1" i="0" u="sng" dirty="0">
                <a:solidFill>
                  <a:srgbClr val="757575"/>
                </a:solidFill>
                <a:latin typeface="Arial"/>
              </a:rPr>
              <a:t>INCREMENTALITY BREAKDOWN</a:t>
            </a:r>
            <a:endParaRPr lang="en-US" sz="1100" b="0" i="0" u="sng" dirty="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Baseline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$234.0K of business would have occurred without the campaign and is excluded. Only movement vs. baseline is counted.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Sales Shift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$30.5K of Vestal Pro revenue displaced Ultra Glide and Sense Ride sales, net of </a:t>
            </a:r>
            <a:r>
              <a:rPr lang="en-US" sz="110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 gains (19–32% of Vestal Pro units).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Marketing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$74.6K campaign spend less $31.6K baseline 20-day run rate → $43.0K additional spend.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dirty="0">
                <a:solidFill>
                  <a:srgbClr val="333333"/>
                </a:solidFill>
                <a:latin typeface="Arial"/>
              </a:rPr>
              <a:t>	</a:t>
            </a:r>
            <a:r>
              <a:rPr lang="en-US" sz="1100" i="1" dirty="0">
                <a:solidFill>
                  <a:srgbClr val="333333"/>
                </a:solidFill>
                <a:latin typeface="Arial"/>
              </a:rPr>
              <a:t>** Paid investment is persistent (more on this…) **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Return on Marketing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$77.5K ÷ $43.0K = 1.80× on a revenue basis.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Contribution Margin (CM3)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After accounting for COGS and direct overhead, CM3 sit at $3.5K.</a:t>
            </a:r>
            <a:endParaRPr lang="en-US" sz="1100" b="0" i="0" dirty="0">
              <a:solidFill>
                <a:srgbClr val="333333"/>
              </a:solidFill>
              <a:latin typeface="Arial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DE4B2E-FBA8-C266-0E27-5E9BF89C30B6}"/>
              </a:ext>
            </a:extLst>
          </p:cNvPr>
          <p:cNvCxnSpPr>
            <a:cxnSpLocks/>
          </p:cNvCxnSpPr>
          <p:nvPr/>
        </p:nvCxnSpPr>
        <p:spPr>
          <a:xfrm flipH="1">
            <a:off x="4168942" y="3778197"/>
            <a:ext cx="661737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B29B8B-707A-5ED5-BC88-D4D5FAC23634}"/>
              </a:ext>
            </a:extLst>
          </p:cNvPr>
          <p:cNvSpPr txBox="1"/>
          <p:nvPr/>
        </p:nvSpPr>
        <p:spPr>
          <a:xfrm>
            <a:off x="4775970" y="3647392"/>
            <a:ext cx="20784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Persistent effect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E362A5B-97B9-4102-9411-46125E1F3F7A}"/>
              </a:ext>
            </a:extLst>
          </p:cNvPr>
          <p:cNvCxnSpPr>
            <a:cxnSpLocks/>
          </p:cNvCxnSpPr>
          <p:nvPr/>
        </p:nvCxnSpPr>
        <p:spPr>
          <a:xfrm flipH="1">
            <a:off x="4090865" y="2502569"/>
            <a:ext cx="5113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C213073-8F80-0566-7942-346C278D95C4}"/>
              </a:ext>
            </a:extLst>
          </p:cNvPr>
          <p:cNvSpPr txBox="1"/>
          <p:nvPr/>
        </p:nvSpPr>
        <p:spPr>
          <a:xfrm>
            <a:off x="4602207" y="2361606"/>
            <a:ext cx="11400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Primary Concern</a:t>
            </a:r>
          </a:p>
        </p:txBody>
      </p:sp>
    </p:spTree>
    <p:extLst>
      <p:ext uri="{BB962C8B-B14F-4D97-AF65-F5344CB8AC3E}">
        <p14:creationId xmlns:p14="http://schemas.microsoft.com/office/powerpoint/2010/main" val="45494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CANNIBALIZATION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BREAKDOWN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19–32% of Vestal Pro units shifted from existing shoes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; exceeding 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10% threshold.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Unit baselines per franchise; range reflects </a:t>
            </a:r>
            <a:r>
              <a:rPr lang="en-US" sz="800" b="0" i="0" dirty="0">
                <a:solidFill>
                  <a:srgbClr val="757575"/>
                </a:solidFill>
                <a:latin typeface="Arial"/>
              </a:rPr>
              <a:t>baseline forecast uncertainty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16" name="Picture 15" descr="The image displays a chart comparing campaign-period unit changes to an expected baseline, showing a +2% increase, -15% decrease, and -26% decrease, with categories labeled as Ultra Glide, Sense Ride, and Speedcross.&#10;&#10;AI-generated content may be incorrect.">
            <a:extLst>
              <a:ext uri="{FF2B5EF4-FFF2-40B4-BE49-F238E27FC236}">
                <a16:creationId xmlns:a16="http://schemas.microsoft.com/office/drawing/2014/main" id="{BE3DF061-0D4F-724D-5B57-0E4889E12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8609"/>
            <a:ext cx="7214614" cy="428067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AA3B7-4504-7461-E05E-7A04EC99A85D}"/>
              </a:ext>
            </a:extLst>
          </p:cNvPr>
          <p:cNvSpPr txBox="1"/>
          <p:nvPr/>
        </p:nvSpPr>
        <p:spPr>
          <a:xfrm>
            <a:off x="7086600" y="1372249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3EC008-E86B-BB1E-B68A-E0227EE13781}"/>
              </a:ext>
            </a:extLst>
          </p:cNvPr>
          <p:cNvSpPr txBox="1"/>
          <p:nvPr/>
        </p:nvSpPr>
        <p:spPr>
          <a:xfrm>
            <a:off x="7086600" y="1840512"/>
            <a:ext cx="4572000" cy="75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 dirty="0">
                <a:solidFill>
                  <a:srgbClr val="DA291C"/>
                </a:solidFill>
                <a:latin typeface="Arial"/>
              </a:rPr>
              <a:t>19–32%</a:t>
            </a:r>
            <a:endParaRPr sz="130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150" b="0" i="0" dirty="0">
                <a:solidFill>
                  <a:srgbClr val="757575"/>
                </a:solidFill>
                <a:latin typeface="Arial"/>
              </a:rPr>
              <a:t>Goal &lt; </a:t>
            </a:r>
            <a:r>
              <a:rPr lang="en-US" sz="11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150" b="0" i="0" dirty="0">
                <a:solidFill>
                  <a:srgbClr val="757575"/>
                </a:solidFill>
                <a:latin typeface="Arial"/>
              </a:rPr>
              <a:t>% · </a:t>
            </a:r>
            <a:r>
              <a:rPr sz="1150" b="1" i="0" dirty="0">
                <a:solidFill>
                  <a:schemeClr val="accent1"/>
                </a:solidFill>
                <a:latin typeface="Arial"/>
              </a:rPr>
              <a:t>WATCH</a:t>
            </a:r>
            <a:endParaRPr sz="115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9A2D8F-D114-4311-F64E-C1212D5B5A9F}"/>
              </a:ext>
            </a:extLst>
          </p:cNvPr>
          <p:cNvSpPr txBox="1"/>
          <p:nvPr/>
        </p:nvSpPr>
        <p:spPr>
          <a:xfrm>
            <a:off x="8737707" y="1930997"/>
            <a:ext cx="22808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333333"/>
                </a:solidFill>
                <a:latin typeface="Arial"/>
              </a:rPr>
              <a:t>of Vestal Pro units cannibalized existing portfolio</a:t>
            </a:r>
            <a:endParaRPr lang="en-US" sz="11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1642DC-B5C0-3D18-ECD9-49E05A17835B}"/>
              </a:ext>
            </a:extLst>
          </p:cNvPr>
          <p:cNvSpPr txBox="1"/>
          <p:nvPr/>
        </p:nvSpPr>
        <p:spPr>
          <a:xfrm>
            <a:off x="7086600" y="2863959"/>
            <a:ext cx="4572000" cy="1979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The three baseline estimates are 19%, 28%, and 32%, with a median of 28%.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$30.5K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 of existing-shoe revenue was displaced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by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about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31%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of Vestal Pro's $99.8K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Sales shift is concentrated where product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positioning overlaps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. </a:t>
            </a:r>
            <a:endParaRPr lang="en-US"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lang="en-US" sz="1150" b="0" i="0" dirty="0">
                <a:solidFill>
                  <a:srgbClr val="333333"/>
                </a:solidFill>
                <a:latin typeface="Arial"/>
              </a:rPr>
              <a:t>•  The launch remains net positive: +$69.3K in additional footwear revenue after the shift.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lang="en-US" sz="1150" dirty="0">
                <a:solidFill>
                  <a:srgbClr val="333333"/>
                </a:solidFill>
                <a:latin typeface="Arial"/>
              </a:rPr>
              <a:t>• </a:t>
            </a:r>
            <a:r>
              <a:rPr lang="en-US" sz="115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 displacement is insignificant.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E3D2DA-5796-3584-EDB3-ED2796F107D6}"/>
              </a:ext>
            </a:extLst>
          </p:cNvPr>
          <p:cNvSpPr txBox="1"/>
          <p:nvPr/>
        </p:nvSpPr>
        <p:spPr>
          <a:xfrm>
            <a:off x="7086600" y="5293372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i="1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MANAGE</a:t>
            </a:r>
            <a:r>
              <a:rPr lang="en-US" sz="1100" b="1" i="1" dirty="0">
                <a:latin typeface="Arial"/>
              </a:rPr>
              <a:t> </a:t>
            </a:r>
            <a:r>
              <a:rPr lang="en-US" sz="1100" i="1" dirty="0">
                <a:latin typeface="Arial"/>
              </a:rPr>
              <a:t>franchise shift with merchandising that reduces head-to-head substitution. </a:t>
            </a:r>
            <a:endParaRPr sz="1100" i="1" dirty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CUSTOMER ACQUISITION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AND LTV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44% of Vestal Pro buyers were new to Salomon, acquired at half their early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BUYER MIX (N = 1,335)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828800"/>
          <a:ext cx="3383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24612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600" b="1" i="0">
                <a:solidFill>
                  <a:srgbClr val="000000"/>
                </a:solidFill>
                <a:latin typeface="Arial"/>
              </a:rPr>
              <a:t>44%</a:t>
            </a:r>
          </a:p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757575"/>
                </a:solidFill>
                <a:latin typeface="Arial"/>
              </a:rPr>
              <a:t>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0057B8"/>
                </a:solidFill>
                <a:latin typeface="Arial"/>
              </a:rPr>
              <a:t>New 590 · </a:t>
            </a:r>
            <a:r>
              <a:rPr sz="1100" b="1" i="0">
                <a:solidFill>
                  <a:srgbClr val="757575"/>
                </a:solidFill>
                <a:latin typeface="Arial"/>
              </a:rPr>
              <a:t>Existing 745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Success criterion ≥ 25% ·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ACQUISITION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$104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$155.8K spend ÷ 1,499 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$130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0057B8"/>
                </a:solidFill>
                <a:latin typeface="Arial"/>
              </a:rPr>
              <a:t>$212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revenue through May 10 · 2.0×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27%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repurchased within 4 weeks of flight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60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757575"/>
                </a:solidFill>
                <a:latin typeface="Arial"/>
              </a:rPr>
              <a:t>Full LTV needs cohort history beyond this window; early value already covers CAC twice over.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4813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DATABASE ADDS PER DAY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046719" y="1828800"/>
          <a:ext cx="36576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83879" y="5074920"/>
            <a:ext cx="3520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Email +34% · SMS +40% vs pre-period run-rate → 2,776 email and 1,447 SMS adds in six weeks.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New Vestal Pro buyers opt in at 77% email / 47% SMS vs a 56% / 28% site average.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No numeric CAC or database targets were set pre-launch — set them next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Adjacent categories lifted +9%, but as standalone purchases, not bigger baskets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REVENUE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Success criterion ≥ +5%: </a:t>
            </a:r>
            <a:r>
              <a:rPr sz="1000" b="1" i="0">
                <a:solidFill>
                  <a:srgbClr val="1F7A4D"/>
                </a:solidFill>
                <a:latin typeface="Arial"/>
              </a:rPr>
              <a:t>PASS</a:t>
            </a:r>
            <a:r>
              <a:rPr sz="1000" b="0" i="0">
                <a:solidFill>
                  <a:srgbClr val="757575"/>
                </a:solidFill>
                <a:latin typeface="Arial"/>
              </a:rPr>
              <a:t>  (+9.2%, 95% CI +3.0% to +15.4% · +$7.9K)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ATTACH RATE TO VESTAL PRO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Arial"/>
              </a:rPr>
              <a:t>17.8%</a:t>
            </a:r>
            <a:r>
              <a:rPr sz="1300" b="0" i="0">
                <a:solidFill>
                  <a:srgbClr val="757575"/>
                </a:solidFill>
                <a:latin typeface="Arial"/>
              </a:rPr>
              <a:t>   flat vs 18.0% pre-period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834640"/>
            <a:ext cx="45720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halo arrived as standalone adjacent purchases driven by campaign traffic and awareness — not as bigger Vestal Pro baskets.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Accessories led (+16.9%); apparel followed (+5.4%). Other footwear orders attached at the same 18%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Opportunity: PDP bundles (socks, gaiters, hydration) and CRM cross-sell journeys to convert awareness halo into basket halo.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CRM and affiliate cleared breakeven on incremental ROAS; paid media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ROAS BY CHANNEL (BREAKEVEN = 1.0×)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8% of spend, 44% of attributed revenue. Efficient activation of existing buyers — though without a holdout, high-intent audiences inflate its read.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59% of spend at 0.3× iROAS — but it acquired 629 of 1,499 new customers (42%) at $147 CAC vs $212 early value. It pays back as acquisition, not immediate revenue; judge it on CAC and LTV.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0.9× — strong early flight, efficiency fell as core sizes stocked out while spend kept running.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757575"/>
                </a:solidFill>
                <a:latin typeface="Arial"/>
              </a:rPr>
              <a:t>•  Method: </a:t>
            </a:r>
            <a:r>
              <a:rPr sz="1150" b="0" i="0">
                <a:solidFill>
                  <a:srgbClr val="757575"/>
                </a:solidFill>
                <a:latin typeface="Arial"/>
              </a:rPr>
              <a:t>iROAS = attributed ROAS × 0.31 site-level incrementality factor, applied uniformly (no holdout or geo split this flight). Attributed ROAS: Email 23.2×, SMS 8.3×, Affiliate 4.2×, Search 3.0×, Social 1.0×.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Vestal Pro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Core sizes were 44% unavailable by week 6, costing an estimated $20K in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AVAILABILITY BY CAMPAIGN WEEK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Depletion, not demand, ended the flight: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core sizes (M9–11, W7–9) fell below 90% in week 3 and hit 56% by week 6.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Vestal Pro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Speedcross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Six changes for the next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Week-3 depletion of M9–11 / W7–9 cost ≈140 units (≈$20K) and dragged site conversion below baseline by week 6. Size-curve depth should cover a full 6-week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Throttle prospecting when core-size availability drops below 80%. Paid social ran 59% of budget at 0.3× iROAS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77639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Fix sizing upstream of the return.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Vestal Pro returns hit 14–20% (≈2× fleet) and sizing contacts tripled. Add fit guidance to the PDP, launch emails, and post-purchase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64023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Adjacent demand lifted +9% but attach to Vestal Pro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50407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CA7C4-DD03-977A-26ED-597F0799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E9FC8-0A6C-639A-55CC-FF675D22BB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55F5F-4D4F-01B7-4269-502598763585}"/>
              </a:ext>
            </a:extLst>
          </p:cNvPr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APPENDIX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5042CB-5990-BF91-038A-7DA5859E0C0B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7E51FCA6-267E-8599-5BE8-75256019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7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Impact is measured against a modeled no-campaign baseline, not channel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COUNTERFACTUAL BASELINE   </a:t>
            </a:r>
            <a:r>
              <a:rPr sz="1000" b="1" i="0" dirty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1"/>
            <a:ext cx="4937760" cy="743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Expected no-campaign revenue = linear trend + </a:t>
            </a:r>
            <a:r>
              <a:rPr lang="en-US" sz="1100" b="0" i="0" dirty="0">
                <a:solidFill>
                  <a:srgbClr val="333333"/>
                </a:solidFill>
                <a:latin typeface="Arial"/>
              </a:rPr>
              <a:t>weekly </a:t>
            </a:r>
            <a:r>
              <a:rPr sz="1100" b="0" i="0" dirty="0">
                <a:solidFill>
                  <a:srgbClr val="333333"/>
                </a:solidFill>
                <a:latin typeface="Arial"/>
              </a:rPr>
              <a:t>seasonality, fit to the 8-week pre-period and projected through the flight. Validated on a held-out final fortnight of the pre-period: 8.8–10.1% mean error. Lift is reported with 95% confidence intervals.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19672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IMPACT DECOMPOSITION   </a:t>
            </a:r>
            <a:r>
              <a:rPr sz="1000" b="1" i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084831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Net campaign value = direct Vestal Pro revenue − franchise shift (cannibalization) + adjacent-category halo − incremental media spend. Franchise shift is stress-tested across three baseline specifications and reported as a range, not a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CRM HOLDOUT  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NOT FIELDED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No held-out control group was reserved this flight, so channel-level incrementality is proxied: attributed revenue is scaled to the site-level incremental total (factor 0.31). Reserve a 10% CRM holdout next launch to measure it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GEO SPLIT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Campaign reporting carries no regional dimension, so no geo-matched test was possible. A matched-market design on the next launch would give a second, model-free read on incrementality.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All lift figures are modeled estimates vs a no-campaign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2195</Words>
  <Application>Microsoft Office PowerPoint</Application>
  <PresentationFormat>Widescreen</PresentationFormat>
  <Paragraphs>237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Anderson, Edward Clifford (eca4zm)</cp:lastModifiedBy>
  <cp:revision>16</cp:revision>
  <dcterms:created xsi:type="dcterms:W3CDTF">2013-01-27T09:14:16Z</dcterms:created>
  <dcterms:modified xsi:type="dcterms:W3CDTF">2026-07-17T18:46:01Z</dcterms:modified>
  <cp:category/>
</cp:coreProperties>
</file>