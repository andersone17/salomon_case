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01_0.xml" ContentType="application/vnd.ms-powerpoint.comments+xml"/>
  <Override PartName="/ppt/comments/modernComment_111_F9A21C54.xml" ContentType="application/vnd.ms-powerpoint.comments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57" r:id="rId4"/>
    <p:sldId id="260" r:id="rId5"/>
    <p:sldId id="270" r:id="rId6"/>
    <p:sldId id="263" r:id="rId7"/>
    <p:sldId id="262" r:id="rId8"/>
    <p:sldId id="273" r:id="rId9"/>
    <p:sldId id="264" r:id="rId10"/>
    <p:sldId id="265" r:id="rId11"/>
    <p:sldId id="274" r:id="rId12"/>
    <p:sldId id="267" r:id="rId13"/>
    <p:sldId id="268" r:id="rId14"/>
    <p:sldId id="272" r:id="rId15"/>
    <p:sldId id="269" r:id="rId16"/>
    <p:sldId id="266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7CB7528-0317-1151-A7B7-34D5B6A94F6F}" name="Anderson, Edward Clifford (eca4zm)" initials="EA" userId="S::eca4zm@virginia.edu::8b27aeba-14ab-4313-9339-48da5a11e8c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6" d="100"/>
          <a:sy n="106" d="100"/>
        </p:scale>
        <p:origin x="96" y="4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D37015C-7D34-49FA-BAA9-B6942D33995A}" authorId="{F7CB7528-0317-1151-A7B7-34D5B6A94F6F}" created="2026-07-17T16:24:44.055">
    <pc:sldMkLst xmlns:pc="http://schemas.microsoft.com/office/powerpoint/2013/main/command">
      <pc:docMk/>
      <pc:sldMk cId="0" sldId="257"/>
    </pc:sldMkLst>
    <p188:txBody>
      <a:bodyPr/>
      <a:lstStyle/>
      <a:p>
        <a:r>
          <a:rPr lang="en-US"/>
          <a:t>Mention brand awareness on this slide?? </a:t>
        </a:r>
      </a:p>
    </p188:txBody>
  </p188:cm>
</p188:cmLst>
</file>

<file path=ppt/comments/modernComment_111_F9A21C5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01D2F72-3A38-41AD-A3F8-C7F5E69541D1}" authorId="{F7CB7528-0317-1151-A7B7-34D5B6A94F6F}" created="2026-07-17T19:32:02.408">
    <pc:sldMkLst xmlns:pc="http://schemas.microsoft.com/office/powerpoint/2013/main/command">
      <pc:docMk/>
      <pc:sldMk cId="4188150868" sldId="273"/>
    </pc:sldMkLst>
    <p188:txBody>
      <a:bodyPr/>
      <a:lstStyle/>
      <a:p>
        <a:r>
          <a:rPr lang="en-US"/>
          <a:t>SLIDE NEEDS WORK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C25129-58E4-4099-B0F9-A79165BFBD32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C4B57B-4552-441A-AA75-72A3C605AD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15410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reality, we would want a more nuanced, geo and channel based estimate of incremental ROAS instead of a uniform application.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C4B57B-4552-441A-AA75-72A3C605ADE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5514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8/10/relationships/comments" Target="../comments/modernComment_101_0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8/10/relationships/comments" Target="../comments/modernComment_111_F9A21C5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emf"/><Relationship Id="rId5" Type="http://schemas.openxmlformats.org/officeDocument/2006/relationships/package" Target="../embeddings/Microsoft_Excel_Worksheet.xlsx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1051560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0" i="0" dirty="0">
                <a:solidFill>
                  <a:srgbClr val="FFFFFF"/>
                </a:solidFill>
                <a:latin typeface="Georgia"/>
              </a:rPr>
              <a:t>Vestal Pro </a:t>
            </a:r>
            <a:r>
              <a:rPr lang="en-US" sz="4400" b="0" i="0" dirty="0">
                <a:solidFill>
                  <a:srgbClr val="FFFFFF"/>
                </a:solidFill>
                <a:latin typeface="Georgia"/>
              </a:rPr>
              <a:t>Shoe </a:t>
            </a:r>
            <a:r>
              <a:rPr sz="4400" b="0" i="0" dirty="0">
                <a:solidFill>
                  <a:srgbClr val="FFFFFF"/>
                </a:solidFill>
                <a:latin typeface="Georgia"/>
              </a:rPr>
              <a:t>Launch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105156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dirty="0">
                <a:solidFill>
                  <a:srgbClr val="3E8EDE"/>
                </a:solidFill>
                <a:latin typeface="Georgia"/>
              </a:rPr>
              <a:t>Campaign Performance </a:t>
            </a:r>
            <a:r>
              <a:rPr lang="en-US" sz="2400" b="0" i="0" dirty="0">
                <a:solidFill>
                  <a:srgbClr val="3E8EDE"/>
                </a:solidFill>
                <a:latin typeface="Georgia"/>
              </a:rPr>
              <a:t>Report</a:t>
            </a:r>
            <a:endParaRPr sz="2400" b="0" i="0" dirty="0">
              <a:solidFill>
                <a:srgbClr val="3E8EDE"/>
              </a:solidFill>
              <a:latin typeface="Georg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515600" cy="4514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 dirty="0">
                <a:solidFill>
                  <a:srgbClr val="FFFFFF"/>
                </a:solidFill>
                <a:latin typeface="Arial"/>
              </a:rPr>
              <a:t>North America eCommerce</a:t>
            </a:r>
          </a:p>
          <a:p>
            <a:pPr algn="l">
              <a:spcAft>
                <a:spcPts val="400"/>
              </a:spcAft>
            </a:pPr>
            <a:r>
              <a:rPr sz="1300" b="0" i="0" dirty="0">
                <a:solidFill>
                  <a:srgbClr val="FFFFFF"/>
                </a:solidFill>
                <a:latin typeface="Arial"/>
              </a:rPr>
              <a:t>Active campaign: </a:t>
            </a:r>
            <a:r>
              <a:rPr lang="en-US" sz="1300" b="0" i="0" dirty="0">
                <a:solidFill>
                  <a:srgbClr val="FFFFFF"/>
                </a:solidFill>
                <a:latin typeface="Arial"/>
              </a:rPr>
              <a:t>June 1</a:t>
            </a:r>
            <a:r>
              <a:rPr sz="1300" b="0" i="0" dirty="0">
                <a:solidFill>
                  <a:srgbClr val="FFFFFF"/>
                </a:solidFill>
                <a:latin typeface="Arial"/>
              </a:rPr>
              <a:t> – </a:t>
            </a:r>
            <a:r>
              <a:rPr lang="en-US" sz="1300" b="0" i="0" dirty="0">
                <a:solidFill>
                  <a:srgbClr val="FFFFFF"/>
                </a:solidFill>
                <a:latin typeface="Arial"/>
              </a:rPr>
              <a:t>June 20</a:t>
            </a:r>
            <a:r>
              <a:rPr sz="1300" b="0" i="0" dirty="0">
                <a:solidFill>
                  <a:srgbClr val="FFFFFF"/>
                </a:solidFill>
                <a:latin typeface="Arial"/>
              </a:rPr>
              <a:t>, 202</a:t>
            </a:r>
            <a:r>
              <a:rPr lang="en-US" sz="1300" b="0" i="0" dirty="0">
                <a:solidFill>
                  <a:srgbClr val="FFFFFF"/>
                </a:solidFill>
                <a:latin typeface="Arial"/>
              </a:rPr>
              <a:t>6</a:t>
            </a:r>
            <a:endParaRPr sz="1300" b="0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6080760"/>
            <a:ext cx="105156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757575"/>
                </a:solidFill>
                <a:latin typeface="Arial"/>
              </a:rPr>
              <a:t>Marketing Insights &amp; Analytics  ·  </a:t>
            </a:r>
            <a:r>
              <a:rPr lang="en-US" sz="1000" b="0" i="0" dirty="0">
                <a:solidFill>
                  <a:srgbClr val="757575"/>
                </a:solidFill>
                <a:latin typeface="Arial"/>
              </a:rPr>
              <a:t>**</a:t>
            </a:r>
            <a:r>
              <a:rPr sz="1000" b="0" i="0" dirty="0">
                <a:solidFill>
                  <a:srgbClr val="757575"/>
                </a:solidFill>
                <a:latin typeface="Arial"/>
              </a:rPr>
              <a:t>synthetic case data</a:t>
            </a:r>
            <a:r>
              <a:rPr lang="en-US" sz="1000" b="0" i="0" dirty="0">
                <a:solidFill>
                  <a:srgbClr val="757575"/>
                </a:solidFill>
                <a:latin typeface="Arial"/>
              </a:rPr>
              <a:t>**</a:t>
            </a:r>
            <a:endParaRPr sz="1000" b="0" i="0" dirty="0">
              <a:solidFill>
                <a:srgbClr val="757575"/>
              </a:solidFill>
              <a:latin typeface="Arial"/>
            </a:endParaRPr>
          </a:p>
        </p:txBody>
      </p:sp>
      <p:pic>
        <p:nvPicPr>
          <p:cNvPr id="7" name="Picture 6" descr="salomon_wordmar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900000"/>
            <a:ext cx="2560320" cy="2933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B768716-E813-22B1-DA55-7CCD827955A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-531516"/>
            <a:ext cx="13527464" cy="901830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CAMPAIGN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300" dirty="0">
                <a:solidFill>
                  <a:srgbClr val="000000"/>
                </a:solidFill>
                <a:latin typeface="Georgia"/>
              </a:rPr>
              <a:t>20-day GTM campaign; success measured against campaign forecast.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49336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PRIMARY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5394960" cy="7309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Create incremental footwear revenue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Acquire new trail-running consumers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Establish Vestal Pro </a:t>
            </a:r>
            <a:r>
              <a:rPr lang="en-US" sz="1250" b="0" i="0" dirty="0">
                <a:solidFill>
                  <a:srgbClr val="333333"/>
                </a:solidFill>
                <a:latin typeface="Arial"/>
              </a:rPr>
              <a:t>as flagship Salomon ultra-running shoe</a:t>
            </a:r>
            <a:endParaRPr sz="1250" b="0" i="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306324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SECONDARY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364992"/>
            <a:ext cx="5394960" cy="10002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Grow the email / SMS consumer database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Generate halo demand across adjacent trail categories</a:t>
            </a:r>
            <a:endParaRPr lang="en-US" sz="1250" b="0" i="0" dirty="0">
              <a:solidFill>
                <a:srgbClr val="333333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en-US" sz="1250" dirty="0">
                <a:solidFill>
                  <a:srgbClr val="333333"/>
                </a:solidFill>
                <a:latin typeface="Arial"/>
              </a:rPr>
              <a:t>•  Increase Salomon brand awareness</a:t>
            </a:r>
            <a:endParaRPr sz="1250" b="0" i="0" dirty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Limit cannibalization of existing footwear franchises</a:t>
            </a:r>
            <a:endParaRPr lang="en-US" sz="1250" b="0" i="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309360" y="1481328"/>
            <a:ext cx="53949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SUCCESS CRITERIA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394960" cy="1538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Incremental revenue ≥ +10% vs no-campaign counterfactual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New customers ≥ 25% of Vestal Pro purchasers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Cannibalization &lt; </a:t>
            </a:r>
            <a:r>
              <a:rPr lang="en-US" sz="1250" dirty="0">
                <a:solidFill>
                  <a:srgbClr val="333333"/>
                </a:solidFill>
                <a:latin typeface="Arial"/>
              </a:rPr>
              <a:t>15</a:t>
            </a:r>
            <a:r>
              <a:rPr sz="1250" b="0" i="0" dirty="0">
                <a:solidFill>
                  <a:srgbClr val="333333"/>
                </a:solidFill>
                <a:latin typeface="Arial"/>
              </a:rPr>
              <a:t>% of Vestal Pro sales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Halo ≥ +5% lift across adjacent trail categories</a:t>
            </a:r>
            <a:endParaRPr lang="en-US" sz="1250" b="0" i="0" dirty="0">
              <a:solidFill>
                <a:srgbClr val="333333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en-US" sz="1250" dirty="0">
                <a:solidFill>
                  <a:srgbClr val="333333"/>
                </a:solidFill>
                <a:latin typeface="Arial"/>
              </a:rPr>
              <a:t>•  Branded search ≥ 10% vs counterfactual baseline.</a:t>
            </a:r>
            <a:endParaRPr sz="1250" b="0" i="0" dirty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Guardrails: margin, returns, conversion, availability,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MEASUREMENT WINDOWS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892040"/>
            <a:ext cx="3630168" cy="12344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4088" y="5047488"/>
            <a:ext cx="3246120" cy="7828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PRE-CAMPAIGN BASELINE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100" b="0" i="0" dirty="0">
                <a:solidFill>
                  <a:srgbClr val="757575"/>
                </a:solidFill>
                <a:latin typeface="Arial"/>
              </a:rPr>
              <a:t>March 1</a:t>
            </a:r>
            <a:r>
              <a:rPr sz="1100" b="0" i="0" dirty="0">
                <a:solidFill>
                  <a:srgbClr val="757575"/>
                </a:solidFill>
                <a:latin typeface="Arial"/>
              </a:rPr>
              <a:t> – </a:t>
            </a:r>
            <a:r>
              <a:rPr lang="en-US" sz="1100" b="0" i="0" dirty="0">
                <a:solidFill>
                  <a:srgbClr val="757575"/>
                </a:solidFill>
                <a:latin typeface="Arial"/>
              </a:rPr>
              <a:t>May 31</a:t>
            </a:r>
            <a:r>
              <a:rPr sz="1100" b="0" i="0" dirty="0">
                <a:solidFill>
                  <a:srgbClr val="757575"/>
                </a:solidFill>
                <a:latin typeface="Arial"/>
              </a:rPr>
              <a:t> ·</a:t>
            </a:r>
            <a:r>
              <a:rPr lang="en-US" sz="1100" b="0" i="0" dirty="0">
                <a:solidFill>
                  <a:srgbClr val="757575"/>
                </a:solidFill>
                <a:latin typeface="Arial"/>
              </a:rPr>
              <a:t> 13 Weeks</a:t>
            </a:r>
            <a:endParaRPr sz="1100" b="0" i="0" dirty="0">
              <a:solidFill>
                <a:srgbClr val="757575"/>
              </a:solidFill>
              <a:latin typeface="Arial"/>
            </a:endParaRP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000" b="0" i="0" dirty="0">
                <a:solidFill>
                  <a:srgbClr val="333333"/>
                </a:solidFill>
                <a:latin typeface="Arial"/>
              </a:rPr>
              <a:t>Status Quo </a:t>
            </a:r>
            <a:r>
              <a:rPr sz="1000" b="0" i="0" dirty="0">
                <a:solidFill>
                  <a:srgbClr val="333333"/>
                </a:solidFill>
                <a:latin typeface="Arial"/>
              </a:rPr>
              <a:t>demand, traffic, and channel patterns</a:t>
            </a:r>
            <a:r>
              <a:rPr lang="en-US" sz="1000" b="0" i="0" dirty="0">
                <a:solidFill>
                  <a:srgbClr val="333333"/>
                </a:solidFill>
                <a:latin typeface="Arial"/>
              </a:rPr>
              <a:t>. 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000" b="0" i="0" dirty="0">
                <a:solidFill>
                  <a:srgbClr val="333333"/>
                </a:solidFill>
                <a:latin typeface="Arial"/>
              </a:rPr>
              <a:t>Minimal activations and no launches.</a:t>
            </a:r>
            <a:endParaRPr sz="1000" b="0" i="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15968" y="4892040"/>
            <a:ext cx="3630168" cy="1234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17136" y="5047488"/>
            <a:ext cx="3246120" cy="7443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 i="0" dirty="0">
                <a:solidFill>
                  <a:srgbClr val="FFFFFF"/>
                </a:solidFill>
                <a:latin typeface="Arial"/>
              </a:rPr>
              <a:t>ACTIVE CAMPAIGN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100" b="0" i="0" dirty="0">
                <a:solidFill>
                  <a:srgbClr val="0057B8"/>
                </a:solidFill>
                <a:latin typeface="Arial"/>
              </a:rPr>
              <a:t>June 1</a:t>
            </a:r>
            <a:r>
              <a:rPr sz="1100" b="0" i="0" dirty="0">
                <a:solidFill>
                  <a:srgbClr val="0057B8"/>
                </a:solidFill>
                <a:latin typeface="Arial"/>
              </a:rPr>
              <a:t> – </a:t>
            </a:r>
            <a:r>
              <a:rPr lang="en-US" sz="1100" b="0" i="0" dirty="0">
                <a:solidFill>
                  <a:srgbClr val="0057B8"/>
                </a:solidFill>
                <a:latin typeface="Arial"/>
              </a:rPr>
              <a:t>June 20</a:t>
            </a:r>
            <a:r>
              <a:rPr sz="1100" b="0" i="0" dirty="0">
                <a:solidFill>
                  <a:srgbClr val="0057B8"/>
                </a:solidFill>
                <a:latin typeface="Arial"/>
              </a:rPr>
              <a:t> · </a:t>
            </a:r>
            <a:r>
              <a:rPr lang="en-US" sz="1100" dirty="0">
                <a:solidFill>
                  <a:srgbClr val="0057B8"/>
                </a:solidFill>
                <a:latin typeface="Arial"/>
              </a:rPr>
              <a:t>3 </a:t>
            </a:r>
            <a:r>
              <a:rPr sz="1100" b="0" i="0" dirty="0">
                <a:solidFill>
                  <a:srgbClr val="0057B8"/>
                </a:solidFill>
                <a:latin typeface="Arial"/>
              </a:rPr>
              <a:t>weeks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000" b="0" i="0" dirty="0">
                <a:solidFill>
                  <a:srgbClr val="FFFFFF"/>
                </a:solidFill>
                <a:latin typeface="Arial"/>
              </a:rPr>
              <a:t>GTM Strategy</a:t>
            </a:r>
            <a:r>
              <a:rPr lang="en-US" sz="1000" dirty="0">
                <a:solidFill>
                  <a:srgbClr val="FFFFFF"/>
                </a:solidFill>
                <a:latin typeface="Arial"/>
              </a:rPr>
              <a:t> supported by </a:t>
            </a:r>
            <a:r>
              <a:rPr sz="1000" b="0" i="0" dirty="0">
                <a:solidFill>
                  <a:srgbClr val="FFFFFF"/>
                </a:solidFill>
                <a:latin typeface="Arial"/>
              </a:rPr>
              <a:t>paid media, CRM, site merchandising</a:t>
            </a:r>
            <a:r>
              <a:rPr lang="en-US" sz="1000" b="0" i="0" dirty="0">
                <a:solidFill>
                  <a:srgbClr val="FFFFFF"/>
                </a:solidFill>
                <a:latin typeface="Arial"/>
              </a:rPr>
              <a:t>, and affiliate partners.</a:t>
            </a:r>
            <a:endParaRPr sz="1000" b="0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29016" y="4892040"/>
            <a:ext cx="3630168" cy="12344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30184" y="5047488"/>
            <a:ext cx="3246120" cy="7443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POST-CAMPAIGN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100" dirty="0">
                <a:solidFill>
                  <a:srgbClr val="757575"/>
                </a:solidFill>
                <a:latin typeface="Arial"/>
              </a:rPr>
              <a:t>June 21 </a:t>
            </a:r>
            <a:r>
              <a:rPr sz="1100" b="0" i="0" dirty="0">
                <a:solidFill>
                  <a:srgbClr val="757575"/>
                </a:solidFill>
                <a:latin typeface="Arial"/>
              </a:rPr>
              <a:t>– </a:t>
            </a:r>
            <a:r>
              <a:rPr lang="en-US" sz="1100" b="0" i="0" dirty="0">
                <a:solidFill>
                  <a:srgbClr val="757575"/>
                </a:solidFill>
                <a:latin typeface="Arial"/>
              </a:rPr>
              <a:t>July 20 </a:t>
            </a:r>
            <a:r>
              <a:rPr sz="1100" b="0" i="0" dirty="0">
                <a:solidFill>
                  <a:srgbClr val="757575"/>
                </a:solidFill>
                <a:latin typeface="Arial"/>
              </a:rPr>
              <a:t>· 4 weeks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000" b="0" i="0" dirty="0">
                <a:solidFill>
                  <a:srgbClr val="333333"/>
                </a:solidFill>
                <a:latin typeface="Arial"/>
              </a:rPr>
              <a:t>Demand persistence</a:t>
            </a:r>
            <a:r>
              <a:rPr sz="1000" b="0" i="0" dirty="0">
                <a:solidFill>
                  <a:srgbClr val="333333"/>
                </a:solidFill>
                <a:latin typeface="Arial"/>
              </a:rPr>
              <a:t>, delayed returns, </a:t>
            </a:r>
            <a:r>
              <a:rPr lang="en-US" sz="1000" b="0" i="0" dirty="0">
                <a:solidFill>
                  <a:srgbClr val="333333"/>
                </a:solidFill>
                <a:latin typeface="Arial"/>
              </a:rPr>
              <a:t>CLV retention measurement.</a:t>
            </a:r>
            <a:endParaRPr sz="1000" b="0" i="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3</a:t>
            </a:r>
          </a:p>
        </p:txBody>
      </p:sp>
      <p:pic>
        <p:nvPicPr>
          <p:cNvPr id="19" name="Picture 18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Successful Launch; Monitor for continued cannibalization and shifting sales mix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2706624" cy="2606040"/>
          </a:xfrm>
          <a:prstGeom prst="rect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1700784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757575"/>
                </a:solidFill>
                <a:latin typeface="Arial"/>
              </a:rPr>
              <a:t>INCREMENTAL FOOTWEAR REVENUE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286000"/>
            <a:ext cx="2331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>
                <a:solidFill>
                  <a:srgbClr val="0057B8"/>
                </a:solidFill>
                <a:latin typeface="Arial"/>
              </a:rPr>
              <a:t>+33%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3127248"/>
            <a:ext cx="2331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 dirty="0">
                <a:solidFill>
                  <a:srgbClr val="333333"/>
                </a:solidFill>
                <a:latin typeface="Arial"/>
              </a:rPr>
              <a:t>+$134.6K vs modeled no-campaign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712463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757575"/>
                </a:solidFill>
                <a:latin typeface="Arial"/>
              </a:rPr>
              <a:t>Target ≥ +10%  ·  </a:t>
            </a:r>
            <a:r>
              <a:rPr sz="1050" b="1" i="0">
                <a:solidFill>
                  <a:srgbClr val="1F7A4D"/>
                </a:solidFill>
                <a:latin typeface="Arial"/>
              </a:rPr>
              <a:t>PASS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6704" y="1481328"/>
            <a:ext cx="2706624" cy="2606040"/>
          </a:xfrm>
          <a:prstGeom prst="rect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47872" y="1700784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757575"/>
                </a:solidFill>
                <a:latin typeface="Arial"/>
              </a:rPr>
              <a:t>NEW-CUSTOMER SHARE, VESTAL PRO BUYERS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2286000"/>
            <a:ext cx="2331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0057B8"/>
                </a:solidFill>
                <a:latin typeface="Arial"/>
              </a:rPr>
              <a:t>44%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27248"/>
            <a:ext cx="2331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 dirty="0">
                <a:solidFill>
                  <a:srgbClr val="333333"/>
                </a:solidFill>
                <a:latin typeface="Arial"/>
              </a:rPr>
              <a:t>590 of 1,335 buyers new to Salomon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3712463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757575"/>
                </a:solidFill>
                <a:latin typeface="Arial"/>
              </a:rPr>
              <a:t>Target ≥ 25%  ·  </a:t>
            </a:r>
            <a:r>
              <a:rPr sz="1050" b="1" i="0">
                <a:solidFill>
                  <a:srgbClr val="1F7A4D"/>
                </a:solidFill>
                <a:latin typeface="Arial"/>
              </a:rPr>
              <a:t>PASS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0488" y="1481328"/>
            <a:ext cx="2706624" cy="260604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91655" y="1700784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757575"/>
                </a:solidFill>
                <a:latin typeface="Arial"/>
              </a:rPr>
              <a:t>FRANCHISE CANNIBALIZATION, 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5" y="2286000"/>
            <a:ext cx="2331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0057B8"/>
                </a:solidFill>
                <a:latin typeface="Arial"/>
              </a:rPr>
              <a:t>22–30%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1655" y="3127248"/>
            <a:ext cx="2331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333333"/>
                </a:solidFill>
                <a:latin typeface="Arial"/>
              </a:rPr>
              <a:t>17–42% across baseline models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1655" y="3712463"/>
            <a:ext cx="233172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dirty="0">
                <a:solidFill>
                  <a:srgbClr val="757575"/>
                </a:solidFill>
                <a:latin typeface="Arial"/>
              </a:rPr>
              <a:t>Guardrail &lt; </a:t>
            </a:r>
            <a:r>
              <a:rPr lang="en-US" sz="1050" b="0" i="0" dirty="0">
                <a:solidFill>
                  <a:srgbClr val="757575"/>
                </a:solidFill>
                <a:latin typeface="Arial"/>
              </a:rPr>
              <a:t>10</a:t>
            </a:r>
            <a:r>
              <a:rPr sz="1050" b="0" i="0" dirty="0">
                <a:solidFill>
                  <a:srgbClr val="757575"/>
                </a:solidFill>
                <a:latin typeface="Arial"/>
              </a:rPr>
              <a:t>%  ·  </a:t>
            </a:r>
            <a:r>
              <a:rPr lang="en-US" sz="1050" b="1" i="0" dirty="0">
                <a:solidFill>
                  <a:schemeClr val="accent6">
                    <a:lumMod val="75000"/>
                  </a:schemeClr>
                </a:solidFill>
                <a:latin typeface="Arial"/>
              </a:rPr>
              <a:t>FLAG &amp; MONITOR</a:t>
            </a:r>
            <a:endParaRPr sz="1050" b="1" i="0" dirty="0">
              <a:solidFill>
                <a:schemeClr val="accent6">
                  <a:lumMod val="75000"/>
                </a:schemeClr>
              </a:solidFill>
              <a:latin typeface="Arial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034272" y="1481328"/>
            <a:ext cx="2706624" cy="2606040"/>
          </a:xfrm>
          <a:prstGeom prst="rect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35440" y="1700784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ADJACENT-CATEGORY HALO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286000"/>
            <a:ext cx="2331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>
                <a:solidFill>
                  <a:srgbClr val="0057B8"/>
                </a:solidFill>
                <a:latin typeface="Arial"/>
              </a:rPr>
              <a:t>+9%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3127248"/>
            <a:ext cx="2331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 dirty="0">
                <a:solidFill>
                  <a:srgbClr val="333333"/>
                </a:solidFill>
                <a:latin typeface="Arial"/>
              </a:rPr>
              <a:t>95% CI +3% to +15% vs baseline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712463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757575"/>
                </a:solidFill>
                <a:latin typeface="Arial"/>
              </a:rPr>
              <a:t>Target ≥ +5%  ·  </a:t>
            </a:r>
            <a:r>
              <a:rPr sz="1050" b="1" i="0">
                <a:solidFill>
                  <a:srgbClr val="1F7A4D"/>
                </a:solidFill>
                <a:latin typeface="Arial"/>
              </a:rPr>
              <a:t>PASS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434840"/>
            <a:ext cx="11183112" cy="17830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4681728"/>
            <a:ext cx="10469880" cy="11234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 i="0" dirty="0">
                <a:solidFill>
                  <a:srgbClr val="FFFFFF"/>
                </a:solidFill>
                <a:latin typeface="Arial"/>
              </a:rPr>
              <a:t>VERDICT — a commercial success </a:t>
            </a:r>
            <a:r>
              <a:rPr lang="en-US" sz="1400" b="1" i="0" dirty="0">
                <a:solidFill>
                  <a:srgbClr val="FFFFFF"/>
                </a:solidFill>
                <a:latin typeface="Arial"/>
              </a:rPr>
              <a:t>limited by availability</a:t>
            </a:r>
            <a:r>
              <a:rPr sz="1400" b="1" i="0" dirty="0">
                <a:solidFill>
                  <a:srgbClr val="FFFFFF"/>
                </a:solidFill>
                <a:latin typeface="Arial"/>
              </a:rPr>
              <a:t>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 dirty="0">
                <a:solidFill>
                  <a:srgbClr val="FFFFFF"/>
                </a:solidFill>
                <a:latin typeface="Arial"/>
              </a:rPr>
              <a:t>The Vestal Pro delivered $207.7K of </a:t>
            </a:r>
            <a:r>
              <a:rPr sz="1250" b="0" i="0" u="sng" dirty="0">
                <a:solidFill>
                  <a:srgbClr val="FFFFFF"/>
                </a:solidFill>
                <a:latin typeface="Arial"/>
              </a:rPr>
              <a:t>direct revenue</a:t>
            </a:r>
            <a:r>
              <a:rPr sz="1250" b="0" i="0" dirty="0">
                <a:solidFill>
                  <a:srgbClr val="FFFFFF"/>
                </a:solidFill>
                <a:latin typeface="Arial"/>
              </a:rPr>
              <a:t> and $142.5K of </a:t>
            </a:r>
            <a:r>
              <a:rPr sz="1250" b="0" i="0" u="sng" dirty="0">
                <a:solidFill>
                  <a:srgbClr val="FFFFFF"/>
                </a:solidFill>
                <a:latin typeface="Arial"/>
              </a:rPr>
              <a:t>net incremental revenue</a:t>
            </a:r>
            <a:r>
              <a:rPr sz="1250" b="0" i="0" dirty="0">
                <a:solidFill>
                  <a:srgbClr val="FFFFFF"/>
                </a:solidFill>
                <a:latin typeface="Arial"/>
              </a:rPr>
              <a:t> (+29% vs the no-campaign baseline).</a:t>
            </a:r>
            <a:endParaRPr lang="en-US" sz="1250" b="0" i="0" dirty="0">
              <a:solidFill>
                <a:srgbClr val="FFFFFF"/>
              </a:solidFill>
              <a:latin typeface="Arial"/>
            </a:endParaRP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US" sz="1250" b="0" i="0" dirty="0">
                <a:solidFill>
                  <a:srgbClr val="FFFFFF"/>
                </a:solidFill>
                <a:latin typeface="Arial"/>
              </a:rPr>
              <a:t>Gross Margin was $114.2K. After direct marketing expenses, </a:t>
            </a:r>
            <a:r>
              <a:rPr lang="en-US" sz="1250" b="0" i="0" u="sng" dirty="0">
                <a:solidFill>
                  <a:srgbClr val="FFFFFF"/>
                </a:solidFill>
                <a:latin typeface="Arial"/>
              </a:rPr>
              <a:t>Contribution Margin</a:t>
            </a:r>
            <a:r>
              <a:rPr lang="en-US" sz="1250" b="0" i="0" dirty="0">
                <a:solidFill>
                  <a:srgbClr val="FFFFFF"/>
                </a:solidFill>
                <a:latin typeface="Arial"/>
              </a:rPr>
              <a:t> (CM3) is $24.1K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US" sz="1250" u="sng" dirty="0">
                <a:solidFill>
                  <a:srgbClr val="FFFFFF"/>
                </a:solidFill>
                <a:latin typeface="Arial"/>
              </a:rPr>
              <a:t>Limited factors</a:t>
            </a:r>
            <a:r>
              <a:rPr lang="en-US" sz="1250" dirty="0">
                <a:solidFill>
                  <a:srgbClr val="FFFFFF"/>
                </a:solidFill>
                <a:latin typeface="Arial"/>
              </a:rPr>
              <a:t> included cannibalization of existing portfolio and limited availability in core sizes.</a:t>
            </a:r>
            <a:endParaRPr sz="1250" b="0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 readout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2</a:t>
            </a:r>
          </a:p>
        </p:txBody>
      </p:sp>
      <p:pic>
        <p:nvPicPr>
          <p:cNvPr id="28" name="Picture 27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TOPLINE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 dirty="0">
                <a:solidFill>
                  <a:srgbClr val="000000"/>
                </a:solidFill>
                <a:latin typeface="Georgia"/>
              </a:rPr>
              <a:t>Footwear </a:t>
            </a:r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revenue was 33</a:t>
            </a:r>
            <a:r>
              <a:rPr sz="2300" b="0" i="0" dirty="0">
                <a:solidFill>
                  <a:srgbClr val="000000"/>
                </a:solidFill>
                <a:latin typeface="Georgia"/>
              </a:rPr>
              <a:t>% above the no-campaign baseline throughout </a:t>
            </a:r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the launch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 readout · Baseline: pre-period trend + weekly seasonality; </a:t>
            </a:r>
            <a:r>
              <a:rPr sz="800" b="0" i="0" dirty="0" err="1">
                <a:solidFill>
                  <a:srgbClr val="757575"/>
                </a:solidFill>
                <a:latin typeface="Arial"/>
              </a:rPr>
              <a:t>backtest</a:t>
            </a:r>
            <a:r>
              <a:rPr sz="800" b="0" i="0" dirty="0">
                <a:solidFill>
                  <a:srgbClr val="757575"/>
                </a:solidFill>
                <a:latin typeface="Arial"/>
              </a:rPr>
              <a:t> MAPE 10.1%</a:t>
            </a:r>
            <a:r>
              <a:rPr lang="en-US" sz="800" dirty="0">
                <a:solidFill>
                  <a:srgbClr val="757575"/>
                </a:solidFill>
                <a:latin typeface="Arial"/>
              </a:rPr>
              <a:t> · FOOTWEAR ONLY</a:t>
            </a:r>
            <a:endParaRPr sz="800" b="0" i="0" dirty="0">
              <a:solidFill>
                <a:srgbClr val="757575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5</a:t>
            </a:r>
          </a:p>
        </p:txBody>
      </p:sp>
      <p:pic>
        <p:nvPicPr>
          <p:cNvPr id="10" name="Picture 9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  <p:pic>
        <p:nvPicPr>
          <p:cNvPr id="27" name="Picture 26" descr="The diagram illustrates a comparison of actual footwear revenue against a modeled baseline without campaigns, showing fluctuations over a period from April to July 2026.&#10;&#10;AI-generated content may be incorrect.">
            <a:extLst>
              <a:ext uri="{FF2B5EF4-FFF2-40B4-BE49-F238E27FC236}">
                <a16:creationId xmlns:a16="http://schemas.microsoft.com/office/drawing/2014/main" id="{64434D0D-7640-3878-BE81-3F62CC1E3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19" y="1371973"/>
            <a:ext cx="8178093" cy="4639209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8E82E62F-FA01-E7F7-6EF9-0FEF33029B3C}"/>
              </a:ext>
            </a:extLst>
          </p:cNvPr>
          <p:cNvSpPr txBox="1"/>
          <p:nvPr/>
        </p:nvSpPr>
        <p:spPr>
          <a:xfrm>
            <a:off x="3951484" y="1693790"/>
            <a:ext cx="1394238" cy="14619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0" tIns="0" rIns="0" bIns="0" anchor="t">
            <a:spAutoFit/>
          </a:bodyPr>
          <a:lstStyle/>
          <a:p>
            <a:pPr algn="ctr"/>
            <a:r>
              <a:rPr sz="950" i="0" dirty="0">
                <a:solidFill>
                  <a:schemeClr val="tx2">
                    <a:lumMod val="50000"/>
                    <a:lumOff val="50000"/>
                  </a:schemeClr>
                </a:solidFill>
                <a:latin typeface="Arial"/>
              </a:rPr>
              <a:t>Campaign start · </a:t>
            </a:r>
            <a:r>
              <a:rPr lang="en-US" sz="950" dirty="0">
                <a:solidFill>
                  <a:schemeClr val="tx2">
                    <a:lumMod val="50000"/>
                    <a:lumOff val="50000"/>
                  </a:schemeClr>
                </a:solidFill>
                <a:latin typeface="Arial"/>
              </a:rPr>
              <a:t>June 1</a:t>
            </a:r>
            <a:endParaRPr sz="950" i="0" dirty="0">
              <a:solidFill>
                <a:schemeClr val="tx2">
                  <a:lumMod val="50000"/>
                  <a:lumOff val="50000"/>
                </a:schemeClr>
              </a:solidFill>
              <a:latin typeface="Arial"/>
            </a:endParaRPr>
          </a:p>
        </p:txBody>
      </p:sp>
      <p:cxnSp>
        <p:nvCxnSpPr>
          <p:cNvPr id="30" name="Connector 4">
            <a:extLst>
              <a:ext uri="{FF2B5EF4-FFF2-40B4-BE49-F238E27FC236}">
                <a16:creationId xmlns:a16="http://schemas.microsoft.com/office/drawing/2014/main" id="{2182B22E-D2F7-9B21-00D8-2C74D8A23957}"/>
              </a:ext>
            </a:extLst>
          </p:cNvPr>
          <p:cNvCxnSpPr>
            <a:cxnSpLocks/>
          </p:cNvCxnSpPr>
          <p:nvPr/>
        </p:nvCxnSpPr>
        <p:spPr>
          <a:xfrm>
            <a:off x="4607553" y="1870947"/>
            <a:ext cx="0" cy="3760267"/>
          </a:xfrm>
          <a:prstGeom prst="line">
            <a:avLst/>
          </a:prstGeom>
          <a:ln w="1270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2DB04F6-878A-7650-2CA9-516870587838}"/>
              </a:ext>
            </a:extLst>
          </p:cNvPr>
          <p:cNvCxnSpPr>
            <a:cxnSpLocks/>
          </p:cNvCxnSpPr>
          <p:nvPr/>
        </p:nvCxnSpPr>
        <p:spPr>
          <a:xfrm>
            <a:off x="6011870" y="1907414"/>
            <a:ext cx="0" cy="1063352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9D4C3E16-9C64-DE44-353F-A9C88D8B0E76}"/>
              </a:ext>
            </a:extLst>
          </p:cNvPr>
          <p:cNvSpPr txBox="1"/>
          <p:nvPr/>
        </p:nvSpPr>
        <p:spPr>
          <a:xfrm>
            <a:off x="5619129" y="1735937"/>
            <a:ext cx="802357" cy="14619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50" i="0" dirty="0">
                <a:solidFill>
                  <a:schemeClr val="tx2">
                    <a:lumMod val="50000"/>
                    <a:lumOff val="50000"/>
                  </a:schemeClr>
                </a:solidFill>
                <a:latin typeface="Arial"/>
              </a:rPr>
              <a:t>Final comms</a:t>
            </a:r>
            <a:endParaRPr sz="950" i="0" dirty="0">
              <a:solidFill>
                <a:schemeClr val="tx2">
                  <a:lumMod val="50000"/>
                  <a:lumOff val="50000"/>
                </a:schemeClr>
              </a:solidFill>
              <a:latin typeface="Arial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94D8EF9-9D81-0106-B82E-21450F2E84FB}"/>
              </a:ext>
            </a:extLst>
          </p:cNvPr>
          <p:cNvSpPr txBox="1"/>
          <p:nvPr/>
        </p:nvSpPr>
        <p:spPr>
          <a:xfrm>
            <a:off x="8745156" y="1989167"/>
            <a:ext cx="3108960" cy="2717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1" i="0" dirty="0">
                <a:solidFill>
                  <a:srgbClr val="757575"/>
                </a:solidFill>
                <a:latin typeface="Arial"/>
              </a:rPr>
              <a:t>ACTIVE CAMPAIGN, </a:t>
            </a:r>
            <a:r>
              <a:rPr lang="en-US" sz="1000" b="1" i="0" dirty="0">
                <a:solidFill>
                  <a:srgbClr val="757575"/>
                </a:solidFill>
                <a:latin typeface="Arial"/>
              </a:rPr>
              <a:t>~3 </a:t>
            </a:r>
            <a:r>
              <a:rPr sz="1000" b="1" i="0" dirty="0">
                <a:solidFill>
                  <a:srgbClr val="757575"/>
                </a:solidFill>
                <a:latin typeface="Arial"/>
              </a:rPr>
              <a:t>WEEKS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 i="0" dirty="0">
                <a:solidFill>
                  <a:srgbClr val="757575"/>
                </a:solidFill>
                <a:latin typeface="Arial"/>
              </a:rPr>
              <a:t>Observed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2200" b="1" i="0" dirty="0">
                <a:solidFill>
                  <a:srgbClr val="333333"/>
                </a:solidFill>
                <a:latin typeface="Arial"/>
              </a:rPr>
              <a:t>$</a:t>
            </a:r>
            <a:r>
              <a:rPr lang="en-US" sz="2200" b="1" dirty="0">
                <a:solidFill>
                  <a:srgbClr val="333333"/>
                </a:solidFill>
                <a:latin typeface="Arial"/>
              </a:rPr>
              <a:t>262.8</a:t>
            </a:r>
            <a:r>
              <a:rPr sz="2200" b="1" i="0" dirty="0">
                <a:solidFill>
                  <a:srgbClr val="333333"/>
                </a:solidFill>
                <a:latin typeface="Arial"/>
              </a:rPr>
              <a:t>K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 i="0" dirty="0">
                <a:solidFill>
                  <a:srgbClr val="757575"/>
                </a:solidFill>
                <a:latin typeface="Arial"/>
              </a:rPr>
              <a:t>Counterfactual baseline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lang="en-US" sz="2200" b="1" i="0" dirty="0">
                <a:solidFill>
                  <a:srgbClr val="757575"/>
                </a:solidFill>
                <a:latin typeface="Arial"/>
              </a:rPr>
              <a:t>$193.5</a:t>
            </a:r>
            <a:r>
              <a:rPr sz="2200" b="1" i="0" dirty="0">
                <a:solidFill>
                  <a:srgbClr val="757575"/>
                </a:solidFill>
                <a:latin typeface="Arial"/>
              </a:rPr>
              <a:t>K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 i="0" dirty="0">
                <a:solidFill>
                  <a:srgbClr val="757575"/>
                </a:solidFill>
                <a:latin typeface="Arial"/>
              </a:rPr>
              <a:t>Incremental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2200" b="1" i="0" dirty="0">
                <a:solidFill>
                  <a:srgbClr val="0057B8"/>
                </a:solidFill>
                <a:latin typeface="Arial"/>
              </a:rPr>
              <a:t>+$</a:t>
            </a:r>
            <a:r>
              <a:rPr lang="en-US" sz="2200" b="1" dirty="0">
                <a:solidFill>
                  <a:srgbClr val="0057B8"/>
                </a:solidFill>
                <a:latin typeface="Arial"/>
              </a:rPr>
              <a:t>69.3</a:t>
            </a:r>
            <a:r>
              <a:rPr sz="2200" b="1" i="0" dirty="0">
                <a:solidFill>
                  <a:srgbClr val="0057B8"/>
                </a:solidFill>
                <a:latin typeface="Arial"/>
              </a:rPr>
              <a:t>K  (+</a:t>
            </a:r>
            <a:r>
              <a:rPr lang="en-US" sz="2200" b="1" i="0" dirty="0">
                <a:solidFill>
                  <a:srgbClr val="0057B8"/>
                </a:solidFill>
                <a:latin typeface="Arial"/>
              </a:rPr>
              <a:t>35.8</a:t>
            </a:r>
            <a:r>
              <a:rPr sz="2200" b="1" i="0" dirty="0">
                <a:solidFill>
                  <a:srgbClr val="0057B8"/>
                </a:solidFill>
                <a:latin typeface="Arial"/>
              </a:rPr>
              <a:t>%)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50" b="0" i="0" dirty="0">
                <a:solidFill>
                  <a:srgbClr val="333333"/>
                </a:solidFill>
                <a:latin typeface="Arial"/>
              </a:rPr>
              <a:t>95% CI +3</a:t>
            </a:r>
            <a:r>
              <a:rPr lang="en-US" sz="1050" b="0" i="0" dirty="0">
                <a:solidFill>
                  <a:srgbClr val="333333"/>
                </a:solidFill>
                <a:latin typeface="Arial"/>
              </a:rPr>
              <a:t>2</a:t>
            </a:r>
            <a:r>
              <a:rPr sz="1050" b="0" i="0" dirty="0">
                <a:solidFill>
                  <a:srgbClr val="333333"/>
                </a:solidFill>
                <a:latin typeface="Arial"/>
              </a:rPr>
              <a:t>% to +</a:t>
            </a:r>
            <a:r>
              <a:rPr lang="en-US" sz="1050" dirty="0">
                <a:solidFill>
                  <a:srgbClr val="333333"/>
                </a:solidFill>
                <a:latin typeface="Arial"/>
              </a:rPr>
              <a:t>40</a:t>
            </a:r>
            <a:r>
              <a:rPr sz="1050" b="0" i="0" dirty="0">
                <a:solidFill>
                  <a:srgbClr val="333333"/>
                </a:solidFill>
                <a:latin typeface="Arial"/>
              </a:rPr>
              <a:t>% · every campaign week ran above baseline · peak gap +$</a:t>
            </a:r>
            <a:r>
              <a:rPr lang="en-US" sz="1050" dirty="0">
                <a:solidFill>
                  <a:srgbClr val="333333"/>
                </a:solidFill>
                <a:latin typeface="Arial"/>
              </a:rPr>
              <a:t>29</a:t>
            </a:r>
            <a:r>
              <a:rPr sz="1050" b="0" i="0" dirty="0">
                <a:solidFill>
                  <a:srgbClr val="333333"/>
                </a:solidFill>
                <a:latin typeface="Arial"/>
              </a:rPr>
              <a:t>K in launch week</a:t>
            </a:r>
            <a:endParaRPr lang="en-US" sz="1050" b="0" i="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B421296-6D36-5BA2-0BBB-85ACABA9BD75}"/>
              </a:ext>
            </a:extLst>
          </p:cNvPr>
          <p:cNvSpPr txBox="1"/>
          <p:nvPr/>
        </p:nvSpPr>
        <p:spPr>
          <a:xfrm>
            <a:off x="6655432" y="1870947"/>
            <a:ext cx="1591173" cy="14619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50" dirty="0">
                <a:solidFill>
                  <a:schemeClr val="tx2">
                    <a:lumMod val="50000"/>
                    <a:lumOff val="50000"/>
                  </a:schemeClr>
                </a:solidFill>
                <a:latin typeface="Arial"/>
              </a:rPr>
              <a:t>Incrementality Persists</a:t>
            </a:r>
            <a:endParaRPr sz="950" i="0" dirty="0">
              <a:solidFill>
                <a:schemeClr val="tx2">
                  <a:lumMod val="50000"/>
                  <a:lumOff val="50000"/>
                </a:schemeClr>
              </a:solidFill>
              <a:latin typeface="Arial"/>
            </a:endParaRPr>
          </a:p>
        </p:txBody>
      </p:sp>
      <p:sp>
        <p:nvSpPr>
          <p:cNvPr id="61" name="Left Brace 60">
            <a:extLst>
              <a:ext uri="{FF2B5EF4-FFF2-40B4-BE49-F238E27FC236}">
                <a16:creationId xmlns:a16="http://schemas.microsoft.com/office/drawing/2014/main" id="{6B8B920B-D082-C7E8-9CD9-051B8E07D7AA}"/>
              </a:ext>
            </a:extLst>
          </p:cNvPr>
          <p:cNvSpPr/>
          <p:nvPr/>
        </p:nvSpPr>
        <p:spPr>
          <a:xfrm rot="5400000">
            <a:off x="7157421" y="2512903"/>
            <a:ext cx="292388" cy="1539807"/>
          </a:xfrm>
          <a:prstGeom prst="leftBrace">
            <a:avLst/>
          </a:prstGeom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188AC56-9AB6-D5E4-79F2-FDD7D90EF49B}"/>
              </a:ext>
            </a:extLst>
          </p:cNvPr>
          <p:cNvCxnSpPr>
            <a:cxnSpLocks/>
          </p:cNvCxnSpPr>
          <p:nvPr/>
        </p:nvCxnSpPr>
        <p:spPr>
          <a:xfrm flipH="1">
            <a:off x="7306008" y="2040342"/>
            <a:ext cx="145011" cy="109627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C0DEA-41C2-4717-7BB7-2E2510AAE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9270C0-0E14-AE60-2BDE-B604056B919A}"/>
              </a:ext>
            </a:extLst>
          </p:cNvPr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757575"/>
                </a:solidFill>
                <a:latin typeface="Arial"/>
              </a:rPr>
              <a:t>SALES DECOMPOSITION</a:t>
            </a:r>
            <a:endParaRPr sz="1050" b="1" i="0" dirty="0">
              <a:solidFill>
                <a:srgbClr val="757575"/>
              </a:solidFill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DC6D62-E787-BDC4-A8A4-88F4F066067B}"/>
              </a:ext>
            </a:extLst>
          </p:cNvPr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Contribution Margin of ~4</a:t>
            </a:r>
            <a:r>
              <a:rPr lang="en-US" sz="2300" dirty="0">
                <a:solidFill>
                  <a:srgbClr val="000000"/>
                </a:solidFill>
                <a:latin typeface="Georgia"/>
              </a:rPr>
              <a:t>K limited by Franchise Shift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2C852A-0947-CC31-24EA-21558B7529F1}"/>
              </a:ext>
            </a:extLst>
          </p:cNvPr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 readout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4D592D-5118-0F52-8A16-F0154A8C5542}"/>
              </a:ext>
            </a:extLst>
          </p:cNvPr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6</a:t>
            </a:r>
          </a:p>
        </p:txBody>
      </p:sp>
      <p:pic>
        <p:nvPicPr>
          <p:cNvPr id="8" name="Picture 7" descr="salomon_wordmark_black.png">
            <a:extLst>
              <a:ext uri="{FF2B5EF4-FFF2-40B4-BE49-F238E27FC236}">
                <a16:creationId xmlns:a16="http://schemas.microsoft.com/office/drawing/2014/main" id="{5EE0F2A8-B8E1-20F0-A76D-D19F00756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  <p:pic>
        <p:nvPicPr>
          <p:cNvPr id="10" name="Picture 9" descr="The diagram illustrates the net campaign value of $35K, after accounting for direct marketing spend ($43K), COGS ($31K), and resulting in a contribution margin of $4K.&#10;&#10;AI-generated content may be incorrect.">
            <a:extLst>
              <a:ext uri="{FF2B5EF4-FFF2-40B4-BE49-F238E27FC236}">
                <a16:creationId xmlns:a16="http://schemas.microsoft.com/office/drawing/2014/main" id="{7565D719-965D-D210-8AFA-EC5825F04B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262" y="1172764"/>
            <a:ext cx="7817207" cy="456524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217997E-14A7-467E-4AF8-2DFB786A3FE8}"/>
              </a:ext>
            </a:extLst>
          </p:cNvPr>
          <p:cNvSpPr txBox="1"/>
          <p:nvPr/>
        </p:nvSpPr>
        <p:spPr>
          <a:xfrm>
            <a:off x="7774445" y="2233767"/>
            <a:ext cx="4272519" cy="2647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lang="en-US" sz="1100" b="1" dirty="0">
                <a:solidFill>
                  <a:srgbClr val="333333"/>
                </a:solidFill>
                <a:latin typeface="Arial"/>
              </a:rPr>
              <a:t>Baseline</a:t>
            </a:r>
            <a:r>
              <a:rPr lang="en-US" sz="1100" dirty="0">
                <a:solidFill>
                  <a:srgbClr val="333333"/>
                </a:solidFill>
                <a:latin typeface="Arial"/>
              </a:rPr>
              <a:t>: $234.0K of business would have occurred without the campaign and is excluded. Only movement vs. baseline is counted.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lang="en-US" sz="1100" b="1" dirty="0">
                <a:solidFill>
                  <a:srgbClr val="333333"/>
                </a:solidFill>
                <a:latin typeface="Arial"/>
              </a:rPr>
              <a:t>Sales Shift</a:t>
            </a:r>
            <a:r>
              <a:rPr lang="en-US" sz="1100" dirty="0">
                <a:solidFill>
                  <a:srgbClr val="333333"/>
                </a:solidFill>
                <a:latin typeface="Arial"/>
              </a:rPr>
              <a:t>: $30.5K of Vestal Pro revenue displaced Ultra Glide and Sense Ride sales, net of </a:t>
            </a:r>
            <a:r>
              <a:rPr lang="en-US" sz="1100" dirty="0" err="1">
                <a:solidFill>
                  <a:srgbClr val="333333"/>
                </a:solidFill>
                <a:latin typeface="Arial"/>
              </a:rPr>
              <a:t>Speedcross</a:t>
            </a:r>
            <a:r>
              <a:rPr lang="en-US" sz="1100" dirty="0">
                <a:solidFill>
                  <a:srgbClr val="333333"/>
                </a:solidFill>
                <a:latin typeface="Arial"/>
              </a:rPr>
              <a:t> gains (19–32% of Vestal Pro units).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lang="en-US" sz="1100" b="1" dirty="0">
                <a:solidFill>
                  <a:srgbClr val="333333"/>
                </a:solidFill>
                <a:latin typeface="Arial"/>
              </a:rPr>
              <a:t>Marketing</a:t>
            </a:r>
            <a:r>
              <a:rPr lang="en-US" sz="1100" dirty="0">
                <a:solidFill>
                  <a:srgbClr val="333333"/>
                </a:solidFill>
                <a:latin typeface="Arial"/>
              </a:rPr>
              <a:t>: $74.6K campaign spend less $31.6K baseline 20-day run rate → $43.0K additional spend.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lang="en-US" sz="1100" dirty="0">
                <a:solidFill>
                  <a:srgbClr val="333333"/>
                </a:solidFill>
                <a:latin typeface="Arial"/>
              </a:rPr>
              <a:t>	</a:t>
            </a:r>
            <a:r>
              <a:rPr lang="en-US" sz="1100" i="1" dirty="0">
                <a:solidFill>
                  <a:srgbClr val="333333"/>
                </a:solidFill>
                <a:latin typeface="Arial"/>
              </a:rPr>
              <a:t>** Paid investment is persistent (more on this…) **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lang="en-US" sz="1100" b="1" dirty="0">
                <a:solidFill>
                  <a:srgbClr val="333333"/>
                </a:solidFill>
                <a:latin typeface="Arial"/>
              </a:rPr>
              <a:t>Return on Marketing</a:t>
            </a:r>
            <a:r>
              <a:rPr lang="en-US" sz="1100" dirty="0">
                <a:solidFill>
                  <a:srgbClr val="333333"/>
                </a:solidFill>
                <a:latin typeface="Arial"/>
              </a:rPr>
              <a:t>: $77.5K ÷ $43.0K = 1.80× on a revenue basis.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lang="en-US" sz="1100" b="1" dirty="0">
                <a:solidFill>
                  <a:srgbClr val="333333"/>
                </a:solidFill>
                <a:latin typeface="Arial"/>
              </a:rPr>
              <a:t>Contribution Margin (CM3)</a:t>
            </a:r>
            <a:r>
              <a:rPr lang="en-US" sz="1100" dirty="0">
                <a:solidFill>
                  <a:srgbClr val="333333"/>
                </a:solidFill>
                <a:latin typeface="Arial"/>
              </a:rPr>
              <a:t>: After accounting for COGS and direct overhead, CM3 sit at $3.5K.</a:t>
            </a:r>
            <a:endParaRPr lang="en-US" sz="1100" b="0" i="0" dirty="0">
              <a:solidFill>
                <a:srgbClr val="333333"/>
              </a:solidFill>
              <a:latin typeface="Arial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FDE4B2E-FBA8-C266-0E27-5E9BF89C30B6}"/>
              </a:ext>
            </a:extLst>
          </p:cNvPr>
          <p:cNvCxnSpPr>
            <a:cxnSpLocks/>
          </p:cNvCxnSpPr>
          <p:nvPr/>
        </p:nvCxnSpPr>
        <p:spPr>
          <a:xfrm flipH="1">
            <a:off x="4168942" y="3778197"/>
            <a:ext cx="661737" cy="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CB29B8B-707A-5ED5-BC88-D4D5FAC23634}"/>
              </a:ext>
            </a:extLst>
          </p:cNvPr>
          <p:cNvSpPr txBox="1"/>
          <p:nvPr/>
        </p:nvSpPr>
        <p:spPr>
          <a:xfrm>
            <a:off x="4775970" y="3647392"/>
            <a:ext cx="20784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Persistent effect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E362A5B-97B9-4102-9411-46125E1F3F7A}"/>
              </a:ext>
            </a:extLst>
          </p:cNvPr>
          <p:cNvCxnSpPr>
            <a:cxnSpLocks/>
          </p:cNvCxnSpPr>
          <p:nvPr/>
        </p:nvCxnSpPr>
        <p:spPr>
          <a:xfrm flipH="1">
            <a:off x="4090865" y="2502569"/>
            <a:ext cx="51134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C213073-8F80-0566-7942-346C278D95C4}"/>
              </a:ext>
            </a:extLst>
          </p:cNvPr>
          <p:cNvSpPr txBox="1"/>
          <p:nvPr/>
        </p:nvSpPr>
        <p:spPr>
          <a:xfrm>
            <a:off x="4602207" y="2361606"/>
            <a:ext cx="114005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Primary Concern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232138-DFC6-EF7A-370B-04972780E333}"/>
              </a:ext>
            </a:extLst>
          </p:cNvPr>
          <p:cNvSpPr txBox="1"/>
          <p:nvPr/>
        </p:nvSpPr>
        <p:spPr>
          <a:xfrm>
            <a:off x="7774445" y="1911952"/>
            <a:ext cx="53949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dirty="0">
                <a:solidFill>
                  <a:srgbClr val="757575"/>
                </a:solidFill>
                <a:latin typeface="Arial"/>
              </a:rPr>
              <a:t>INCREMENTALITY BREAKDOWN</a:t>
            </a:r>
            <a:endParaRPr sz="1050" b="1" i="0" dirty="0">
              <a:solidFill>
                <a:srgbClr val="757575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54944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CANNIBALIZATION</a:t>
            </a:r>
            <a:r>
              <a:rPr lang="en-US" sz="1050" b="1" i="0" dirty="0">
                <a:solidFill>
                  <a:srgbClr val="757575"/>
                </a:solidFill>
                <a:latin typeface="Arial"/>
              </a:rPr>
              <a:t> BREAKDOWN</a:t>
            </a:r>
            <a:endParaRPr sz="1050" b="1" i="0" dirty="0">
              <a:solidFill>
                <a:srgbClr val="757575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 dirty="0">
                <a:solidFill>
                  <a:srgbClr val="000000"/>
                </a:solidFill>
                <a:latin typeface="Georgia"/>
              </a:rPr>
              <a:t>19–32% of Vestal Pro units shifted from existing shoes</a:t>
            </a:r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; exceeding </a:t>
            </a:r>
            <a:r>
              <a:rPr lang="en-US" sz="2300" dirty="0">
                <a:solidFill>
                  <a:srgbClr val="000000"/>
                </a:solidFill>
                <a:latin typeface="Georgia"/>
              </a:rPr>
              <a:t>10% threshold.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 readout · Unit baselines per franchise; range reflects </a:t>
            </a:r>
            <a:r>
              <a:rPr lang="en-US" sz="800" b="0" i="0" dirty="0">
                <a:solidFill>
                  <a:srgbClr val="757575"/>
                </a:solidFill>
                <a:latin typeface="Arial"/>
              </a:rPr>
              <a:t>baseline forecast uncertainty</a:t>
            </a:r>
            <a:endParaRPr sz="800" b="0" i="0" dirty="0">
              <a:solidFill>
                <a:srgbClr val="757575"/>
              </a:solidFill>
              <a:latin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8</a:t>
            </a:r>
          </a:p>
        </p:txBody>
      </p:sp>
      <p:pic>
        <p:nvPicPr>
          <p:cNvPr id="12" name="Picture 11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  <p:pic>
        <p:nvPicPr>
          <p:cNvPr id="16" name="Picture 15" descr="The image displays a chart comparing campaign-period unit changes to an expected baseline, showing a +2% increase, -15% decrease, and -26% decrease, with categories labeled as Ultra Glide, Sense Ride, and Speedcross.&#10;&#10;AI-generated content may be incorrect.">
            <a:extLst>
              <a:ext uri="{FF2B5EF4-FFF2-40B4-BE49-F238E27FC236}">
                <a16:creationId xmlns:a16="http://schemas.microsoft.com/office/drawing/2014/main" id="{BE3DF061-0D4F-724D-5B57-0E4889E12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88609"/>
            <a:ext cx="7214614" cy="428067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A3AA3B7-4504-7461-E05E-7A04EC99A85D}"/>
              </a:ext>
            </a:extLst>
          </p:cNvPr>
          <p:cNvSpPr txBox="1"/>
          <p:nvPr/>
        </p:nvSpPr>
        <p:spPr>
          <a:xfrm>
            <a:off x="7086600" y="1372249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757575"/>
                </a:solidFill>
                <a:latin typeface="Arial"/>
              </a:rPr>
              <a:t>OVERALL CANNIBALIZATION ESTIMATE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3EC008-E86B-BB1E-B68A-E0227EE13781}"/>
              </a:ext>
            </a:extLst>
          </p:cNvPr>
          <p:cNvSpPr txBox="1"/>
          <p:nvPr/>
        </p:nvSpPr>
        <p:spPr>
          <a:xfrm>
            <a:off x="7086600" y="1840512"/>
            <a:ext cx="4572000" cy="751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 dirty="0">
                <a:solidFill>
                  <a:srgbClr val="DA291C"/>
                </a:solidFill>
                <a:latin typeface="Arial"/>
              </a:rPr>
              <a:t>19–32%</a:t>
            </a:r>
            <a:endParaRPr sz="1300" b="0" i="0" dirty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150" b="0" i="0" dirty="0">
                <a:solidFill>
                  <a:srgbClr val="757575"/>
                </a:solidFill>
                <a:latin typeface="Arial"/>
              </a:rPr>
              <a:t>Goal &lt; </a:t>
            </a:r>
            <a:r>
              <a:rPr lang="en-US" sz="1150" b="0" i="0" dirty="0">
                <a:solidFill>
                  <a:srgbClr val="757575"/>
                </a:solidFill>
                <a:latin typeface="Arial"/>
              </a:rPr>
              <a:t>10</a:t>
            </a:r>
            <a:r>
              <a:rPr sz="1150" b="0" i="0" dirty="0">
                <a:solidFill>
                  <a:srgbClr val="757575"/>
                </a:solidFill>
                <a:latin typeface="Arial"/>
              </a:rPr>
              <a:t>% · </a:t>
            </a:r>
            <a:r>
              <a:rPr sz="1150" b="1" i="0" dirty="0">
                <a:solidFill>
                  <a:schemeClr val="accent1"/>
                </a:solidFill>
                <a:latin typeface="Arial"/>
              </a:rPr>
              <a:t>WATCH</a:t>
            </a:r>
            <a:endParaRPr sz="1150" b="0" i="0" dirty="0">
              <a:solidFill>
                <a:srgbClr val="757575"/>
              </a:solidFill>
              <a:latin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9A2D8F-D114-4311-F64E-C1212D5B5A9F}"/>
              </a:ext>
            </a:extLst>
          </p:cNvPr>
          <p:cNvSpPr txBox="1"/>
          <p:nvPr/>
        </p:nvSpPr>
        <p:spPr>
          <a:xfrm>
            <a:off x="8737707" y="1930997"/>
            <a:ext cx="228081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333333"/>
                </a:solidFill>
                <a:latin typeface="Arial"/>
              </a:rPr>
              <a:t>of Vestal Pro units cannibalized existing portfolio</a:t>
            </a:r>
            <a:endParaRPr lang="en-US" sz="11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1642DC-B5C0-3D18-ECD9-49E05A17835B}"/>
              </a:ext>
            </a:extLst>
          </p:cNvPr>
          <p:cNvSpPr txBox="1"/>
          <p:nvPr/>
        </p:nvSpPr>
        <p:spPr>
          <a:xfrm>
            <a:off x="7086600" y="2863959"/>
            <a:ext cx="4572000" cy="19799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 dirty="0">
                <a:solidFill>
                  <a:srgbClr val="333333"/>
                </a:solidFill>
                <a:latin typeface="Arial"/>
              </a:rPr>
              <a:t>•  The three baseline estimates are 19%, 28%, and 32%, with a median of 28%.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 dirty="0">
                <a:solidFill>
                  <a:srgbClr val="333333"/>
                </a:solidFill>
                <a:latin typeface="Arial"/>
              </a:rPr>
              <a:t>•  </a:t>
            </a:r>
            <a:r>
              <a:rPr sz="1150" b="1" i="0" dirty="0">
                <a:solidFill>
                  <a:srgbClr val="333333"/>
                </a:solidFill>
                <a:latin typeface="Arial"/>
              </a:rPr>
              <a:t>$30.5K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 of existing-shoe revenue was displaced </a:t>
            </a:r>
            <a:r>
              <a:rPr lang="en-US" sz="1150" dirty="0">
                <a:solidFill>
                  <a:srgbClr val="333333"/>
                </a:solidFill>
                <a:latin typeface="Arial"/>
              </a:rPr>
              <a:t>by 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about </a:t>
            </a:r>
            <a:r>
              <a:rPr sz="1150" b="1" i="0" dirty="0">
                <a:solidFill>
                  <a:srgbClr val="333333"/>
                </a:solidFill>
                <a:latin typeface="Arial"/>
              </a:rPr>
              <a:t>31% 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of Vestal Pro's $99.8K direct revenue.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 dirty="0">
                <a:solidFill>
                  <a:srgbClr val="333333"/>
                </a:solidFill>
                <a:latin typeface="Arial"/>
              </a:rPr>
              <a:t>•  </a:t>
            </a:r>
            <a:r>
              <a:rPr lang="en-US" sz="1150" b="0" i="0" dirty="0">
                <a:solidFill>
                  <a:srgbClr val="333333"/>
                </a:solidFill>
                <a:latin typeface="Arial"/>
              </a:rPr>
              <a:t>Sales shift is concentrated where product 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positioning overlaps</a:t>
            </a:r>
            <a:r>
              <a:rPr lang="en-US" sz="1150" dirty="0">
                <a:solidFill>
                  <a:srgbClr val="333333"/>
                </a:solidFill>
                <a:latin typeface="Arial"/>
              </a:rPr>
              <a:t>. </a:t>
            </a:r>
            <a:endParaRPr lang="en-US" sz="1150" b="0" i="0" dirty="0">
              <a:solidFill>
                <a:srgbClr val="333333"/>
              </a:solidFill>
              <a:latin typeface="Arial"/>
            </a:endParaRP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lang="en-US" sz="1150" b="0" i="0" dirty="0">
                <a:solidFill>
                  <a:srgbClr val="333333"/>
                </a:solidFill>
                <a:latin typeface="Arial"/>
              </a:rPr>
              <a:t>•  The launch remains net positive: +$69.3K in additional footwear revenue after the shift.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lang="en-US" sz="1150" dirty="0">
                <a:solidFill>
                  <a:srgbClr val="333333"/>
                </a:solidFill>
                <a:latin typeface="Arial"/>
              </a:rPr>
              <a:t>• </a:t>
            </a:r>
            <a:r>
              <a:rPr lang="en-US" sz="1150" dirty="0" err="1">
                <a:solidFill>
                  <a:srgbClr val="333333"/>
                </a:solidFill>
                <a:latin typeface="Arial"/>
              </a:rPr>
              <a:t>Speedcross</a:t>
            </a:r>
            <a:r>
              <a:rPr lang="en-US" sz="1150" dirty="0">
                <a:solidFill>
                  <a:srgbClr val="333333"/>
                </a:solidFill>
                <a:latin typeface="Arial"/>
              </a:rPr>
              <a:t> displacement is insignificant.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FE3D2DA-5796-3584-EDB3-ED2796F107D6}"/>
              </a:ext>
            </a:extLst>
          </p:cNvPr>
          <p:cNvSpPr txBox="1"/>
          <p:nvPr/>
        </p:nvSpPr>
        <p:spPr>
          <a:xfrm>
            <a:off x="7086600" y="5293372"/>
            <a:ext cx="45720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100" b="1" i="1" dirty="0">
                <a:solidFill>
                  <a:schemeClr val="accent6">
                    <a:lumMod val="75000"/>
                  </a:schemeClr>
                </a:solidFill>
                <a:latin typeface="Arial"/>
              </a:rPr>
              <a:t>MANAGE</a:t>
            </a:r>
            <a:r>
              <a:rPr lang="en-US" sz="1100" b="1" i="1" dirty="0">
                <a:latin typeface="Arial"/>
              </a:rPr>
              <a:t> </a:t>
            </a:r>
            <a:r>
              <a:rPr lang="en-US" sz="1100" i="1" dirty="0">
                <a:latin typeface="Arial"/>
              </a:rPr>
              <a:t>franchise shift with merchandising that reduces head-to-head substitution. </a:t>
            </a:r>
            <a:endParaRPr sz="1100" i="1" dirty="0"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CUSTOMER ACQUISITION</a:t>
            </a:r>
            <a:r>
              <a:rPr lang="en-US" sz="1050" b="1" i="0" dirty="0">
                <a:solidFill>
                  <a:srgbClr val="757575"/>
                </a:solidFill>
                <a:latin typeface="Arial"/>
              </a:rPr>
              <a:t> AND LTV</a:t>
            </a:r>
            <a:endParaRPr sz="1050" b="1" i="0" dirty="0">
              <a:solidFill>
                <a:srgbClr val="757575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 dirty="0">
                <a:solidFill>
                  <a:srgbClr val="000000"/>
                </a:solidFill>
                <a:latin typeface="Georgia"/>
              </a:rPr>
              <a:t>4</a:t>
            </a:r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0</a:t>
            </a:r>
            <a:r>
              <a:rPr sz="2300" b="0" i="0" dirty="0">
                <a:solidFill>
                  <a:srgbClr val="000000"/>
                </a:solidFill>
                <a:latin typeface="Georgia"/>
              </a:rPr>
              <a:t>% of Vestal Pro </a:t>
            </a:r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buyers</a:t>
            </a:r>
            <a:r>
              <a:rPr sz="2300" b="0" i="0" dirty="0">
                <a:solidFill>
                  <a:srgbClr val="000000"/>
                </a:solidFill>
                <a:latin typeface="Georgia"/>
              </a:rPr>
              <a:t> were new to Salomon</a:t>
            </a:r>
            <a:r>
              <a:rPr lang="en-US" sz="2300" dirty="0">
                <a:solidFill>
                  <a:srgbClr val="000000"/>
                </a:solidFill>
                <a:latin typeface="Georgia"/>
              </a:rPr>
              <a:t>. A</a:t>
            </a:r>
            <a:r>
              <a:rPr sz="2300" b="0" i="0" dirty="0">
                <a:solidFill>
                  <a:srgbClr val="000000"/>
                </a:solidFill>
                <a:latin typeface="Georgia"/>
              </a:rPr>
              <a:t>cquired at half early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481328"/>
            <a:ext cx="34747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757575"/>
                </a:solidFill>
                <a:latin typeface="Arial"/>
              </a:rPr>
              <a:t>ACQUISITION</a:t>
            </a:r>
            <a:r>
              <a:rPr lang="en-US" sz="1000" b="1" i="0" dirty="0">
                <a:solidFill>
                  <a:srgbClr val="757575"/>
                </a:solidFill>
                <a:latin typeface="Arial"/>
              </a:rPr>
              <a:t> METRICS</a:t>
            </a:r>
            <a:endParaRPr sz="1000" b="1" i="0" dirty="0">
              <a:solidFill>
                <a:srgbClr val="757575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343400" y="1847088"/>
            <a:ext cx="3474720" cy="5103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100" b="1" i="0" dirty="0">
                <a:solidFill>
                  <a:srgbClr val="333333"/>
                </a:solidFill>
                <a:latin typeface="Arial"/>
              </a:rPr>
              <a:t>$10</a:t>
            </a:r>
            <a:r>
              <a:rPr lang="en-US" sz="2100" b="1" i="0" dirty="0">
                <a:solidFill>
                  <a:srgbClr val="333333"/>
                </a:solidFill>
                <a:latin typeface="Arial"/>
              </a:rPr>
              <a:t>2</a:t>
            </a:r>
            <a:r>
              <a:rPr sz="2100" b="1" i="0" dirty="0">
                <a:solidFill>
                  <a:srgbClr val="333333"/>
                </a:solidFill>
                <a:latin typeface="Arial"/>
              </a:rPr>
              <a:t>   </a:t>
            </a:r>
            <a:r>
              <a:rPr sz="1200" b="1" i="0" dirty="0">
                <a:solidFill>
                  <a:srgbClr val="333333"/>
                </a:solidFill>
                <a:latin typeface="Arial"/>
              </a:rPr>
              <a:t>Blended CAC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 dirty="0">
                <a:solidFill>
                  <a:srgbClr val="757575"/>
                </a:solidFill>
                <a:latin typeface="Arial"/>
              </a:rPr>
              <a:t>$155.8K spend ÷ </a:t>
            </a:r>
            <a:r>
              <a:rPr lang="en-US" sz="1050" b="0" i="0" dirty="0">
                <a:solidFill>
                  <a:srgbClr val="757575"/>
                </a:solidFill>
                <a:latin typeface="Arial"/>
              </a:rPr>
              <a:t>730 </a:t>
            </a:r>
            <a:r>
              <a:rPr sz="1050" b="0" i="0" dirty="0">
                <a:solidFill>
                  <a:srgbClr val="757575"/>
                </a:solidFill>
                <a:latin typeface="Arial"/>
              </a:rPr>
              <a:t>new customers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834640"/>
            <a:ext cx="3474720" cy="5103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100" b="1" i="0" dirty="0">
                <a:solidFill>
                  <a:srgbClr val="333333"/>
                </a:solidFill>
                <a:latin typeface="Arial"/>
              </a:rPr>
              <a:t>$1</a:t>
            </a:r>
            <a:r>
              <a:rPr lang="en-US" sz="2100" b="1" i="0" dirty="0">
                <a:solidFill>
                  <a:srgbClr val="333333"/>
                </a:solidFill>
                <a:latin typeface="Arial"/>
              </a:rPr>
              <a:t>29</a:t>
            </a:r>
            <a:r>
              <a:rPr sz="2100" b="1" i="0" dirty="0">
                <a:solidFill>
                  <a:srgbClr val="333333"/>
                </a:solidFill>
                <a:latin typeface="Arial"/>
              </a:rPr>
              <a:t>   </a:t>
            </a:r>
            <a:r>
              <a:rPr sz="1200" b="1" i="0" dirty="0">
                <a:solidFill>
                  <a:srgbClr val="333333"/>
                </a:solidFill>
                <a:latin typeface="Arial"/>
              </a:rPr>
              <a:t>First-order value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 dirty="0">
                <a:solidFill>
                  <a:srgbClr val="757575"/>
                </a:solidFill>
                <a:latin typeface="Arial"/>
              </a:rPr>
              <a:t>average first basket, new 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822191"/>
            <a:ext cx="3474720" cy="5103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100" b="1" i="0" dirty="0">
                <a:solidFill>
                  <a:srgbClr val="0057B8"/>
                </a:solidFill>
                <a:latin typeface="Arial"/>
              </a:rPr>
              <a:t>$</a:t>
            </a:r>
            <a:r>
              <a:rPr lang="en-US" sz="2100" b="1" i="0" dirty="0">
                <a:solidFill>
                  <a:srgbClr val="0057B8"/>
                </a:solidFill>
                <a:latin typeface="Arial"/>
              </a:rPr>
              <a:t>188</a:t>
            </a:r>
            <a:r>
              <a:rPr sz="2100" b="1" i="0" dirty="0">
                <a:solidFill>
                  <a:srgbClr val="0057B8"/>
                </a:solidFill>
                <a:latin typeface="Arial"/>
              </a:rPr>
              <a:t>   </a:t>
            </a:r>
            <a:r>
              <a:rPr sz="1200" b="1" i="0" dirty="0">
                <a:solidFill>
                  <a:srgbClr val="333333"/>
                </a:solidFill>
                <a:latin typeface="Arial"/>
              </a:rPr>
              <a:t>Early customer value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 dirty="0">
                <a:solidFill>
                  <a:srgbClr val="757575"/>
                </a:solidFill>
                <a:latin typeface="Arial"/>
              </a:rPr>
              <a:t>revenue through </a:t>
            </a:r>
            <a:r>
              <a:rPr lang="en-US" sz="1050" b="0" i="0" dirty="0">
                <a:solidFill>
                  <a:srgbClr val="757575"/>
                </a:solidFill>
                <a:latin typeface="Arial"/>
              </a:rPr>
              <a:t>June 20</a:t>
            </a:r>
            <a:r>
              <a:rPr sz="1050" b="0" i="0" dirty="0">
                <a:solidFill>
                  <a:srgbClr val="757575"/>
                </a:solidFill>
                <a:latin typeface="Arial"/>
              </a:rPr>
              <a:t> · </a:t>
            </a:r>
            <a:r>
              <a:rPr lang="en-US" sz="1050" b="0" i="0" dirty="0">
                <a:solidFill>
                  <a:srgbClr val="757575"/>
                </a:solidFill>
                <a:latin typeface="Arial"/>
              </a:rPr>
              <a:t>1.8</a:t>
            </a:r>
            <a:r>
              <a:rPr sz="1050" b="0" i="0" dirty="0">
                <a:solidFill>
                  <a:srgbClr val="757575"/>
                </a:solidFill>
                <a:latin typeface="Arial"/>
              </a:rPr>
              <a:t>× CAC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4809744"/>
            <a:ext cx="3474720" cy="5103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lang="en-US" sz="2100" b="1" dirty="0">
                <a:solidFill>
                  <a:srgbClr val="333333"/>
                </a:solidFill>
                <a:latin typeface="Arial"/>
              </a:rPr>
              <a:t>28.1</a:t>
            </a:r>
            <a:r>
              <a:rPr sz="2100" b="1" i="0" dirty="0">
                <a:solidFill>
                  <a:srgbClr val="333333"/>
                </a:solidFill>
                <a:latin typeface="Arial"/>
              </a:rPr>
              <a:t>%   </a:t>
            </a:r>
            <a:r>
              <a:rPr sz="1200" b="1" i="0" dirty="0">
                <a:solidFill>
                  <a:srgbClr val="333333"/>
                </a:solidFill>
                <a:latin typeface="Arial"/>
              </a:rPr>
              <a:t>Post-period repeat rate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 dirty="0">
                <a:solidFill>
                  <a:srgbClr val="757575"/>
                </a:solidFill>
                <a:latin typeface="Arial"/>
              </a:rPr>
              <a:t>repurchased within 4 weeks of </a:t>
            </a:r>
            <a:r>
              <a:rPr lang="en-US" sz="1050" b="0" i="0" dirty="0">
                <a:solidFill>
                  <a:srgbClr val="757575"/>
                </a:solidFill>
                <a:latin typeface="Arial"/>
              </a:rPr>
              <a:t>initial purchase</a:t>
            </a:r>
            <a:endParaRPr sz="1050" b="0" i="0" dirty="0">
              <a:solidFill>
                <a:srgbClr val="757575"/>
              </a:solidFill>
              <a:latin typeface="Ari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183879" y="5074920"/>
            <a:ext cx="3520440" cy="7493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lang="en-US" sz="1050" dirty="0">
                <a:solidFill>
                  <a:schemeClr val="tx2">
                    <a:lumMod val="50000"/>
                    <a:lumOff val="50000"/>
                  </a:schemeClr>
                </a:solidFill>
                <a:latin typeface="Arial"/>
              </a:rPr>
              <a:t>1,361 email and 678 SMS adds during the 20-day campaign.</a:t>
            </a:r>
            <a:endParaRPr sz="1050" b="0" i="0" dirty="0">
              <a:solidFill>
                <a:schemeClr val="tx2">
                  <a:lumMod val="50000"/>
                  <a:lumOff val="50000"/>
                </a:schemeClr>
              </a:solidFill>
              <a:latin typeface="Arial"/>
            </a:endParaRP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lang="en-US" sz="1050" dirty="0">
                <a:solidFill>
                  <a:schemeClr val="tx2">
                    <a:lumMod val="50000"/>
                    <a:lumOff val="50000"/>
                  </a:schemeClr>
                </a:solidFill>
                <a:latin typeface="Arial"/>
              </a:rPr>
              <a:t>New Vestal Pro buyers opt in at 72% email / 40% SMS, vs 51% / 24% for existing buyers.</a:t>
            </a:r>
            <a:endParaRPr sz="1050" b="0" i="0" dirty="0">
              <a:solidFill>
                <a:schemeClr val="tx2">
                  <a:lumMod val="50000"/>
                  <a:lumOff val="50000"/>
                </a:schemeClr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 readout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7</a:t>
            </a:r>
          </a:p>
        </p:txBody>
      </p:sp>
      <p:pic>
        <p:nvPicPr>
          <p:cNvPr id="19" name="Picture 18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  <p:pic>
        <p:nvPicPr>
          <p:cNvPr id="21" name="Picture 20" descr="The image displays a pie chart indicating that 25% of Vestal Pro buyers choose to pass, with new Salomon products being more popular at 268 and existing products at 399.&#10;&#10;AI-generated content may be incorrect.">
            <a:extLst>
              <a:ext uri="{FF2B5EF4-FFF2-40B4-BE49-F238E27FC236}">
                <a16:creationId xmlns:a16="http://schemas.microsoft.com/office/drawing/2014/main" id="{EDD06685-1F8D-CD67-638F-B32B434A1A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408656"/>
            <a:ext cx="4313947" cy="3805518"/>
          </a:xfrm>
          <a:prstGeom prst="rect">
            <a:avLst/>
          </a:prstGeom>
        </p:spPr>
      </p:pic>
      <p:pic>
        <p:nvPicPr>
          <p:cNvPr id="23" name="Picture 22" descr="The diagram illustrates an increasing trend in daily database additions, with percentages rising from +35% to +37% and a significant increase in email activity, contrasted with a smaller growth in SMS engagement.&#10;&#10;AI-generated content may be incorrect.">
            <a:extLst>
              <a:ext uri="{FF2B5EF4-FFF2-40B4-BE49-F238E27FC236}">
                <a16:creationId xmlns:a16="http://schemas.microsoft.com/office/drawing/2014/main" id="{8A7433B0-14CE-40AB-7678-59C5DDFC7F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4277" y="1481327"/>
            <a:ext cx="4530844" cy="34972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9F1A2-49D4-AE4A-1D0A-23C7A2254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AF255B-BC9F-3F24-461F-7B00C6BE6B54}"/>
              </a:ext>
            </a:extLst>
          </p:cNvPr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CUSTOMER ACQUISITION</a:t>
            </a:r>
            <a:r>
              <a:rPr lang="en-US" sz="1050" b="1" i="0" dirty="0">
                <a:solidFill>
                  <a:srgbClr val="757575"/>
                </a:solidFill>
                <a:latin typeface="Arial"/>
              </a:rPr>
              <a:t> AND LTV</a:t>
            </a:r>
            <a:endParaRPr sz="1050" b="1" i="0" dirty="0">
              <a:solidFill>
                <a:srgbClr val="757575"/>
              </a:solidFill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3D5D81-D5F6-4AAE-1E2A-8080FB2F4082}"/>
              </a:ext>
            </a:extLst>
          </p:cNvPr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Projected 24-month value of ~$387 per new customer; 3.8× acquisition cost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7D67C6-323C-82EF-4AC6-94AA08868144}"/>
              </a:ext>
            </a:extLst>
          </p:cNvPr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 readout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3D1226-9BE7-41CB-399A-C53415DF9AB7}"/>
              </a:ext>
            </a:extLst>
          </p:cNvPr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7</a:t>
            </a:r>
          </a:p>
        </p:txBody>
      </p:sp>
      <p:pic>
        <p:nvPicPr>
          <p:cNvPr id="19" name="Picture 18" descr="salomon_wordmark_black.png">
            <a:extLst>
              <a:ext uri="{FF2B5EF4-FFF2-40B4-BE49-F238E27FC236}">
                <a16:creationId xmlns:a16="http://schemas.microsoft.com/office/drawing/2014/main" id="{C54FDC2E-F88A-4793-C382-698F26484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  <p:pic>
        <p:nvPicPr>
          <p:cNvPr id="5" name="Picture 4" descr="The diagram illustrates the projected and actual customer lifetime values, including the first order, blended customer acquisition cost (CAC), and the cumulative value per customer over time.&#10;&#10;AI-generated content may be incorrect.">
            <a:extLst>
              <a:ext uri="{FF2B5EF4-FFF2-40B4-BE49-F238E27FC236}">
                <a16:creationId xmlns:a16="http://schemas.microsoft.com/office/drawing/2014/main" id="{4BADB25B-6C91-F75F-9BCD-A697A8C859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19" y="1834765"/>
            <a:ext cx="6484213" cy="4023537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79F3486-0308-AEA3-B6CD-45160B32CA97}"/>
              </a:ext>
            </a:extLst>
          </p:cNvPr>
          <p:cNvCxnSpPr/>
          <p:nvPr/>
        </p:nvCxnSpPr>
        <p:spPr>
          <a:xfrm>
            <a:off x="5877289" y="2135926"/>
            <a:ext cx="0" cy="425789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AED6645-9556-3AB4-7674-3147830657AB}"/>
              </a:ext>
            </a:extLst>
          </p:cNvPr>
          <p:cNvSpPr txBox="1"/>
          <p:nvPr/>
        </p:nvSpPr>
        <p:spPr>
          <a:xfrm>
            <a:off x="5065149" y="1916665"/>
            <a:ext cx="17799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2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Prior CLV cohort analysis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AA0C35-1420-E2C8-050C-10BB01FA0712}"/>
              </a:ext>
            </a:extLst>
          </p:cNvPr>
          <p:cNvSpPr txBox="1"/>
          <p:nvPr/>
        </p:nvSpPr>
        <p:spPr>
          <a:xfrm>
            <a:off x="7909069" y="2444115"/>
            <a:ext cx="3589511" cy="19697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Arial"/>
              </a:rPr>
              <a:t>•  </a:t>
            </a:r>
            <a:r>
              <a:rPr lang="en-US" sz="12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rial"/>
              </a:rPr>
              <a:t>LTV Forecast of $387/customer </a:t>
            </a: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Arial"/>
              </a:rPr>
              <a:t>at 24 months (3.8x CAC) based on prior CLV cohort analysis.</a:t>
            </a:r>
          </a:p>
          <a:p>
            <a:pPr>
              <a:spcAft>
                <a:spcPts val="600"/>
              </a:spcAft>
            </a:pPr>
            <a:endParaRPr lang="en-US" sz="1200" dirty="0">
              <a:solidFill>
                <a:schemeClr val="tx2">
                  <a:lumMod val="75000"/>
                  <a:lumOff val="25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Arial"/>
              </a:rPr>
              <a:t>• </a:t>
            </a:r>
            <a:r>
              <a:rPr lang="en-US" sz="12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rial"/>
              </a:rPr>
              <a:t>Value is front-loaded: </a:t>
            </a: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Arial"/>
              </a:rPr>
              <a:t>We will see most of the LTV within the first 12 months (Roughly 86% accrues within the first year).</a:t>
            </a:r>
          </a:p>
          <a:p>
            <a:pPr>
              <a:spcAft>
                <a:spcPts val="600"/>
              </a:spcAft>
            </a:pPr>
            <a:endParaRPr lang="en-US" sz="1200" dirty="0">
              <a:solidFill>
                <a:schemeClr val="tx2">
                  <a:lumMod val="75000"/>
                  <a:lumOff val="25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Arial"/>
              </a:rPr>
              <a:t>• Currently </a:t>
            </a:r>
            <a:r>
              <a:rPr lang="en-US" sz="12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rial"/>
              </a:rPr>
              <a:t>outperforming </a:t>
            </a:r>
            <a:r>
              <a:rPr 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Arial"/>
              </a:rPr>
              <a:t>LTV forecast at $188 after 4 weeks (1.8x CAC)</a:t>
            </a:r>
            <a:endParaRPr lang="en-US" sz="1200" dirty="0">
              <a:latin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64A273-82C4-4482-7C3F-54AA497D6B79}"/>
              </a:ext>
            </a:extLst>
          </p:cNvPr>
          <p:cNvSpPr txBox="1"/>
          <p:nvPr/>
        </p:nvSpPr>
        <p:spPr>
          <a:xfrm>
            <a:off x="7909069" y="2016692"/>
            <a:ext cx="53949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757575"/>
                </a:solidFill>
                <a:latin typeface="Arial"/>
              </a:rPr>
              <a:t>LIFETIME VALUE FORECAST</a:t>
            </a:r>
            <a:endParaRPr sz="1050" b="1" i="0" dirty="0">
              <a:solidFill>
                <a:srgbClr val="757575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8815086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The image shows a bar chart comparing actual revenue growth for adjacent categories (Adjacent-category revenue vs. expected baseline) in an active flight segment, with Trail Apparel and Trail Accessories, where the success criterion of a minimum 5% growth has been met, indicating significant positive results.&#10;&#10;AI-generated content may be incorrect.">
            <a:extLst>
              <a:ext uri="{FF2B5EF4-FFF2-40B4-BE49-F238E27FC236}">
                <a16:creationId xmlns:a16="http://schemas.microsoft.com/office/drawing/2014/main" id="{4A335441-E4DE-8121-4407-C74C03AA7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308688"/>
            <a:ext cx="6832397" cy="4081459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HALO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 dirty="0">
                <a:solidFill>
                  <a:srgbClr val="000000"/>
                </a:solidFill>
                <a:latin typeface="Georgia"/>
              </a:rPr>
              <a:t>Adjacent categories lifted +</a:t>
            </a:r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20</a:t>
            </a:r>
            <a:r>
              <a:rPr sz="2300" b="0" i="0" dirty="0">
                <a:solidFill>
                  <a:srgbClr val="000000"/>
                </a:solidFill>
                <a:latin typeface="Georgia"/>
              </a:rPr>
              <a:t>%</a:t>
            </a:r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 driven by larger Vestal Pro carts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86600" y="135560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757575"/>
                </a:solidFill>
                <a:latin typeface="Arial"/>
              </a:rPr>
              <a:t>ATTACH RATE TO VESTAL PRO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1752361"/>
            <a:ext cx="4572000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400" b="1" dirty="0">
                <a:solidFill>
                  <a:srgbClr val="333333"/>
                </a:solidFill>
                <a:latin typeface="Arial"/>
              </a:rPr>
              <a:t>21</a:t>
            </a:r>
            <a:r>
              <a:rPr sz="3400" b="1" i="0" dirty="0">
                <a:solidFill>
                  <a:srgbClr val="333333"/>
                </a:solidFill>
                <a:latin typeface="Arial"/>
              </a:rPr>
              <a:t>.</a:t>
            </a:r>
            <a:r>
              <a:rPr lang="en-US" sz="3400" b="1" i="0" dirty="0">
                <a:solidFill>
                  <a:srgbClr val="333333"/>
                </a:solidFill>
                <a:latin typeface="Arial"/>
              </a:rPr>
              <a:t>6</a:t>
            </a:r>
            <a:r>
              <a:rPr sz="3400" b="1" i="0" dirty="0">
                <a:solidFill>
                  <a:srgbClr val="333333"/>
                </a:solidFill>
                <a:latin typeface="Arial"/>
              </a:rPr>
              <a:t>%</a:t>
            </a:r>
            <a:r>
              <a:rPr sz="1300" b="0" i="0" dirty="0">
                <a:solidFill>
                  <a:srgbClr val="757575"/>
                </a:solidFill>
                <a:latin typeface="Arial"/>
              </a:rPr>
              <a:t>   </a:t>
            </a:r>
            <a:r>
              <a:rPr lang="en-US" sz="1300" b="0" i="0" dirty="0">
                <a:solidFill>
                  <a:srgbClr val="757575"/>
                </a:solidFill>
                <a:latin typeface="Arial"/>
              </a:rPr>
              <a:t>+4.1ppts</a:t>
            </a:r>
            <a:r>
              <a:rPr sz="1300" b="0" i="0" dirty="0">
                <a:solidFill>
                  <a:srgbClr val="757575"/>
                </a:solidFill>
                <a:latin typeface="Arial"/>
              </a:rPr>
              <a:t> vs </a:t>
            </a:r>
            <a:r>
              <a:rPr lang="en-US" sz="1300" b="0" i="0" dirty="0">
                <a:solidFill>
                  <a:srgbClr val="757575"/>
                </a:solidFill>
                <a:latin typeface="Arial"/>
              </a:rPr>
              <a:t>17.5</a:t>
            </a:r>
            <a:r>
              <a:rPr sz="1300" b="0" i="0" dirty="0">
                <a:solidFill>
                  <a:srgbClr val="757575"/>
                </a:solidFill>
                <a:latin typeface="Arial"/>
              </a:rPr>
              <a:t>% </a:t>
            </a:r>
            <a:r>
              <a:rPr lang="en-US" sz="1300" b="0" i="0" dirty="0">
                <a:solidFill>
                  <a:srgbClr val="757575"/>
                </a:solidFill>
                <a:latin typeface="Arial"/>
              </a:rPr>
              <a:t>historical average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9873" y="3158502"/>
            <a:ext cx="4572000" cy="13783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 dirty="0">
                <a:solidFill>
                  <a:srgbClr val="333333"/>
                </a:solidFill>
                <a:latin typeface="Arial"/>
              </a:rPr>
              <a:t>•  </a:t>
            </a:r>
            <a:r>
              <a:rPr lang="en-US" sz="1150" b="0" i="0" dirty="0">
                <a:solidFill>
                  <a:srgbClr val="333333"/>
                </a:solidFill>
                <a:latin typeface="Arial"/>
              </a:rPr>
              <a:t>Halo effect realized mostly through larger Vestal Pro carts. New buyers attached accessories at a higher rate. Standalone adjacent demand up only 1%. </a:t>
            </a:r>
            <a:endParaRPr sz="1150" b="0" i="0" dirty="0">
              <a:solidFill>
                <a:srgbClr val="333333"/>
              </a:solidFill>
              <a:latin typeface="Arial"/>
            </a:endParaRP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 dirty="0">
                <a:solidFill>
                  <a:srgbClr val="333333"/>
                </a:solidFill>
                <a:latin typeface="Arial"/>
              </a:rPr>
              <a:t>•  Accessories led (+</a:t>
            </a:r>
            <a:r>
              <a:rPr lang="en-US" sz="1150" b="0" i="0" dirty="0">
                <a:solidFill>
                  <a:srgbClr val="333333"/>
                </a:solidFill>
                <a:latin typeface="Arial"/>
              </a:rPr>
              <a:t>2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6.</a:t>
            </a:r>
            <a:r>
              <a:rPr lang="en-US" sz="1150" dirty="0">
                <a:solidFill>
                  <a:srgbClr val="333333"/>
                </a:solidFill>
                <a:latin typeface="Arial"/>
              </a:rPr>
              <a:t>5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%); apparel followed (+</a:t>
            </a:r>
            <a:r>
              <a:rPr lang="en-US" sz="1150" b="0" i="0" dirty="0">
                <a:solidFill>
                  <a:srgbClr val="333333"/>
                </a:solidFill>
                <a:latin typeface="Arial"/>
              </a:rPr>
              <a:t>17.4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%). Other </a:t>
            </a:r>
            <a:r>
              <a:rPr lang="en-US" sz="1150" b="0" i="0" dirty="0">
                <a:solidFill>
                  <a:srgbClr val="333333"/>
                </a:solidFill>
                <a:latin typeface="Arial"/>
              </a:rPr>
              <a:t>adjacent categories lifted at 20.3%</a:t>
            </a:r>
            <a:endParaRPr sz="1150" b="0" i="0" dirty="0">
              <a:solidFill>
                <a:srgbClr val="333333"/>
              </a:solidFill>
              <a:latin typeface="Arial"/>
            </a:endParaRP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 dirty="0">
                <a:solidFill>
                  <a:srgbClr val="333333"/>
                </a:solidFill>
                <a:latin typeface="Arial"/>
              </a:rPr>
              <a:t>•  </a:t>
            </a:r>
            <a:r>
              <a:rPr sz="1150" b="1" i="0" dirty="0">
                <a:solidFill>
                  <a:srgbClr val="333333"/>
                </a:solidFill>
                <a:latin typeface="Arial"/>
              </a:rPr>
              <a:t>Opportunity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: </a:t>
            </a:r>
            <a:endParaRPr lang="en-US" sz="115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 readout · Baseline: pre-period trend + weekly seasonality per category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9</a:t>
            </a:r>
          </a:p>
        </p:txBody>
      </p:sp>
      <p:pic>
        <p:nvPicPr>
          <p:cNvPr id="12" name="Picture 11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F40CD73-0872-1A2D-8929-3A1EC9B9F84C}"/>
              </a:ext>
            </a:extLst>
          </p:cNvPr>
          <p:cNvSpPr txBox="1"/>
          <p:nvPr/>
        </p:nvSpPr>
        <p:spPr>
          <a:xfrm>
            <a:off x="7380662" y="4615964"/>
            <a:ext cx="4117918" cy="14707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lang="en-US" sz="1150" b="1" dirty="0">
                <a:solidFill>
                  <a:srgbClr val="333333"/>
                </a:solidFill>
                <a:latin typeface="Arial"/>
              </a:rPr>
              <a:t>PDP bundles </a:t>
            </a:r>
            <a:r>
              <a:rPr lang="en-US" sz="1150" dirty="0">
                <a:solidFill>
                  <a:srgbClr val="333333"/>
                </a:solidFill>
                <a:latin typeface="Arial"/>
              </a:rPr>
              <a:t>(socks, jerseys, hydration) and enhanced item-item recommendation systems to support ancillary products.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lang="en-US" sz="1150" b="1" dirty="0">
                <a:solidFill>
                  <a:srgbClr val="333333"/>
                </a:solidFill>
                <a:latin typeface="Arial"/>
              </a:rPr>
              <a:t>Email &amp; CRM </a:t>
            </a:r>
            <a:r>
              <a:rPr lang="en-US" sz="1150" dirty="0">
                <a:solidFill>
                  <a:srgbClr val="333333"/>
                </a:solidFill>
                <a:latin typeface="Arial"/>
              </a:rPr>
              <a:t>messaging to Vestal Pro customers supporting frequent follow-up purchase products.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lang="en-US" sz="1150" dirty="0">
                <a:solidFill>
                  <a:srgbClr val="333333"/>
                </a:solidFill>
                <a:latin typeface="Arial"/>
              </a:rPr>
              <a:t>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D3317A-960A-E670-34EC-7362A111778B}"/>
              </a:ext>
            </a:extLst>
          </p:cNvPr>
          <p:cNvSpPr txBox="1"/>
          <p:nvPr/>
        </p:nvSpPr>
        <p:spPr>
          <a:xfrm>
            <a:off x="7079161" y="2346028"/>
            <a:ext cx="4572000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400" b="1" dirty="0">
                <a:solidFill>
                  <a:srgbClr val="333333"/>
                </a:solidFill>
                <a:latin typeface="Arial"/>
              </a:rPr>
              <a:t>$8.2K</a:t>
            </a:r>
            <a:r>
              <a:rPr sz="1300" b="0" i="0" dirty="0">
                <a:solidFill>
                  <a:srgbClr val="757575"/>
                </a:solidFill>
                <a:latin typeface="Arial"/>
              </a:rPr>
              <a:t>   </a:t>
            </a:r>
            <a:r>
              <a:rPr lang="en-US" sz="1300" dirty="0">
                <a:solidFill>
                  <a:srgbClr val="757575"/>
                </a:solidFill>
                <a:latin typeface="Arial"/>
              </a:rPr>
              <a:t>of incremental halo revenue</a:t>
            </a:r>
            <a:endParaRPr lang="en-US" sz="1300" b="0" i="0" dirty="0">
              <a:solidFill>
                <a:srgbClr val="757575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The image displays a bar chart comparing the incremental Return on Advertising Spend (ROAS) across different marketing channels, with Email being the most effective at 8.7x ROAS and SMS at 3.2x ROAS.&#10;&#10;AI-generated content may be incorrect.">
            <a:extLst>
              <a:ext uri="{FF2B5EF4-FFF2-40B4-BE49-F238E27FC236}">
                <a16:creationId xmlns:a16="http://schemas.microsoft.com/office/drawing/2014/main" id="{B3697564-00AE-4773-C959-74D5978E15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139" y="1456092"/>
            <a:ext cx="6712610" cy="3855849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CHANNEL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2944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All channels cleared breakeven except for paid social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6963" y="5119841"/>
            <a:ext cx="11337357" cy="1161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 dirty="0">
                <a:solidFill>
                  <a:srgbClr val="333333"/>
                </a:solidFill>
                <a:latin typeface="Arial"/>
              </a:rPr>
              <a:t>•  CRM: 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8% of spend, 4</a:t>
            </a:r>
            <a:r>
              <a:rPr lang="en-US" sz="1150" b="0" i="0" dirty="0">
                <a:solidFill>
                  <a:srgbClr val="333333"/>
                </a:solidFill>
                <a:latin typeface="Arial"/>
              </a:rPr>
              <a:t>7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% of attributed revenue. </a:t>
            </a:r>
            <a:r>
              <a:rPr lang="en-US" sz="1150" b="0" i="0" dirty="0">
                <a:solidFill>
                  <a:srgbClr val="333333"/>
                </a:solidFill>
                <a:latin typeface="Arial"/>
              </a:rPr>
              <a:t>Efficient activation of an existing low-funnel audience. High-intent buyers inflate the metric.</a:t>
            </a:r>
            <a:endParaRPr sz="1150" b="0" i="0" dirty="0">
              <a:solidFill>
                <a:srgbClr val="333333"/>
              </a:solidFill>
              <a:latin typeface="Arial"/>
            </a:endParaRP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 dirty="0">
                <a:solidFill>
                  <a:srgbClr val="333333"/>
                </a:solidFill>
                <a:latin typeface="Arial"/>
              </a:rPr>
              <a:t>•  Paid social: </a:t>
            </a:r>
            <a:r>
              <a:rPr lang="en-US" sz="1150" dirty="0">
                <a:solidFill>
                  <a:srgbClr val="333333"/>
                </a:solidFill>
                <a:latin typeface="Arial"/>
              </a:rPr>
              <a:t>60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% of spend at </a:t>
            </a:r>
            <a:r>
              <a:rPr lang="en-US" sz="1150" b="0" i="0" dirty="0">
                <a:solidFill>
                  <a:srgbClr val="333333"/>
                </a:solidFill>
                <a:latin typeface="Arial"/>
              </a:rPr>
              <a:t>only 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0.3× </a:t>
            </a:r>
            <a:r>
              <a:rPr sz="1150" b="0" i="0" dirty="0" err="1">
                <a:solidFill>
                  <a:srgbClr val="333333"/>
                </a:solidFill>
                <a:latin typeface="Arial"/>
              </a:rPr>
              <a:t>iROAS</a:t>
            </a:r>
            <a:r>
              <a:rPr lang="en-US" sz="1150" dirty="0">
                <a:solidFill>
                  <a:srgbClr val="333333"/>
                </a:solidFill>
                <a:latin typeface="Arial"/>
              </a:rPr>
              <a:t>. </a:t>
            </a:r>
            <a:r>
              <a:rPr lang="en-US" sz="1150" i="1" dirty="0">
                <a:solidFill>
                  <a:srgbClr val="333333"/>
                </a:solidFill>
                <a:latin typeface="Arial"/>
              </a:rPr>
              <a:t>However, </a:t>
            </a:r>
            <a:r>
              <a:rPr lang="en-US" sz="1150" dirty="0">
                <a:solidFill>
                  <a:srgbClr val="333333"/>
                </a:solidFill>
                <a:latin typeface="Arial"/>
              </a:rPr>
              <a:t>PS 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acquired </a:t>
            </a:r>
            <a:r>
              <a:rPr lang="en-US" sz="1150" b="0" i="0" dirty="0">
                <a:solidFill>
                  <a:srgbClr val="333333"/>
                </a:solidFill>
                <a:latin typeface="Arial"/>
              </a:rPr>
              <a:t>297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 of </a:t>
            </a:r>
            <a:r>
              <a:rPr lang="en-US" sz="1150" dirty="0">
                <a:solidFill>
                  <a:srgbClr val="333333"/>
                </a:solidFill>
                <a:latin typeface="Arial"/>
              </a:rPr>
              <a:t>730 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new customers (4</a:t>
            </a:r>
            <a:r>
              <a:rPr lang="en-US" sz="1150" b="0" i="0" dirty="0">
                <a:solidFill>
                  <a:srgbClr val="333333"/>
                </a:solidFill>
                <a:latin typeface="Arial"/>
              </a:rPr>
              <a:t>1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%) at $</a:t>
            </a:r>
            <a:r>
              <a:rPr lang="en-US" sz="1150" b="0" i="0" dirty="0">
                <a:solidFill>
                  <a:srgbClr val="333333"/>
                </a:solidFill>
                <a:latin typeface="Arial"/>
              </a:rPr>
              <a:t>151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 CAC vs $</a:t>
            </a:r>
            <a:r>
              <a:rPr lang="en-US" sz="1150" b="0" i="0" dirty="0">
                <a:solidFill>
                  <a:srgbClr val="333333"/>
                </a:solidFill>
                <a:latin typeface="Arial"/>
              </a:rPr>
              <a:t>188 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early value. </a:t>
            </a:r>
            <a:r>
              <a:rPr lang="en-US" sz="1150" dirty="0">
                <a:solidFill>
                  <a:srgbClr val="333333"/>
                </a:solidFill>
                <a:latin typeface="Arial"/>
              </a:rPr>
              <a:t>Acquisition will pay back via LTV. </a:t>
            </a:r>
            <a:endParaRPr lang="en-US" sz="1150" b="0" i="0" dirty="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50" b="1" i="0" dirty="0">
                <a:solidFill>
                  <a:srgbClr val="333333"/>
                </a:solidFill>
                <a:latin typeface="Arial"/>
              </a:rPr>
              <a:t>•  Paid search: </a:t>
            </a:r>
            <a:r>
              <a:rPr lang="en-US" sz="1150" i="0" dirty="0">
                <a:solidFill>
                  <a:srgbClr val="333333"/>
                </a:solidFill>
                <a:latin typeface="Arial"/>
              </a:rPr>
              <a:t>25% of spend at 1</a:t>
            </a:r>
            <a:r>
              <a:rPr lang="en-US" sz="1150" dirty="0">
                <a:solidFill>
                  <a:srgbClr val="333333"/>
                </a:solidFill>
                <a:latin typeface="Arial"/>
              </a:rPr>
              <a:t>× </a:t>
            </a:r>
            <a:r>
              <a:rPr lang="en-US" sz="1150" i="0" dirty="0" err="1">
                <a:solidFill>
                  <a:srgbClr val="333333"/>
                </a:solidFill>
                <a:latin typeface="Arial"/>
              </a:rPr>
              <a:t>iROAS</a:t>
            </a:r>
            <a:r>
              <a:rPr lang="en-US" sz="1150" i="0" dirty="0">
                <a:solidFill>
                  <a:srgbClr val="333333"/>
                </a:solidFill>
                <a:latin typeface="Arial"/>
              </a:rPr>
              <a:t>. </a:t>
            </a:r>
            <a:r>
              <a:rPr lang="en-US" sz="1150" dirty="0">
                <a:solidFill>
                  <a:srgbClr val="333333"/>
                </a:solidFill>
                <a:latin typeface="Arial"/>
              </a:rPr>
              <a:t>Second largest acquisition source (175 new customers at $108 CAC).</a:t>
            </a:r>
            <a:r>
              <a:rPr lang="en-US" sz="1150" i="0" dirty="0">
                <a:solidFill>
                  <a:srgbClr val="333333"/>
                </a:solidFill>
                <a:latin typeface="Arial"/>
              </a:rPr>
              <a:t> Efficiency dropped through campaign as size curves broke. 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lang="en-US" sz="1150" b="1" dirty="0">
                <a:solidFill>
                  <a:srgbClr val="333333"/>
                </a:solidFill>
                <a:latin typeface="Arial"/>
              </a:rPr>
              <a:t>•  Affiliate: </a:t>
            </a:r>
            <a:r>
              <a:rPr lang="en-US" sz="1150" dirty="0">
                <a:solidFill>
                  <a:srgbClr val="333333"/>
                </a:solidFill>
                <a:latin typeface="Arial"/>
              </a:rPr>
              <a:t>7% of spend at 1.4× </a:t>
            </a:r>
            <a:r>
              <a:rPr lang="en-US" sz="1150" dirty="0" err="1">
                <a:solidFill>
                  <a:srgbClr val="333333"/>
                </a:solidFill>
                <a:latin typeface="Arial"/>
              </a:rPr>
              <a:t>iROAS</a:t>
            </a:r>
            <a:r>
              <a:rPr lang="en-US" sz="1150" dirty="0">
                <a:solidFill>
                  <a:srgbClr val="333333"/>
                </a:solidFill>
                <a:latin typeface="Arial"/>
              </a:rPr>
              <a:t> and lowest CAC at $82. Small share but positive. </a:t>
            </a:r>
            <a:r>
              <a:rPr lang="en-US" sz="1150" b="1" dirty="0">
                <a:solidFill>
                  <a:srgbClr val="333333"/>
                </a:solidFill>
                <a:latin typeface="Arial"/>
              </a:rPr>
              <a:t>TEST SCALING</a:t>
            </a:r>
            <a:endParaRPr lang="en-US" sz="1150" i="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 readout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10</a:t>
            </a:r>
          </a:p>
        </p:txBody>
      </p:sp>
      <p:pic>
        <p:nvPicPr>
          <p:cNvPr id="9" name="Picture 8" descr="salomon_wordmark_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  <p:graphicFrame>
        <p:nvGraphicFramePr>
          <p:cNvPr id="20" name="Object 19">
            <a:extLst>
              <a:ext uri="{FF2B5EF4-FFF2-40B4-BE49-F238E27FC236}">
                <a16:creationId xmlns:a16="http://schemas.microsoft.com/office/drawing/2014/main" id="{89065526-7F01-A908-165C-B694638D568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92819983"/>
              </p:ext>
            </p:extLst>
          </p:nvPr>
        </p:nvGraphicFramePr>
        <p:xfrm>
          <a:off x="6497065" y="2244422"/>
          <a:ext cx="5347368" cy="1693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4851378" imgH="1536885" progId="Excel.Sheet.12">
                  <p:embed/>
                </p:oleObj>
              </mc:Choice>
              <mc:Fallback>
                <p:oleObj name="Worksheet" r:id="rId5" imgW="4851378" imgH="1536885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497065" y="2244422"/>
                        <a:ext cx="5347368" cy="1693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4396B63-8D83-1FC9-12AE-69A01233EF33}"/>
              </a:ext>
            </a:extLst>
          </p:cNvPr>
          <p:cNvCxnSpPr>
            <a:cxnSpLocks/>
          </p:cNvCxnSpPr>
          <p:nvPr/>
        </p:nvCxnSpPr>
        <p:spPr>
          <a:xfrm>
            <a:off x="10698480" y="1804737"/>
            <a:ext cx="674370" cy="408303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A8A9F11-6579-2EB6-9AFC-5779DC3CD209}"/>
              </a:ext>
            </a:extLst>
          </p:cNvPr>
          <p:cNvSpPr txBox="1"/>
          <p:nvPr/>
        </p:nvSpPr>
        <p:spPr>
          <a:xfrm>
            <a:off x="9745579" y="1418247"/>
            <a:ext cx="1503948" cy="41549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ROAS </a:t>
            </a:r>
            <a:r>
              <a:rPr lang="en-US" sz="1050" dirty="0">
                <a:solidFill>
                  <a:schemeClr val="tx2">
                    <a:lumMod val="50000"/>
                    <a:lumOff val="50000"/>
                  </a:schemeClr>
                </a:solidFill>
                <a:latin typeface="Arial"/>
              </a:rPr>
              <a:t>× Incremental Revenue Factor of .34</a:t>
            </a:r>
            <a:endParaRPr lang="en-US" sz="105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1883E-C3D1-82A4-6748-8190617FA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C0539-FE04-BD54-83A9-73B9941D3325}"/>
              </a:ext>
            </a:extLst>
          </p:cNvPr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757575"/>
                </a:solidFill>
                <a:latin typeface="Arial"/>
              </a:rPr>
              <a:t>BRAND AWARENESS</a:t>
            </a:r>
            <a:endParaRPr sz="1050" b="1" i="0" dirty="0">
              <a:solidFill>
                <a:srgbClr val="757575"/>
              </a:solidFill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9A3802-CC4F-64E2-DDC7-6AD865C43E5A}"/>
              </a:ext>
            </a:extLst>
          </p:cNvPr>
          <p:cNvSpPr txBox="1"/>
          <p:nvPr/>
        </p:nvSpPr>
        <p:spPr>
          <a:xfrm>
            <a:off x="502920" y="560683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Campaign investment supports persisten</a:t>
            </a:r>
            <a:r>
              <a:rPr lang="en-US" sz="2300" dirty="0">
                <a:solidFill>
                  <a:srgbClr val="000000"/>
                </a:solidFill>
                <a:latin typeface="Georgia"/>
              </a:rPr>
              <a:t>t brand awareness and recognition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A793E5-4D4D-7FB2-01C7-AD5D000CF3F1}"/>
              </a:ext>
            </a:extLst>
          </p:cNvPr>
          <p:cNvSpPr txBox="1"/>
          <p:nvPr/>
        </p:nvSpPr>
        <p:spPr>
          <a:xfrm>
            <a:off x="3474719" y="4905912"/>
            <a:ext cx="7871059" cy="1557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lang="en-US" sz="1150" b="1" dirty="0">
                <a:solidFill>
                  <a:srgbClr val="333333"/>
                </a:solidFill>
                <a:latin typeface="Arial"/>
              </a:rPr>
              <a:t>• Paid Media </a:t>
            </a:r>
            <a:r>
              <a:rPr lang="en-US" sz="1150" dirty="0">
                <a:solidFill>
                  <a:srgbClr val="333333"/>
                </a:solidFill>
                <a:latin typeface="Arial"/>
              </a:rPr>
              <a:t>investment during campaign supports lasting brand awareness impact. </a:t>
            </a:r>
            <a:endParaRPr lang="en-US" sz="1150" b="1" dirty="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lang="en-US" sz="1150" b="1" dirty="0">
                <a:solidFill>
                  <a:srgbClr val="333333"/>
                </a:solidFill>
                <a:latin typeface="Arial"/>
              </a:rPr>
              <a:t>• Brand impressions and clicks </a:t>
            </a:r>
            <a:r>
              <a:rPr lang="en-US" sz="1150" dirty="0">
                <a:solidFill>
                  <a:srgbClr val="333333"/>
                </a:solidFill>
                <a:latin typeface="Arial"/>
              </a:rPr>
              <a:t>+20% during campaign and persist at +22% above pre-campaign levels in the final two weeks (Jul 7–20). Brand awareness did not decay with media spend.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lang="en-US" sz="1150" b="1" dirty="0">
                <a:solidFill>
                  <a:srgbClr val="333333"/>
                </a:solidFill>
                <a:latin typeface="Arial"/>
              </a:rPr>
              <a:t>• Non-brand search</a:t>
            </a:r>
            <a:r>
              <a:rPr lang="en-US" sz="1150" dirty="0">
                <a:solidFill>
                  <a:srgbClr val="333333"/>
                </a:solidFill>
                <a:latin typeface="Arial"/>
              </a:rPr>
              <a:t> rose slightly (+8%) and reverted toward baseline (+5%) after campaign. The win is in brand awareness, not ultra-running market or seasonality.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lang="en-US" sz="1150" b="1" dirty="0">
                <a:solidFill>
                  <a:srgbClr val="333333"/>
                </a:solidFill>
                <a:latin typeface="Arial"/>
              </a:rPr>
              <a:t>• Brand Clicks </a:t>
            </a:r>
            <a:r>
              <a:rPr lang="en-US" sz="1150" dirty="0">
                <a:solidFill>
                  <a:srgbClr val="333333"/>
                </a:solidFill>
                <a:latin typeface="Arial"/>
              </a:rPr>
              <a:t>lifted in-line with impressions. Impression quality did not deteriorate.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B7106E-FBC3-0F31-6161-E3F76BB43CAB}"/>
              </a:ext>
            </a:extLst>
          </p:cNvPr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 readou</a:t>
            </a:r>
            <a:r>
              <a:rPr lang="en-US" sz="800" b="0" i="0" dirty="0">
                <a:solidFill>
                  <a:srgbClr val="757575"/>
                </a:solidFill>
                <a:latin typeface="Arial"/>
              </a:rPr>
              <a:t>t</a:t>
            </a:r>
            <a:endParaRPr sz="800" b="0" i="0" dirty="0">
              <a:solidFill>
                <a:srgbClr val="757575"/>
              </a:solidFill>
              <a:latin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659157-4A39-1346-F89C-119B20A43B7F}"/>
              </a:ext>
            </a:extLst>
          </p:cNvPr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10</a:t>
            </a:r>
          </a:p>
        </p:txBody>
      </p:sp>
      <p:pic>
        <p:nvPicPr>
          <p:cNvPr id="9" name="Picture 8" descr="salomon_wordmark_black.png">
            <a:extLst>
              <a:ext uri="{FF2B5EF4-FFF2-40B4-BE49-F238E27FC236}">
                <a16:creationId xmlns:a16="http://schemas.microsoft.com/office/drawing/2014/main" id="{E4B2EC17-CFD8-6BE3-B4B2-7FD57DA01D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7D7BB72-875B-5150-097E-F03B45B74A8C}"/>
              </a:ext>
            </a:extLst>
          </p:cNvPr>
          <p:cNvSpPr txBox="1"/>
          <p:nvPr/>
        </p:nvSpPr>
        <p:spPr>
          <a:xfrm>
            <a:off x="608197" y="4875135"/>
            <a:ext cx="964932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400" b="1" dirty="0">
                <a:solidFill>
                  <a:srgbClr val="333333"/>
                </a:solidFill>
                <a:latin typeface="Arial"/>
              </a:rPr>
              <a:t>22</a:t>
            </a:r>
            <a:r>
              <a:rPr sz="3400" b="1" i="0" dirty="0">
                <a:solidFill>
                  <a:srgbClr val="333333"/>
                </a:solidFill>
                <a:latin typeface="Arial"/>
              </a:rPr>
              <a:t>%</a:t>
            </a:r>
            <a:endParaRPr lang="en-US" sz="1300" b="0" i="0" dirty="0">
              <a:solidFill>
                <a:srgbClr val="757575"/>
              </a:solidFill>
              <a:latin typeface="Arial"/>
            </a:endParaRPr>
          </a:p>
        </p:txBody>
      </p:sp>
      <p:pic>
        <p:nvPicPr>
          <p:cNvPr id="17" name="Picture 16" descr="The image displays a comparison of branded and non-brand search impressions over a period of time, showing that branded searches have a higher click-through rate (CTR) than non-branded searches.&#10;&#10;AI-generated content may be incorrect.">
            <a:extLst>
              <a:ext uri="{FF2B5EF4-FFF2-40B4-BE49-F238E27FC236}">
                <a16:creationId xmlns:a16="http://schemas.microsoft.com/office/drawing/2014/main" id="{6EBDC609-DBD8-4127-A393-DDD8CB46A0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80479"/>
            <a:ext cx="10385659" cy="376494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CA05D9D-6860-46A0-EEA3-78A2F31AB904}"/>
              </a:ext>
            </a:extLst>
          </p:cNvPr>
          <p:cNvSpPr txBox="1"/>
          <p:nvPr/>
        </p:nvSpPr>
        <p:spPr>
          <a:xfrm>
            <a:off x="1413710" y="4905912"/>
            <a:ext cx="15488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  <a:latin typeface="Arial"/>
              </a:rPr>
              <a:t>lift in branded </a:t>
            </a:r>
          </a:p>
          <a:p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  <a:latin typeface="Arial"/>
              </a:rPr>
              <a:t>search impressions.</a:t>
            </a:r>
            <a:endParaRPr lang="en-US" sz="12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A57B17A-567A-60A7-A566-96F6DA4B6736}"/>
              </a:ext>
            </a:extLst>
          </p:cNvPr>
          <p:cNvSpPr txBox="1"/>
          <p:nvPr/>
        </p:nvSpPr>
        <p:spPr>
          <a:xfrm>
            <a:off x="1413710" y="5495928"/>
            <a:ext cx="13688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Impression quality </a:t>
            </a:r>
          </a:p>
          <a:p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measured by CTR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14413CB-B074-936F-6595-A65F2885C110}"/>
              </a:ext>
            </a:extLst>
          </p:cNvPr>
          <p:cNvCxnSpPr>
            <a:cxnSpLocks/>
          </p:cNvCxnSpPr>
          <p:nvPr/>
        </p:nvCxnSpPr>
        <p:spPr>
          <a:xfrm>
            <a:off x="7259853" y="1697695"/>
            <a:ext cx="97458" cy="425879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DCACB880-3B4F-3980-D19D-9C40D7F13F85}"/>
              </a:ext>
            </a:extLst>
          </p:cNvPr>
          <p:cNvSpPr txBox="1"/>
          <p:nvPr/>
        </p:nvSpPr>
        <p:spPr>
          <a:xfrm>
            <a:off x="7080584" y="1395728"/>
            <a:ext cx="1233235" cy="33855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Lag due to 7day MA and paid media ramp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FD77B82-D9B1-335A-A848-BE1B3463E6D5}"/>
              </a:ext>
            </a:extLst>
          </p:cNvPr>
          <p:cNvCxnSpPr>
            <a:cxnSpLocks/>
          </p:cNvCxnSpPr>
          <p:nvPr/>
        </p:nvCxnSpPr>
        <p:spPr>
          <a:xfrm flipH="1">
            <a:off x="8840802" y="1597142"/>
            <a:ext cx="291166" cy="328305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CC043C5-101E-A406-D606-9B0508017A6C}"/>
              </a:ext>
            </a:extLst>
          </p:cNvPr>
          <p:cNvSpPr txBox="1"/>
          <p:nvPr/>
        </p:nvSpPr>
        <p:spPr>
          <a:xfrm>
            <a:off x="8672762" y="1367373"/>
            <a:ext cx="918411" cy="33855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Persistence brand lift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91035CF-A420-4BB4-D1AA-20BC3C317100}"/>
              </a:ext>
            </a:extLst>
          </p:cNvPr>
          <p:cNvSpPr txBox="1"/>
          <p:nvPr/>
        </p:nvSpPr>
        <p:spPr>
          <a:xfrm>
            <a:off x="608197" y="5588260"/>
            <a:ext cx="964932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700" b="1" dirty="0">
                <a:solidFill>
                  <a:srgbClr val="333333"/>
                </a:solidFill>
                <a:latin typeface="Arial"/>
              </a:rPr>
              <a:t>STABLE</a:t>
            </a:r>
            <a:endParaRPr lang="en-US" sz="1700" b="0" i="0" dirty="0">
              <a:solidFill>
                <a:srgbClr val="757575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89316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The image displays a line graph illustrating the trend in conversion rates for a campaign ending on June 20, with a notable gap in conversion after the third week, and the number of views per day.&#10;&#10;AI-generated content may be incorrect.">
            <a:extLst>
              <a:ext uri="{FF2B5EF4-FFF2-40B4-BE49-F238E27FC236}">
                <a16:creationId xmlns:a16="http://schemas.microsoft.com/office/drawing/2014/main" id="{DC93BDA9-5446-2A02-4BE2-13A38A31BD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646" y="1335506"/>
            <a:ext cx="6765620" cy="4073868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INVENTORY</a:t>
            </a:r>
            <a:r>
              <a:rPr lang="en-US" sz="1050" b="1" i="0" dirty="0">
                <a:solidFill>
                  <a:srgbClr val="757575"/>
                </a:solidFill>
                <a:latin typeface="Arial"/>
              </a:rPr>
              <a:t> AND SALES PLANNING</a:t>
            </a:r>
            <a:endParaRPr sz="1050" b="1" i="0" dirty="0">
              <a:solidFill>
                <a:srgbClr val="757575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Broken size curves after 6 weeks cost an estimated $16.2K in demand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084194" y="1600774"/>
            <a:ext cx="4572000" cy="3528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 dirty="0">
                <a:solidFill>
                  <a:srgbClr val="333333"/>
                </a:solidFill>
                <a:latin typeface="Arial"/>
              </a:rPr>
              <a:t>•  </a:t>
            </a:r>
            <a:r>
              <a:rPr lang="en-US" sz="1150" b="1" i="0" dirty="0">
                <a:solidFill>
                  <a:srgbClr val="333333"/>
                </a:solidFill>
                <a:latin typeface="Arial"/>
              </a:rPr>
              <a:t>Inventory constraints (not demand)</a:t>
            </a:r>
            <a:r>
              <a:rPr lang="en-US" sz="1150" i="0" dirty="0">
                <a:solidFill>
                  <a:srgbClr val="333333"/>
                </a:solidFill>
                <a:latin typeface="Arial"/>
              </a:rPr>
              <a:t> resulted in less demand capture. </a:t>
            </a:r>
            <a:r>
              <a:rPr lang="en-US" sz="1150" dirty="0">
                <a:solidFill>
                  <a:srgbClr val="333333"/>
                </a:solidFill>
                <a:latin typeface="Arial"/>
              </a:rPr>
              <a:t>Core sizes fell below 90% threshold by week 3 of the campaign. 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lang="en-US" sz="1150" b="1" dirty="0">
                <a:solidFill>
                  <a:srgbClr val="333333"/>
                </a:solidFill>
                <a:latin typeface="Arial"/>
              </a:rPr>
              <a:t>• Unmet Demand: </a:t>
            </a:r>
            <a:endParaRPr lang="en-US" sz="1150" i="0" dirty="0">
              <a:solidFill>
                <a:srgbClr val="333333"/>
              </a:solidFill>
              <a:latin typeface="Arial"/>
            </a:endParaRP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lang="en-US" sz="1150" b="1" dirty="0">
                <a:solidFill>
                  <a:srgbClr val="333333"/>
                </a:solidFill>
                <a:latin typeface="Arial"/>
              </a:rPr>
              <a:t>• Opportunity: </a:t>
            </a:r>
            <a:r>
              <a:rPr lang="en-US" sz="1150" dirty="0">
                <a:solidFill>
                  <a:srgbClr val="333333"/>
                </a:solidFill>
                <a:latin typeface="Arial"/>
              </a:rPr>
              <a:t>Increase WOS purchasing plan on core sizes to create inventory buffer. </a:t>
            </a:r>
            <a:endParaRPr lang="en-US" sz="1150" i="0" dirty="0">
              <a:solidFill>
                <a:srgbClr val="333333"/>
              </a:solidFill>
              <a:latin typeface="Arial"/>
            </a:endParaRP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 i="0" dirty="0">
                <a:solidFill>
                  <a:srgbClr val="333333"/>
                </a:solidFill>
                <a:latin typeface="Arial"/>
              </a:rPr>
              <a:t>•  Vestal Pro sell-through conversion fell 35% (5.2% weeks 1–3 → 3.4% week 6) while paid media kept sending traffic.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 i="0" dirty="0">
                <a:solidFill>
                  <a:srgbClr val="333333"/>
                </a:solidFill>
                <a:latin typeface="Arial"/>
              </a:rPr>
              <a:t>•  Modeled unmet demand: ≈140 units, ≈$20.4K, from applying early-flight conversion to weeks 4–6 traffic.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 i="0" dirty="0">
                <a:solidFill>
                  <a:srgbClr val="333333"/>
                </a:solidFill>
                <a:latin typeface="Arial"/>
              </a:rPr>
              <a:t>•  Site conversion followed: 2.52% week 1 → 2.23% week 6, below the 2.33% pre-period average.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 i="0" dirty="0">
                <a:solidFill>
                  <a:srgbClr val="333333"/>
                </a:solidFill>
                <a:latin typeface="Arial"/>
              </a:rPr>
              <a:t>•  </a:t>
            </a:r>
            <a:r>
              <a:rPr sz="1150" b="0" i="0" dirty="0" err="1">
                <a:solidFill>
                  <a:srgbClr val="333333"/>
                </a:solidFill>
                <a:latin typeface="Arial"/>
              </a:rPr>
              <a:t>Speedcross</a:t>
            </a:r>
            <a:r>
              <a:rPr sz="1150" b="0" i="0" dirty="0">
                <a:solidFill>
                  <a:srgbClr val="333333"/>
                </a:solidFill>
                <a:latin typeface="Arial"/>
              </a:rPr>
              <a:t> picked up +14% units as shoppers substituted — a partial, lower-price offset.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 readout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12</a:t>
            </a:r>
          </a:p>
        </p:txBody>
      </p:sp>
      <p:pic>
        <p:nvPicPr>
          <p:cNvPr id="9" name="Picture 8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63A123F-D889-5543-5F4E-48B42A7D09F3}"/>
              </a:ext>
            </a:extLst>
          </p:cNvPr>
          <p:cNvCxnSpPr>
            <a:cxnSpLocks/>
          </p:cNvCxnSpPr>
          <p:nvPr/>
        </p:nvCxnSpPr>
        <p:spPr>
          <a:xfrm flipH="1" flipV="1">
            <a:off x="2314873" y="5322824"/>
            <a:ext cx="362153" cy="437341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0306BD2-80C3-9950-1643-9CBA5E2AA22F}"/>
              </a:ext>
            </a:extLst>
          </p:cNvPr>
          <p:cNvSpPr txBox="1"/>
          <p:nvPr/>
        </p:nvSpPr>
        <p:spPr>
          <a:xfrm>
            <a:off x="2352173" y="5635846"/>
            <a:ext cx="854243" cy="33855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Core Sizes = M9-11 &amp; W7-9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A4249D8-A3FE-DFB2-A52A-7BEFDDE3427B}"/>
              </a:ext>
            </a:extLst>
          </p:cNvPr>
          <p:cNvCxnSpPr>
            <a:cxnSpLocks/>
          </p:cNvCxnSpPr>
          <p:nvPr/>
        </p:nvCxnSpPr>
        <p:spPr>
          <a:xfrm flipV="1">
            <a:off x="669757" y="4932947"/>
            <a:ext cx="0" cy="657941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F5D0070-7EAD-3B01-D4D0-FA685B2A2A3A}"/>
              </a:ext>
            </a:extLst>
          </p:cNvPr>
          <p:cNvSpPr txBox="1"/>
          <p:nvPr/>
        </p:nvSpPr>
        <p:spPr>
          <a:xfrm>
            <a:off x="344904" y="5466569"/>
            <a:ext cx="854243" cy="33855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June 1  Campaign Start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6016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dirty="0">
                <a:solidFill>
                  <a:srgbClr val="0057B8"/>
                </a:solidFill>
                <a:latin typeface="Arial"/>
              </a:rPr>
              <a:t>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800" b="0" i="0" dirty="0">
                <a:solidFill>
                  <a:srgbClr val="FFFFFF"/>
                </a:solidFill>
                <a:latin typeface="Georgia"/>
              </a:rPr>
              <a:t>Changes for next launch</a:t>
            </a:r>
            <a:endParaRPr sz="2800" b="0" i="0" dirty="0">
              <a:solidFill>
                <a:srgbClr val="FFFFFF"/>
              </a:solidFill>
              <a:latin typeface="Georg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618488"/>
            <a:ext cx="9966960" cy="3846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 dirty="0">
                <a:solidFill>
                  <a:srgbClr val="FFFFFF"/>
                </a:solidFill>
                <a:latin typeface="Arial"/>
              </a:rPr>
              <a:t>Buy deeper on core sizes.  </a:t>
            </a:r>
            <a:r>
              <a:rPr sz="1150" b="0" i="0" dirty="0">
                <a:solidFill>
                  <a:srgbClr val="BFD5ED"/>
                </a:solidFill>
                <a:latin typeface="Arial"/>
              </a:rPr>
              <a:t>Week-3 depletion of M9–11 / W7–9 cost ≈140 units (≈$20K) and dragged site conversion below baseline by week 6.</a:t>
            </a:r>
            <a:r>
              <a:rPr lang="en-US" sz="1150" b="0" i="0" dirty="0">
                <a:solidFill>
                  <a:srgbClr val="BFD5ED"/>
                </a:solidFill>
                <a:latin typeface="Arial"/>
              </a:rPr>
              <a:t> Increasing WOS purchasing plan on core sizes will support additional demand. </a:t>
            </a:r>
            <a:endParaRPr sz="1150" b="0" i="0" dirty="0">
              <a:solidFill>
                <a:srgbClr val="BFD5ED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2386584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404872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 dirty="0">
                <a:solidFill>
                  <a:srgbClr val="FFFFFF"/>
                </a:solidFill>
                <a:latin typeface="Arial"/>
              </a:rPr>
              <a:t>Tie paid media to inventory signals.  </a:t>
            </a:r>
            <a:r>
              <a:rPr sz="1150" b="0" i="0" dirty="0">
                <a:solidFill>
                  <a:srgbClr val="BFD5ED"/>
                </a:solidFill>
                <a:latin typeface="Arial"/>
              </a:rPr>
              <a:t>Throttle prospecting when core-size availability drops below 80%. Paid social ran 59% of budget at 0.3× </a:t>
            </a:r>
            <a:r>
              <a:rPr sz="1150" b="0" i="0" dirty="0" err="1">
                <a:solidFill>
                  <a:srgbClr val="BFD5ED"/>
                </a:solidFill>
                <a:latin typeface="Arial"/>
              </a:rPr>
              <a:t>iROAS</a:t>
            </a:r>
            <a:r>
              <a:rPr sz="1150" b="0" i="0" dirty="0">
                <a:solidFill>
                  <a:srgbClr val="BFD5ED"/>
                </a:solidFill>
                <a:latin typeface="Arial"/>
              </a:rPr>
              <a:t> into a constrained assortment; reallocate mid-flight to CRM and search.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72968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191256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 dirty="0">
                <a:solidFill>
                  <a:srgbClr val="FFFFFF"/>
                </a:solidFill>
                <a:latin typeface="Arial"/>
              </a:rPr>
              <a:t>Judge paid social on acquisition economics, not last-click revenue.  </a:t>
            </a:r>
            <a:r>
              <a:rPr sz="1150" b="0" i="0" dirty="0">
                <a:solidFill>
                  <a:srgbClr val="BFD5ED"/>
                </a:solidFill>
                <a:latin typeface="Arial"/>
              </a:rPr>
              <a:t>It delivered 42% of new customers at $147 CAC against $212 early customer value. Set a CAC target pre-launch and add a day-90 LTV readout.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59352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45736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959352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 dirty="0">
                <a:solidFill>
                  <a:srgbClr val="FFFFFF"/>
                </a:solidFill>
                <a:latin typeface="Arial"/>
              </a:rPr>
              <a:t>Convert the halo into baskets.  </a:t>
            </a:r>
            <a:r>
              <a:rPr sz="1150" b="0" i="0" dirty="0">
                <a:solidFill>
                  <a:srgbClr val="BFD5ED"/>
                </a:solidFill>
                <a:latin typeface="Arial"/>
              </a:rPr>
              <a:t>Adjacent demand lifted +9% but attach to Vestal Pro orders stayed flat at 18%. Bundle socks and accessories at PDP and activate the 2,776 email / 1,447 SMS adds on cross-category journeys.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532120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713009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 dirty="0">
                <a:solidFill>
                  <a:srgbClr val="FFFFFF"/>
                </a:solidFill>
                <a:latin typeface="Arial"/>
              </a:rPr>
              <a:t>Instrument incrementality before launch day.  </a:t>
            </a:r>
            <a:r>
              <a:rPr sz="1150" b="0" i="0" dirty="0">
                <a:solidFill>
                  <a:srgbClr val="BFD5ED"/>
                </a:solidFill>
                <a:latin typeface="Arial"/>
              </a:rPr>
              <a:t>Field a CRM holdout and a geo split, set numeric revenue / CAC / database targets, and track COGS and unsubscribes so the next readout measures margin, not proxies.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</a:t>
            </a:r>
          </a:p>
        </p:txBody>
      </p:sp>
      <p:pic>
        <p:nvPicPr>
          <p:cNvPr id="18" name="Picture 17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EF101A08-7E0C-FE45-00DE-CFBC781E078C}"/>
              </a:ext>
            </a:extLst>
          </p:cNvPr>
          <p:cNvSpPr txBox="1"/>
          <p:nvPr/>
        </p:nvSpPr>
        <p:spPr>
          <a:xfrm>
            <a:off x="1417320" y="5513832"/>
            <a:ext cx="9966960" cy="1922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250" b="1" i="0" dirty="0">
                <a:solidFill>
                  <a:srgbClr val="FFFFFF"/>
                </a:solidFill>
                <a:latin typeface="Arial"/>
              </a:rPr>
              <a:t>CANNIBALIZATION??????????</a:t>
            </a:r>
            <a:endParaRPr sz="1150" b="0" i="0" dirty="0">
              <a:solidFill>
                <a:srgbClr val="BFD5ED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BD774-5215-56D0-5E2D-5BEB935C2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F2B0E74-D5E6-28E0-4424-F20FC2FD156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588DE6-B55D-C61B-F685-4F509F0716EE}"/>
              </a:ext>
            </a:extLst>
          </p:cNvPr>
          <p:cNvSpPr txBox="1"/>
          <p:nvPr/>
        </p:nvSpPr>
        <p:spPr>
          <a:xfrm>
            <a:off x="822960" y="1965960"/>
            <a:ext cx="10515600" cy="1354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400" dirty="0">
                <a:solidFill>
                  <a:srgbClr val="FFFFFF"/>
                </a:solidFill>
                <a:latin typeface="Georgia"/>
              </a:rPr>
              <a:t>THANK YOU</a:t>
            </a:r>
          </a:p>
          <a:p>
            <a:pPr algn="l"/>
            <a:r>
              <a:rPr lang="en-US" sz="4400" b="0" i="0" dirty="0">
                <a:solidFill>
                  <a:srgbClr val="FFFFFF"/>
                </a:solidFill>
                <a:latin typeface="Georgia"/>
              </a:rPr>
              <a:t>MERCI</a:t>
            </a:r>
            <a:endParaRPr sz="4400" b="0" i="0" dirty="0">
              <a:solidFill>
                <a:srgbClr val="FFFFFF"/>
              </a:solidFill>
              <a:latin typeface="Georgi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12117-B385-77DE-78A5-DC270890AC11}"/>
              </a:ext>
            </a:extLst>
          </p:cNvPr>
          <p:cNvSpPr txBox="1"/>
          <p:nvPr/>
        </p:nvSpPr>
        <p:spPr>
          <a:xfrm>
            <a:off x="822960" y="6080760"/>
            <a:ext cx="105156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757575"/>
                </a:solidFill>
                <a:latin typeface="Arial"/>
              </a:rPr>
              <a:t>Marketing Insights &amp; Analytics</a:t>
            </a:r>
          </a:p>
        </p:txBody>
      </p:sp>
      <p:pic>
        <p:nvPicPr>
          <p:cNvPr id="7" name="Picture 6" descr="salomon_wordmark_white.png">
            <a:extLst>
              <a:ext uri="{FF2B5EF4-FFF2-40B4-BE49-F238E27FC236}">
                <a16:creationId xmlns:a16="http://schemas.microsoft.com/office/drawing/2014/main" id="{4137F25F-3223-1AA1-5222-9B0CA75E76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900000"/>
            <a:ext cx="2560320" cy="293370"/>
          </a:xfrm>
          <a:prstGeom prst="rect">
            <a:avLst/>
          </a:prstGeom>
        </p:spPr>
      </p:pic>
      <p:pic>
        <p:nvPicPr>
          <p:cNvPr id="5" name="Picture 4" descr="The image shows a steep, rocky mountain side under a cloudy sky.&#10;&#10;AI-generated content may be incorrect.">
            <a:extLst>
              <a:ext uri="{FF2B5EF4-FFF2-40B4-BE49-F238E27FC236}">
                <a16:creationId xmlns:a16="http://schemas.microsoft.com/office/drawing/2014/main" id="{5D256C6D-8464-4352-96C6-EE210AA6C53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64851" y="0"/>
            <a:ext cx="13452826" cy="7953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4510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CA7C4-DD03-977A-26ED-597F07993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9E9FC8-0A6C-639A-55CC-FF675D22BB1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A55F5F-4D4F-01B7-4269-502598763585}"/>
              </a:ext>
            </a:extLst>
          </p:cNvPr>
          <p:cNvSpPr txBox="1"/>
          <p:nvPr/>
        </p:nvSpPr>
        <p:spPr>
          <a:xfrm>
            <a:off x="822960" y="1965960"/>
            <a:ext cx="1051560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400" dirty="0">
                <a:solidFill>
                  <a:srgbClr val="FFFFFF"/>
                </a:solidFill>
                <a:latin typeface="Georgia"/>
              </a:rPr>
              <a:t>APPENDIX</a:t>
            </a:r>
            <a:endParaRPr sz="4400" b="0" i="0" dirty="0">
              <a:solidFill>
                <a:srgbClr val="FFFFFF"/>
              </a:solidFill>
              <a:latin typeface="Georgi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5042CB-5990-BF91-038A-7DA5859E0C0B}"/>
              </a:ext>
            </a:extLst>
          </p:cNvPr>
          <p:cNvSpPr txBox="1"/>
          <p:nvPr/>
        </p:nvSpPr>
        <p:spPr>
          <a:xfrm>
            <a:off x="822960" y="6080760"/>
            <a:ext cx="105156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757575"/>
                </a:solidFill>
                <a:latin typeface="Arial"/>
              </a:rPr>
              <a:t>Marketing Insights &amp; Analytics</a:t>
            </a:r>
          </a:p>
        </p:txBody>
      </p:sp>
      <p:pic>
        <p:nvPicPr>
          <p:cNvPr id="7" name="Picture 6" descr="salomon_wordmark_white.png">
            <a:extLst>
              <a:ext uri="{FF2B5EF4-FFF2-40B4-BE49-F238E27FC236}">
                <a16:creationId xmlns:a16="http://schemas.microsoft.com/office/drawing/2014/main" id="{7E51FCA6-267E-8599-5BE8-752560193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900000"/>
            <a:ext cx="2560320" cy="293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4700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GUARDRAIL SCORECARD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Pricing and basket guardrails held; returns, service load, and availability strained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54480"/>
          <a:ext cx="11183112" cy="42565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79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Guardrail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Pre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flight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rgbClr val="333333"/>
                          </a:solidFill>
                          <a:latin typeface="Arial"/>
                        </a:rPr>
                        <a:t>Average order value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$123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$132  (+7.1%)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7A4D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Footwear mix plus accessory attachment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Discounting (ASP proxy)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Vestal Pro $145, full price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7A4D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No launch markdown; post-period ASP eased 7.7% to $134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rgbClr val="333333"/>
                          </a:solidFill>
                          <a:latin typeface="Arial"/>
                        </a:rPr>
                        <a:t>Site conversion rate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2.33%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2.42% avg · 2.23% wk 6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57575"/>
                          </a:solidFill>
                          <a:latin typeface="Arial"/>
                        </a:rPr>
                        <a:t>WATCH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Improved early, then fell below pre-period as core sizes depleted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Return rate, site-wide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6.6%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8.7%  (+2.1 pts)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57575"/>
                          </a:solidFill>
                          <a:latin typeface="Arial"/>
                        </a:rPr>
                        <a:t>WATCH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Within the 1–3 pt launch expectation; still maturing post-period (9.4%)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Return rate, Vestal Pro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14.4% → 19.8% post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57575"/>
                          </a:solidFill>
                          <a:latin typeface="Arial"/>
                        </a:rPr>
                        <a:t>WATCH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≈2× fleet average; sizing-and-fit driven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Service contact rate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3.5%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7.7% of orders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57575"/>
                          </a:solidFill>
                          <a:latin typeface="Arial"/>
                        </a:rPr>
                        <a:t>WATCH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Sizing +199%, inventory +152%, comparison +109% vs pre-period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Core-size availability, Vestal Pro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56% by week 6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B3261E"/>
                          </a:solidFill>
                          <a:latin typeface="Arial"/>
                        </a:rPr>
                        <a:t>MISS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Below 90% from week 3; ≈$20K modeled unmet demand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Email / SMS unsubscribes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not measured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D9D9D9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No send-level CRM data captured — instrument next flight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Gross margin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not measured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D9D9D9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dirty="0">
                          <a:solidFill>
                            <a:srgbClr val="757575"/>
                          </a:solidFill>
                          <a:latin typeface="Arial"/>
                        </a:rPr>
                        <a:t>COGS not tracked; price and discount proxies look healthy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11</a:t>
            </a:r>
          </a:p>
        </p:txBody>
      </p:sp>
      <p:pic>
        <p:nvPicPr>
          <p:cNvPr id="7" name="Picture 6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EEECE1"/>
      </a:lt2>
      <a:accent1>
        <a:srgbClr val="DA291C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758</TotalTime>
  <Words>2121</Words>
  <Application>Microsoft Office PowerPoint</Application>
  <PresentationFormat>Widescreen</PresentationFormat>
  <Paragraphs>255</Paragraphs>
  <Slides>16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Arial</vt:lpstr>
      <vt:lpstr>Calibri</vt:lpstr>
      <vt:lpstr>Georgia</vt:lpstr>
      <vt:lpstr>Office Theme</vt:lpstr>
      <vt:lpstr>Microsoft Excel Worksheet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Anderson, Edward Clifford (eca4zm)</cp:lastModifiedBy>
  <cp:revision>34</cp:revision>
  <dcterms:created xsi:type="dcterms:W3CDTF">2013-01-27T09:14:16Z</dcterms:created>
  <dcterms:modified xsi:type="dcterms:W3CDTF">2026-07-18T22:04:47Z</dcterms:modified>
  <cp:category/>
</cp:coreProperties>
</file>