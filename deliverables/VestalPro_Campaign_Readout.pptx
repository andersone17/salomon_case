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96" y="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footwear revenue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59675</c:v>
                </c:pt>
                <c:pt idx="1">
                  <c:v>59754</c:v>
                </c:pt>
                <c:pt idx="2">
                  <c:v>58025</c:v>
                </c:pt>
                <c:pt idx="3">
                  <c:v>61476</c:v>
                </c:pt>
                <c:pt idx="4">
                  <c:v>62771</c:v>
                </c:pt>
                <c:pt idx="5">
                  <c:v>62908</c:v>
                </c:pt>
                <c:pt idx="6">
                  <c:v>68234</c:v>
                </c:pt>
                <c:pt idx="7">
                  <c:v>61971</c:v>
                </c:pt>
                <c:pt idx="8">
                  <c:v>95778</c:v>
                </c:pt>
                <c:pt idx="9">
                  <c:v>91117</c:v>
                </c:pt>
                <c:pt idx="10">
                  <c:v>93839</c:v>
                </c:pt>
                <c:pt idx="11">
                  <c:v>92751</c:v>
                </c:pt>
                <c:pt idx="12">
                  <c:v>85777</c:v>
                </c:pt>
                <c:pt idx="13">
                  <c:v>83631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2AD-492F-AD7A-3A703CAB577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No-campaign counterfactual</c:v>
                </c:pt>
              </c:strCache>
            </c:strRef>
          </c:tx>
          <c:spPr>
            <a:ln w="25400">
              <a:solidFill>
                <a:srgbClr val="757575"/>
              </a:solidFill>
              <a:prstDash val="dash"/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Jan 5</c:v>
                </c:pt>
                <c:pt idx="1">
                  <c:v>Jan 12</c:v>
                </c:pt>
                <c:pt idx="2">
                  <c:v>Jan 19</c:v>
                </c:pt>
                <c:pt idx="3">
                  <c:v>Jan 26</c:v>
                </c:pt>
                <c:pt idx="4">
                  <c:v>Feb 2</c:v>
                </c:pt>
                <c:pt idx="5">
                  <c:v>Feb 9</c:v>
                </c:pt>
                <c:pt idx="6">
                  <c:v>Feb 16</c:v>
                </c:pt>
                <c:pt idx="7">
                  <c:v>Feb 23</c:v>
                </c:pt>
                <c:pt idx="8">
                  <c:v>Mar 2</c:v>
                </c:pt>
                <c:pt idx="9">
                  <c:v>Mar 9</c:v>
                </c:pt>
                <c:pt idx="10">
                  <c:v>Mar 16</c:v>
                </c:pt>
                <c:pt idx="11">
                  <c:v>Mar 23</c:v>
                </c:pt>
                <c:pt idx="12">
                  <c:v>Mar 30</c:v>
                </c:pt>
                <c:pt idx="13">
                  <c:v>Apr 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58751</c:v>
                </c:pt>
                <c:pt idx="1">
                  <c:v>59637</c:v>
                </c:pt>
                <c:pt idx="2">
                  <c:v>60523</c:v>
                </c:pt>
                <c:pt idx="3">
                  <c:v>61409</c:v>
                </c:pt>
                <c:pt idx="4">
                  <c:v>62295</c:v>
                </c:pt>
                <c:pt idx="5">
                  <c:v>63181</c:v>
                </c:pt>
                <c:pt idx="6">
                  <c:v>64067</c:v>
                </c:pt>
                <c:pt idx="7">
                  <c:v>64953</c:v>
                </c:pt>
                <c:pt idx="8">
                  <c:v>65839</c:v>
                </c:pt>
                <c:pt idx="9">
                  <c:v>66725</c:v>
                </c:pt>
                <c:pt idx="10">
                  <c:v>67611</c:v>
                </c:pt>
                <c:pt idx="11">
                  <c:v>68497</c:v>
                </c:pt>
                <c:pt idx="12">
                  <c:v>69383</c:v>
                </c:pt>
                <c:pt idx="13">
                  <c:v>70269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2AD-492F-AD7A-3A703CAB57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000"/>
          <c:min val="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\$#,##0,&quot;K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25000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Ledger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1-2D4B-47E8-8381-BE1D62950621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D4B-47E8-8381-BE1D62950621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2D4B-47E8-8381-BE1D62950621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D4B-47E8-8381-BE1D62950621}"/>
              </c:ext>
            </c:extLst>
          </c:dPt>
          <c:dPt>
            <c:idx val="4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9-2D4B-47E8-8381-BE1D62950621}"/>
              </c:ext>
            </c:extLst>
          </c:dPt>
          <c:dPt>
            <c:idx val="5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B-2D4B-47E8-8381-BE1D62950621}"/>
              </c:ext>
            </c:extLst>
          </c:dPt>
          <c:dLbls>
            <c:numFmt formatCode="\$#,##0,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Net campaign value (revenue basis)</c:v>
                </c:pt>
                <c:pt idx="1">
                  <c:v>Incremental media spend</c:v>
                </c:pt>
                <c:pt idx="2">
                  <c:v>Net incremental revenue</c:v>
                </c:pt>
                <c:pt idx="3">
                  <c:v>Adjacent-category halo</c:v>
                </c:pt>
                <c:pt idx="4">
                  <c:v>Franchise shift (cannibalization)</c:v>
                </c:pt>
                <c:pt idx="5">
                  <c:v>Vestal Pro direct revenue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52448</c:v>
                </c:pt>
                <c:pt idx="1">
                  <c:v>-90051</c:v>
                </c:pt>
                <c:pt idx="2">
                  <c:v>142499</c:v>
                </c:pt>
                <c:pt idx="3">
                  <c:v>7928</c:v>
                </c:pt>
                <c:pt idx="4">
                  <c:v>-73100</c:v>
                </c:pt>
                <c:pt idx="5">
                  <c:v>207671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4B-47E8-8381-BE1D629506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Buyers</c:v>
                </c:pt>
              </c:strCache>
            </c:strRef>
          </c:tx>
          <c:dPt>
            <c:idx val="0"/>
            <c:bubble3D val="0"/>
            <c:spPr>
              <a:solidFill>
                <a:srgbClr val="0057B8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1A6-4492-8A77-9F8FCAD9DDED}"/>
              </c:ext>
            </c:extLst>
          </c:dPt>
          <c:dPt>
            <c:idx val="1"/>
            <c:bubble3D val="0"/>
            <c:spPr>
              <a:solidFill>
                <a:srgbClr val="D9D9D9"/>
              </a:solidFill>
              <a:ln w="25400"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1A6-4492-8A77-9F8FCAD9DDED}"/>
              </c:ext>
            </c:extLst>
          </c:dPt>
          <c:cat>
            <c:strRef>
              <c:f>Sheet1!$A$2:$A$3</c:f>
              <c:strCache>
                <c:ptCount val="2"/>
                <c:pt idx="0">
                  <c:v>New to Salomon</c:v>
                </c:pt>
                <c:pt idx="1">
                  <c:v>Existing customers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590</c:v>
                </c:pt>
                <c:pt idx="1">
                  <c:v>745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1A6-4492-8A77-9F8FCAD9DD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Pre-period</c:v>
                </c:pt>
              </c:strCache>
            </c:strRef>
          </c:tx>
          <c:spPr>
            <a:solidFill>
              <a:srgbClr val="D9D9D9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49.25</c:v>
                </c:pt>
                <c:pt idx="1">
                  <c:v>24.571428571428573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789-42CA-81C2-54DC5FF3B50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campaign</c:v>
                </c:pt>
              </c:strCache>
            </c:strRef>
          </c:tx>
          <c:spPr>
            <a:solidFill>
              <a:srgbClr val="0057B8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Email</c:v>
                </c:pt>
                <c:pt idx="1">
                  <c:v>SMS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66.095238095238102</c:v>
                </c:pt>
                <c:pt idx="1">
                  <c:v>34.452380952380949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789-42CA-81C2-54DC5FF3B5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1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95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Units vs baseline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DA291C"/>
              </a:solidFill>
            </c:spPr>
            <c:extLst>
              <c:ext xmlns:c16="http://schemas.microsoft.com/office/drawing/2014/chart" uri="{C3380CC4-5D6E-409C-BE32-E72D297353CC}">
                <c16:uniqueId val="{00000001-D683-4F3D-BD68-BE719D740B70}"/>
              </c:ext>
            </c:extLst>
          </c:dPt>
          <c:dPt>
            <c:idx val="1"/>
            <c:invertIfNegative val="1"/>
            <c:bubble3D val="0"/>
            <c:spPr>
              <a:solidFill>
                <a:srgbClr val="DA291C"/>
              </a:solidFill>
            </c:spPr>
            <c:extLst>
              <c:ext xmlns:c16="http://schemas.microsoft.com/office/drawing/2014/chart" uri="{C3380CC4-5D6E-409C-BE32-E72D297353CC}">
                <c16:uniqueId val="{00000003-D683-4F3D-BD68-BE719D740B70}"/>
              </c:ext>
            </c:extLst>
          </c:dPt>
          <c:dPt>
            <c:idx val="2"/>
            <c:invertIfNegative val="1"/>
            <c:bubble3D val="0"/>
            <c:spPr>
              <a:solidFill>
                <a:srgbClr val="1F7A4D"/>
              </a:solidFill>
            </c:spPr>
            <c:extLst>
              <c:ext xmlns:c16="http://schemas.microsoft.com/office/drawing/2014/chart" uri="{C3380CC4-5D6E-409C-BE32-E72D297353CC}">
                <c16:uniqueId val="{00000005-D683-4F3D-BD68-BE719D740B70}"/>
              </c:ext>
            </c:extLst>
          </c:dPt>
          <c:dLbls>
            <c:numFmt formatCode="\+0%;\-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Sense Ride</c:v>
                </c:pt>
                <c:pt idx="1">
                  <c:v>Genesis</c:v>
                </c:pt>
                <c:pt idx="2">
                  <c:v>Speedcross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-0.24078834618680378</c:v>
                </c:pt>
                <c:pt idx="1">
                  <c:v>-0.18192488262910797</c:v>
                </c:pt>
                <c:pt idx="2">
                  <c:v>0.14424242424242426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683-4F3D-BD68-BE719D740B7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Lift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1-C87C-4166-A2F8-084CFC726EE5}"/>
              </c:ext>
            </c:extLst>
          </c:dPt>
          <c:dPt>
            <c:idx val="1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3-C87C-4166-A2F8-084CFC726EE5}"/>
              </c:ext>
            </c:extLst>
          </c:dPt>
          <c:dPt>
            <c:idx val="2"/>
            <c:invertIfNegative val="1"/>
            <c:bubble3D val="0"/>
            <c:spPr>
              <a:solidFill>
                <a:srgbClr val="000000"/>
              </a:solidFill>
            </c:spPr>
            <c:extLst>
              <c:ext xmlns:c16="http://schemas.microsoft.com/office/drawing/2014/chart" uri="{C3380CC4-5D6E-409C-BE32-E72D297353CC}">
                <c16:uniqueId val="{00000005-C87C-4166-A2F8-084CFC726EE5}"/>
              </c:ext>
            </c:extLst>
          </c:dPt>
          <c:dLbls>
            <c:numFmt formatCode="\+0.0%;\-0.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Trail Apparel</c:v>
                </c:pt>
                <c:pt idx="1">
                  <c:v>Trail Accessories</c:v>
                </c:pt>
                <c:pt idx="2">
                  <c:v>All adjacent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5.4031981084650842E-2</c:v>
                </c:pt>
                <c:pt idx="1">
                  <c:v>0.16948559269683569</c:v>
                </c:pt>
                <c:pt idx="2">
                  <c:v>9.1772154004968576E-2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87C-4166-A2F8-084CFC726EE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iROAS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1-2A71-41A5-99A8-CE6639E760EB}"/>
              </c:ext>
            </c:extLst>
          </c:dPt>
          <c:dPt>
            <c:idx val="1"/>
            <c:invertIfNegative val="1"/>
            <c:bubble3D val="0"/>
            <c:spPr>
              <a:solidFill>
                <a:srgbClr val="757575"/>
              </a:solidFill>
            </c:spPr>
            <c:extLst>
              <c:ext xmlns:c16="http://schemas.microsoft.com/office/drawing/2014/chart" uri="{C3380CC4-5D6E-409C-BE32-E72D297353CC}">
                <c16:uniqueId val="{00000003-2A71-41A5-99A8-CE6639E760EB}"/>
              </c:ext>
            </c:extLst>
          </c:dPt>
          <c:dPt>
            <c:idx val="2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5-2A71-41A5-99A8-CE6639E760EB}"/>
              </c:ext>
            </c:extLst>
          </c:dPt>
          <c:dPt>
            <c:idx val="3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7-2A71-41A5-99A8-CE6639E760EB}"/>
              </c:ext>
            </c:extLst>
          </c:dPt>
          <c:dPt>
            <c:idx val="4"/>
            <c:invertIfNegative val="1"/>
            <c:bubble3D val="0"/>
            <c:spPr>
              <a:solidFill>
                <a:srgbClr val="0057B8"/>
              </a:solidFill>
            </c:spPr>
            <c:extLst>
              <c:ext xmlns:c16="http://schemas.microsoft.com/office/drawing/2014/chart" uri="{C3380CC4-5D6E-409C-BE32-E72D297353CC}">
                <c16:uniqueId val="{00000009-2A71-41A5-99A8-CE6639E760EB}"/>
              </c:ext>
            </c:extLst>
          </c:dPt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333333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Paid Social</c:v>
                </c:pt>
                <c:pt idx="1">
                  <c:v>Paid Search</c:v>
                </c:pt>
                <c:pt idx="2">
                  <c:v>Affiliate</c:v>
                </c:pt>
                <c:pt idx="3">
                  <c:v>SMS</c:v>
                </c:pt>
                <c:pt idx="4">
                  <c:v>Email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0.30263626208104794</c:v>
                </c:pt>
                <c:pt idx="1">
                  <c:v>0.9270704798942021</c:v>
                </c:pt>
                <c:pt idx="2">
                  <c:v>1.2788902238995834</c:v>
                </c:pt>
                <c:pt idx="3">
                  <c:v>2.530420436382097</c:v>
                </c:pt>
                <c:pt idx="4">
                  <c:v>7.1116192565169118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2A71-41A5-99A8-CE6639E760E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1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;;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Core-size availability</c:v>
                </c:pt>
              </c:strCache>
            </c:strRef>
          </c:tx>
          <c:spPr>
            <a:ln w="34925">
              <a:solidFill>
                <a:srgbClr val="0057B8"/>
              </a:solidFill>
            </a:ln>
          </c:spPr>
          <c:marker>
            <c:symbol val="none"/>
          </c:marker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>
                    <a:solidFill>
                      <a:srgbClr val="0057B8"/>
                    </a:solidFill>
                  </a:defRPr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0.97268571428571426</c:v>
                </c:pt>
                <c:pt idx="1">
                  <c:v>0.97517142857142858</c:v>
                </c:pt>
                <c:pt idx="2">
                  <c:v>0.90817142857142852</c:v>
                </c:pt>
                <c:pt idx="3">
                  <c:v>0.81554285714285712</c:v>
                </c:pt>
                <c:pt idx="4">
                  <c:v>0.73749999999999993</c:v>
                </c:pt>
                <c:pt idx="5">
                  <c:v>0.5618428571428572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05C-49B1-883E-0F806009983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in-stock rate</c:v>
                </c:pt>
              </c:strCache>
            </c:strRef>
          </c:tx>
          <c:spPr>
            <a:ln w="25400">
              <a:solidFill>
                <a:srgbClr val="757575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0.98772857142857151</c:v>
                </c:pt>
                <c:pt idx="1">
                  <c:v>0.98921428571428571</c:v>
                </c:pt>
                <c:pt idx="2">
                  <c:v>0.95195714285714295</c:v>
                </c:pt>
                <c:pt idx="3">
                  <c:v>0.89985714285714291</c:v>
                </c:pt>
                <c:pt idx="4">
                  <c:v>0.8777571428571429</c:v>
                </c:pt>
                <c:pt idx="5">
                  <c:v>0.77852857142857146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05C-49B1-883E-0F80600998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"/>
          <c:min val="0.4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57575"/>
                </a:solidFill>
                <a:latin typeface="Arial"/>
              </a:defRPr>
            </a:pPr>
            <a:endParaRPr lang="en-US"/>
          </a:p>
        </c:txPr>
        <c:crossAx val="2118791784"/>
        <c:crosses val="autoZero"/>
        <c:crossBetween val="between"/>
        <c:majorUnit val="0.2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333333"/>
              </a:solidFill>
            </a:defRPr>
          </a:pPr>
          <a:endParaRPr lang="en-US"/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0" i="0" dirty="0">
                <a:solidFill>
                  <a:srgbClr val="FFFFFF"/>
                </a:solidFill>
                <a:latin typeface="Georgia"/>
              </a:rPr>
              <a:t>Vestal Pro </a:t>
            </a:r>
            <a:r>
              <a:rPr lang="en-US" sz="4400" b="0" i="0" dirty="0">
                <a:solidFill>
                  <a:srgbClr val="FFFFFF"/>
                </a:solidFill>
                <a:latin typeface="Georgia"/>
              </a:rPr>
              <a:t>Shoe </a:t>
            </a:r>
            <a:r>
              <a:rPr sz="4400" b="0" i="0" dirty="0">
                <a:solidFill>
                  <a:srgbClr val="FFFFFF"/>
                </a:solidFill>
                <a:latin typeface="Georgia"/>
              </a:rPr>
              <a:t>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>
                <a:solidFill>
                  <a:srgbClr val="3E8EDE"/>
                </a:solidFill>
                <a:latin typeface="Georgia"/>
              </a:rPr>
              <a:t>Campaign Performance </a:t>
            </a:r>
            <a:r>
              <a:rPr lang="en-US" sz="2400" b="0" i="0" dirty="0">
                <a:solidFill>
                  <a:srgbClr val="3E8EDE"/>
                </a:solidFill>
                <a:latin typeface="Georgia"/>
              </a:rPr>
              <a:t>Report</a:t>
            </a:r>
            <a:endParaRPr sz="2400" b="0" i="0" dirty="0">
              <a:solidFill>
                <a:srgbClr val="3E8EDE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North America eCommerce</a:t>
            </a:r>
          </a:p>
          <a:p>
            <a:pPr algn="l">
              <a:spcAft>
                <a:spcPts val="400"/>
              </a:spcAft>
            </a:pPr>
            <a:r>
              <a:rPr sz="1300" b="0" i="0" dirty="0">
                <a:solidFill>
                  <a:srgbClr val="FFFFFF"/>
                </a:solidFill>
                <a:latin typeface="Arial"/>
              </a:rPr>
              <a:t>Active campaign: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1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 – 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June 20</a:t>
            </a:r>
            <a:r>
              <a:rPr sz="1300" b="0" i="0" dirty="0">
                <a:solidFill>
                  <a:srgbClr val="FFFFFF"/>
                </a:solidFill>
                <a:latin typeface="Arial"/>
              </a:rPr>
              <a:t>, 202</a:t>
            </a:r>
            <a:r>
              <a:rPr lang="en-US" sz="1300" b="0" i="0" dirty="0">
                <a:solidFill>
                  <a:srgbClr val="FFFFFF"/>
                </a:solidFill>
                <a:latin typeface="Arial"/>
              </a:rPr>
              <a:t>6</a:t>
            </a:r>
            <a:endParaRPr sz="13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  ·  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r>
              <a:rPr sz="1000" b="0" i="0" dirty="0">
                <a:solidFill>
                  <a:srgbClr val="757575"/>
                </a:solidFill>
                <a:latin typeface="Arial"/>
              </a:rPr>
              <a:t>synthetic case data</a:t>
            </a:r>
            <a:r>
              <a:rPr lang="en-US" sz="1000" b="0" i="0" dirty="0">
                <a:solidFill>
                  <a:srgbClr val="757575"/>
                </a:solidFill>
                <a:latin typeface="Arial"/>
              </a:rPr>
              <a:t>**</a:t>
            </a:r>
            <a:endParaRPr sz="1000" b="0" i="0" dirty="0">
              <a:solidFill>
                <a:srgbClr val="757575"/>
              </a:solidFill>
              <a:latin typeface="Arial"/>
            </a:endParaRPr>
          </a:p>
        </p:txBody>
      </p:sp>
      <p:pic>
        <p:nvPicPr>
          <p:cNvPr id="7" name="Picture 6" descr="salomon_word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CAMPAIGN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dirty="0">
                <a:solidFill>
                  <a:srgbClr val="000000"/>
                </a:solidFill>
                <a:latin typeface="Georgia"/>
              </a:rPr>
              <a:t>20 day GTM campaign; success measured against campaign forecast.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PRIMARY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39496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Create incremental footwear revenue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Acquire new trail-running consumers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Establish Vestal Pro </a:t>
            </a:r>
            <a:r>
              <a:rPr lang="en-US" sz="1250" b="0" i="0" dirty="0">
                <a:solidFill>
                  <a:srgbClr val="333333"/>
                </a:solidFill>
                <a:latin typeface="Arial"/>
              </a:rPr>
              <a:t>as flagship Salomon ultra-running shoe</a:t>
            </a:r>
            <a:endParaRPr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306324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SECONDARY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64992"/>
            <a:ext cx="5394960" cy="1000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Grow the email / SMS consumer database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Generate halo demand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Increase Salomon brand awareness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Limit cannibalization of existing footwear franchises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481328"/>
            <a:ext cx="53949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SUCCESS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394960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Incremental revenue ≥ +10% vs no-campaign counterfactual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New customers ≥ 25% of Vestal Pro purchasers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Cannibalization &lt; </a:t>
            </a:r>
            <a:r>
              <a:rPr lang="en-US" sz="1250" dirty="0">
                <a:solidFill>
                  <a:srgbClr val="333333"/>
                </a:solidFill>
                <a:latin typeface="Arial"/>
              </a:rPr>
              <a:t>15</a:t>
            </a:r>
            <a:r>
              <a:rPr sz="1250" b="0" i="0" dirty="0">
                <a:solidFill>
                  <a:srgbClr val="333333"/>
                </a:solidFill>
                <a:latin typeface="Arial"/>
              </a:rPr>
              <a:t>% of Vestal Pro sales</a:t>
            </a: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Halo ≥ +5% lift across adjacent trail categories</a:t>
            </a:r>
            <a:endParaRPr lang="en-US" sz="1250" b="0" i="0" dirty="0">
              <a:solidFill>
                <a:srgbClr val="333333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250" dirty="0">
                <a:solidFill>
                  <a:srgbClr val="333333"/>
                </a:solidFill>
                <a:latin typeface="Arial"/>
              </a:rPr>
              <a:t>•  Branded search ≥ 10% vs counterfactual baseline.</a:t>
            </a:r>
            <a:endParaRPr sz="1250" b="0" i="0" dirty="0">
              <a:solidFill>
                <a:srgbClr val="333333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250" b="0" i="0" dirty="0">
                <a:solidFill>
                  <a:srgbClr val="333333"/>
                </a:solidFill>
                <a:latin typeface="Arial"/>
              </a:rPr>
              <a:t>•  Guardrails: margin, returns, conversion, availability,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757575"/>
                </a:solidFill>
                <a:latin typeface="Arial"/>
              </a:rPr>
              <a:t>MEASUREMENT WINDOWS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5047488"/>
            <a:ext cx="3246120" cy="782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PRE-CAMPAIGN BASELINE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March 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May 31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 ·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 13 Weeks</a:t>
            </a:r>
            <a:endParaRPr sz="1100" b="0" i="0" dirty="0">
              <a:solidFill>
                <a:srgbClr val="757575"/>
              </a:solidFill>
              <a:latin typeface="Arial"/>
            </a:endParaRP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Status Quo 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demand, traffic, and channel patterns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. 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Minimal activations and no launches.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5968" y="4892040"/>
            <a:ext cx="3630168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17136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FFFFFF"/>
                </a:solidFill>
                <a:latin typeface="Arial"/>
              </a:rPr>
              <a:t>ACTIVE 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1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– </a:t>
            </a:r>
            <a:r>
              <a:rPr lang="en-US" sz="1100" b="0" i="0" dirty="0">
                <a:solidFill>
                  <a:srgbClr val="0057B8"/>
                </a:solidFill>
                <a:latin typeface="Arial"/>
              </a:rPr>
              <a:t>June 20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 · </a:t>
            </a:r>
            <a:r>
              <a:rPr lang="en-US" sz="1100" dirty="0">
                <a:solidFill>
                  <a:srgbClr val="0057B8"/>
                </a:solidFill>
                <a:latin typeface="Arial"/>
              </a:rPr>
              <a:t>3 </a:t>
            </a:r>
            <a:r>
              <a:rPr sz="1100" b="0" i="0" dirty="0">
                <a:solidFill>
                  <a:srgbClr val="0057B8"/>
                </a:solidFill>
                <a:latin typeface="Arial"/>
              </a:rPr>
              <a:t>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FFFFFF"/>
                </a:solidFill>
                <a:latin typeface="Arial"/>
              </a:rPr>
              <a:t>GTM Strategy</a:t>
            </a:r>
            <a:r>
              <a:rPr lang="en-US" sz="1000" dirty="0">
                <a:solidFill>
                  <a:srgbClr val="FFFFFF"/>
                </a:solidFill>
                <a:latin typeface="Arial"/>
              </a:rPr>
              <a:t> supported by </a:t>
            </a:r>
            <a:r>
              <a:rPr sz="1000" b="0" i="0" dirty="0">
                <a:solidFill>
                  <a:srgbClr val="FFFFFF"/>
                </a:solidFill>
                <a:latin typeface="Arial"/>
              </a:rPr>
              <a:t>paid media, CRM, site merchandising</a:t>
            </a:r>
            <a:r>
              <a:rPr lang="en-US" sz="1000" b="0" i="0" dirty="0">
                <a:solidFill>
                  <a:srgbClr val="FFFFFF"/>
                </a:solidFill>
                <a:latin typeface="Arial"/>
              </a:rPr>
              <a:t>, and affiliate partners.</a:t>
            </a:r>
            <a:endParaRPr sz="100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29016" y="4892040"/>
            <a:ext cx="3630168" cy="12344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30184" y="5047488"/>
            <a:ext cx="3246120" cy="7443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 i="0" dirty="0">
                <a:solidFill>
                  <a:srgbClr val="000000"/>
                </a:solidFill>
                <a:latin typeface="Arial"/>
              </a:rPr>
              <a:t>POST-CAMPAIGN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100" dirty="0">
                <a:solidFill>
                  <a:srgbClr val="757575"/>
                </a:solidFill>
                <a:latin typeface="Arial"/>
              </a:rPr>
              <a:t>June 21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– </a:t>
            </a:r>
            <a:r>
              <a:rPr lang="en-US" sz="1100" b="0" i="0" dirty="0">
                <a:solidFill>
                  <a:srgbClr val="757575"/>
                </a:solidFill>
                <a:latin typeface="Arial"/>
              </a:rPr>
              <a:t>July 20 </a:t>
            </a:r>
            <a:r>
              <a:rPr sz="1100" b="0" i="0" dirty="0">
                <a:solidFill>
                  <a:srgbClr val="757575"/>
                </a:solidFill>
                <a:latin typeface="Arial"/>
              </a:rPr>
              <a:t>· 4 weeks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sz="1000" b="0" i="0" dirty="0">
                <a:solidFill>
                  <a:srgbClr val="333333"/>
                </a:solidFill>
                <a:latin typeface="Arial"/>
              </a:rPr>
              <a:t>Demand persistence</a:t>
            </a:r>
            <a:r>
              <a:rPr sz="1000" b="0" i="0" dirty="0">
                <a:solidFill>
                  <a:srgbClr val="333333"/>
                </a:solidFill>
                <a:latin typeface="Arial"/>
              </a:rPr>
              <a:t>, delayed returns, </a:t>
            </a:r>
            <a:r>
              <a:rPr lang="en-US" sz="1000" b="0" i="0" dirty="0">
                <a:solidFill>
                  <a:srgbClr val="333333"/>
                </a:solidFill>
                <a:latin typeface="Arial"/>
              </a:rPr>
              <a:t>CLV retention measurement.</a:t>
            </a:r>
            <a:endParaRPr sz="1000" b="0" i="0" dirty="0">
              <a:solidFill>
                <a:srgbClr val="333333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3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Successful Launch; Monitor for continued cannibalization and shifting sales mix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INCREMENTAL FOOTWEAR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+$134.6K vs modeled no-campaign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+10%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NEW-CUSTOMER SHARE, VESTAL PRO BUYERS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590 of 1,335 buyers new to Salomon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25%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757575"/>
                </a:solidFill>
                <a:latin typeface="Arial"/>
              </a:rPr>
              <a:t>FRANCHISE CANNIBALIZATION, 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057B8"/>
                </a:solidFill>
                <a:latin typeface="Arial"/>
              </a:rPr>
              <a:t>22–30%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333333"/>
                </a:solidFill>
                <a:latin typeface="Arial"/>
              </a:rPr>
              <a:t>17–42% across baseline models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1655" y="3712463"/>
            <a:ext cx="23317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757575"/>
                </a:solidFill>
                <a:latin typeface="Arial"/>
              </a:rPr>
              <a:t>Guardrail &lt; </a:t>
            </a:r>
            <a:r>
              <a:rPr lang="en-US" sz="1050" b="0" i="0" dirty="0">
                <a:solidFill>
                  <a:srgbClr val="757575"/>
                </a:solidFill>
                <a:latin typeface="Arial"/>
              </a:rPr>
              <a:t>10</a:t>
            </a:r>
            <a:r>
              <a:rPr sz="1050" b="0" i="0" dirty="0">
                <a:solidFill>
                  <a:srgbClr val="757575"/>
                </a:solidFill>
                <a:latin typeface="Arial"/>
              </a:rPr>
              <a:t>%  ·  </a:t>
            </a:r>
            <a:r>
              <a:rPr lang="en-US" sz="1050" b="1" i="0" dirty="0">
                <a:solidFill>
                  <a:schemeClr val="accent6">
                    <a:lumMod val="75000"/>
                  </a:schemeClr>
                </a:solidFill>
                <a:latin typeface="Arial"/>
              </a:rPr>
              <a:t>FLAG &amp; MONITOR</a:t>
            </a:r>
            <a:endParaRPr sz="1050" b="1" i="0" dirty="0">
              <a:solidFill>
                <a:schemeClr val="accent6">
                  <a:lumMod val="75000"/>
                </a:schemeClr>
              </a:solidFill>
              <a:latin typeface="Arial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HALO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57B8"/>
                </a:solidFill>
                <a:latin typeface="Arial"/>
              </a:rPr>
              <a:t>+9%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127248"/>
            <a:ext cx="2331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+3% to +15%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712463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757575"/>
                </a:solidFill>
                <a:latin typeface="Arial"/>
              </a:rPr>
              <a:t>Target ≥ +5%  · 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681728"/>
            <a:ext cx="10469880" cy="11234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 i="0" dirty="0">
                <a:solidFill>
                  <a:srgbClr val="FFFFFF"/>
                </a:solidFill>
                <a:latin typeface="Arial"/>
              </a:rPr>
              <a:t>VERDICT — a commercial success </a:t>
            </a:r>
            <a:r>
              <a:rPr lang="en-US" sz="1400" b="1" i="0" dirty="0">
                <a:solidFill>
                  <a:srgbClr val="FFFFFF"/>
                </a:solidFill>
                <a:latin typeface="Arial"/>
              </a:rPr>
              <a:t>limited by availability</a:t>
            </a:r>
            <a:r>
              <a:rPr sz="1400" b="1" i="0" dirty="0">
                <a:solidFill>
                  <a:srgbClr val="FFFFFF"/>
                </a:solidFill>
                <a:latin typeface="Arial"/>
              </a:rPr>
              <a:t>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0" i="0" dirty="0">
                <a:solidFill>
                  <a:srgbClr val="FFFFFF"/>
                </a:solidFill>
                <a:latin typeface="Arial"/>
              </a:rPr>
              <a:t>The Vestal Pro delivered $207.7K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direct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and $142.5K of </a:t>
            </a:r>
            <a:r>
              <a:rPr sz="1250" b="0" i="0" u="sng" dirty="0">
                <a:solidFill>
                  <a:srgbClr val="FFFFFF"/>
                </a:solidFill>
                <a:latin typeface="Arial"/>
              </a:rPr>
              <a:t>net incremental revenue</a:t>
            </a:r>
            <a:r>
              <a:rPr sz="1250" b="0" i="0" dirty="0">
                <a:solidFill>
                  <a:srgbClr val="FFFFFF"/>
                </a:solidFill>
                <a:latin typeface="Arial"/>
              </a:rPr>
              <a:t> (+29% vs the no-campaign baseline).</a:t>
            </a:r>
            <a:endParaRPr lang="en-US" sz="1250" b="0" i="0" dirty="0">
              <a:solidFill>
                <a:srgbClr val="FFFFFF"/>
              </a:solidFill>
              <a:latin typeface="Arial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b="0" i="0" dirty="0">
                <a:solidFill>
                  <a:srgbClr val="FFFFFF"/>
                </a:solidFill>
                <a:latin typeface="Arial"/>
              </a:rPr>
              <a:t>Gross Margin was $114.2K. After direct marketing expenses, </a:t>
            </a:r>
            <a:r>
              <a:rPr lang="en-US" sz="1250" b="0" i="0" u="sng" dirty="0">
                <a:solidFill>
                  <a:srgbClr val="FFFFFF"/>
                </a:solidFill>
                <a:latin typeface="Arial"/>
              </a:rPr>
              <a:t>Contribution Margin</a:t>
            </a:r>
            <a:r>
              <a:rPr lang="en-US" sz="1250" b="0" i="0" dirty="0">
                <a:solidFill>
                  <a:srgbClr val="FFFFFF"/>
                </a:solidFill>
                <a:latin typeface="Arial"/>
              </a:rPr>
              <a:t> (CM3) is $24.1K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en-US" sz="1250" u="sng" dirty="0">
                <a:solidFill>
                  <a:srgbClr val="FFFFFF"/>
                </a:solidFill>
                <a:latin typeface="Arial"/>
              </a:rPr>
              <a:t>Limited factors</a:t>
            </a:r>
            <a:r>
              <a:rPr lang="en-US" sz="1250" dirty="0">
                <a:solidFill>
                  <a:srgbClr val="FFFFFF"/>
                </a:solidFill>
                <a:latin typeface="Arial"/>
              </a:rPr>
              <a:t> included cannibalization of existing portfolio and limited availability in core sizes.</a:t>
            </a:r>
            <a:endParaRPr sz="1250" b="0" i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2</a:t>
            </a:r>
          </a:p>
        </p:txBody>
      </p:sp>
      <p:pic>
        <p:nvPicPr>
          <p:cNvPr id="28" name="Picture 2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TOPLINE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Footwear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revenue was 33</a:t>
            </a:r>
            <a:r>
              <a:rPr sz="2300" b="0" i="0" dirty="0">
                <a:solidFill>
                  <a:srgbClr val="000000"/>
                </a:solidFill>
                <a:latin typeface="Georgia"/>
              </a:rPr>
              <a:t>% above the no-campaign baseline throughout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</a:rPr>
              <a:t>the launch</a:t>
            </a:r>
            <a:endParaRPr sz="2300" b="0" i="0" dirty="0">
              <a:solidFill>
                <a:srgbClr val="000000"/>
              </a:solidFill>
              <a:latin typeface="Georgia"/>
            </a:endParaRP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365760" y="1600200"/>
          <a:ext cx="8001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5532120" y="1783080"/>
            <a:ext cx="0" cy="3794760"/>
          </a:xfrm>
          <a:prstGeom prst="line">
            <a:avLst/>
          </a:prstGeom>
          <a:ln w="127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23560" y="178308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Arial"/>
              </a:rPr>
              <a:t>Campaign start · Mar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1080" y="1737360"/>
            <a:ext cx="310896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1" i="0" dirty="0">
                <a:solidFill>
                  <a:srgbClr val="757575"/>
                </a:solidFill>
                <a:latin typeface="Arial"/>
              </a:rPr>
              <a:t>ACTIVE CAMPAIGN, 6 WEEKS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Observed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333333"/>
                </a:solidFill>
                <a:latin typeface="Arial"/>
              </a:rPr>
              <a:t>$542.9K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Counterfactual baseline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757575"/>
                </a:solidFill>
                <a:latin typeface="Arial"/>
              </a:rPr>
              <a:t>$408.3K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0" i="0" dirty="0">
                <a:solidFill>
                  <a:srgbClr val="757575"/>
                </a:solidFill>
                <a:latin typeface="Arial"/>
              </a:rPr>
              <a:t>Incremental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200" b="1" i="0" dirty="0">
                <a:solidFill>
                  <a:srgbClr val="0057B8"/>
                </a:solidFill>
                <a:latin typeface="Arial"/>
              </a:rPr>
              <a:t>+$134.6K  (+33%)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 dirty="0">
                <a:solidFill>
                  <a:srgbClr val="333333"/>
                </a:solidFill>
                <a:latin typeface="Arial"/>
              </a:rPr>
              <a:t>95% CI +30% to +36% · every campaign week ran above baseline · peak gap +$30K in launch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 dirty="0">
                <a:solidFill>
                  <a:srgbClr val="757575"/>
                </a:solidFill>
                <a:latin typeface="Arial"/>
              </a:rPr>
              <a:t>Salomon NA eCommerce · Vestal Pro launch readout · Baseline: pre-period trend + weekly seasonality; </a:t>
            </a:r>
            <a:r>
              <a:rPr sz="800" b="0" i="0" dirty="0" err="1">
                <a:solidFill>
                  <a:srgbClr val="757575"/>
                </a:solidFill>
                <a:latin typeface="Arial"/>
              </a:rPr>
              <a:t>backtest</a:t>
            </a:r>
            <a:r>
              <a:rPr sz="800" b="0" i="0" dirty="0">
                <a:solidFill>
                  <a:srgbClr val="757575"/>
                </a:solidFill>
                <a:latin typeface="Arial"/>
              </a:rPr>
              <a:t> MAPE 10.1%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5</a:t>
            </a:r>
          </a:p>
        </p:txBody>
      </p:sp>
      <p:pic>
        <p:nvPicPr>
          <p:cNvPr id="10" name="Picture 9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REVENUE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After franchise shift and media cost, the launch created ≈$52K of net new revenue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74320" y="1554480"/>
          <a:ext cx="7223760" cy="4526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0" y="1691640"/>
            <a:ext cx="3931920" cy="429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000" b="1" i="0">
                <a:solidFill>
                  <a:srgbClr val="757575"/>
                </a:solidFill>
                <a:latin typeface="Arial"/>
              </a:rPr>
              <a:t>HOW TO READ THIS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Baseline business of $494.7K would have occurred without the campaign and is excluded — only movement vs baseline is counted.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Franchise shift: $73.1K of Vestal Pro revenue displaced Sense Ride and Genesis sales, net of Speedcross substitution gains.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Media basis: $155.8K active spend less the $65.8K pre-period run-rate the business would have spent anyway → $90.1K incremental.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00" b="0" i="0">
                <a:solidFill>
                  <a:srgbClr val="333333"/>
                </a:solidFill>
                <a:latin typeface="Arial"/>
              </a:rPr>
              <a:t>Return on incremental media: $142.5K ÷ $90.1K = 1.58× on a revenue basis. A margin-adjusted view requires COGS, which this dataset does not track.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6</a:t>
            </a:r>
          </a:p>
        </p:txBody>
      </p:sp>
      <p:pic>
        <p:nvPicPr>
          <p:cNvPr id="8" name="Picture 7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CUSTOMER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44% of Vestal Pro buyers were new to Salomon, acquired at half their early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3383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BUYER MIX (N = 1,335)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02920" y="1828800"/>
          <a:ext cx="3383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24612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600" b="1" i="0">
                <a:solidFill>
                  <a:srgbClr val="000000"/>
                </a:solidFill>
                <a:latin typeface="Arial"/>
              </a:rPr>
              <a:t>44%</a:t>
            </a:r>
          </a:p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757575"/>
                </a:solidFill>
                <a:latin typeface="Arial"/>
              </a:rPr>
              <a:t>new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0352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0057B8"/>
                </a:solidFill>
                <a:latin typeface="Arial"/>
              </a:rPr>
              <a:t>New 590 · </a:t>
            </a:r>
            <a:r>
              <a:rPr sz="1100" b="1" i="0">
                <a:solidFill>
                  <a:srgbClr val="757575"/>
                </a:solidFill>
                <a:latin typeface="Arial"/>
              </a:rPr>
              <a:t>Existing 745</a:t>
            </a:r>
          </a:p>
          <a:p>
            <a:pPr algn="ctr">
              <a:spcAft>
                <a:spcPts val="3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Success criterion ≥ 25% · </a:t>
            </a:r>
            <a:r>
              <a:rPr sz="1050" b="1" i="0">
                <a:solidFill>
                  <a:srgbClr val="1F7A4D"/>
                </a:solidFill>
                <a:latin typeface="Arial"/>
              </a:rPr>
              <a:t>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48132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ACQUISITION ECONOMICS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847088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$104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Blended CAC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$155.8K spend ÷ 1,499 new customers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83464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$130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First-order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average first basket, new customers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822191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0057B8"/>
                </a:solidFill>
                <a:latin typeface="Arial"/>
              </a:rPr>
              <a:t>$212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Early customer value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revenue through May 10 · 2.0× CAC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809744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 i="0">
                <a:solidFill>
                  <a:srgbClr val="333333"/>
                </a:solidFill>
                <a:latin typeface="Arial"/>
              </a:rPr>
              <a:t>27%   </a:t>
            </a:r>
            <a:r>
              <a:rPr sz="1200" b="1" i="0">
                <a:solidFill>
                  <a:srgbClr val="333333"/>
                </a:solidFill>
                <a:latin typeface="Arial"/>
              </a:rPr>
              <a:t>Post-period repeat rate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 i="0">
                <a:solidFill>
                  <a:srgbClr val="757575"/>
                </a:solidFill>
                <a:latin typeface="Arial"/>
              </a:rPr>
              <a:t>repurchased within 4 weeks of flight 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76072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757575"/>
                </a:solidFill>
                <a:latin typeface="Arial"/>
              </a:rPr>
              <a:t>Full LTV needs cohort history beyond this window; early value already covers CAC twice over.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481328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DATABASE ADDS PER DAY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8046719" y="1828800"/>
          <a:ext cx="36576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83879" y="5074920"/>
            <a:ext cx="3520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Email +34% · SMS +40% vs pre-period run-rate → 2,776 email and 1,447 SMS adds in six weeks.</a:t>
            </a:r>
          </a:p>
          <a:p>
            <a:pPr algn="l">
              <a:lnSpc>
                <a:spcPct val="108000"/>
              </a:lnSpc>
              <a:spcAft>
                <a:spcPts val="500"/>
              </a:spcAft>
            </a:pPr>
            <a:r>
              <a:rPr sz="1050" b="0" i="0">
                <a:solidFill>
                  <a:srgbClr val="333333"/>
                </a:solidFill>
                <a:latin typeface="Arial"/>
              </a:rPr>
              <a:t>New Vestal Pro buyers opt in at 77% email / 47% SMS vs a 56% / 28% site average.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No numeric CAC or database targets were set pre-launch — set them next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7</a:t>
            </a:r>
          </a:p>
        </p:txBody>
      </p:sp>
      <p:pic>
        <p:nvPicPr>
          <p:cNvPr id="19" name="Picture 18" descr="salomon_wordmark_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CANNIBALIZATION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An estimated 22–30% of Vestal Pro units shifted from existing franchises — at the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EXISTING-FRANCHISE UNITS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  <a:latin typeface="Arial"/>
              </a:rPr>
              <a:t>Speedcross gained — substitution capture when Vestal Pro core sizes stocked 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OVERALL CANNIBALIZATION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DA291C"/>
                </a:solidFill>
                <a:latin typeface="Arial"/>
              </a:rPr>
              <a:t>22–30%</a:t>
            </a:r>
            <a:r>
              <a:rPr sz="1300" b="0" i="0">
                <a:solidFill>
                  <a:srgbClr val="333333"/>
                </a:solidFill>
                <a:latin typeface="Arial"/>
              </a:rPr>
              <a:t>   of Vestal Pro units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757575"/>
                </a:solidFill>
                <a:latin typeface="Arial"/>
              </a:rPr>
              <a:t>Guardrail &lt; 25% · </a:t>
            </a:r>
            <a:r>
              <a:rPr sz="1150" b="1" i="0">
                <a:solidFill>
                  <a:srgbClr val="757575"/>
                </a:solidFill>
                <a:latin typeface="Arial"/>
              </a:rPr>
              <a:t>WATCH</a:t>
            </a:r>
            <a:r>
              <a:rPr sz="1150" b="0" i="0">
                <a:solidFill>
                  <a:srgbClr val="757575"/>
                </a:solidFill>
                <a:latin typeface="Arial"/>
              </a:rPr>
              <a:t> — at the line, not clearly through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3017520"/>
            <a:ext cx="45720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Central estimates (recent-baseline and flat-seasonal models) span 22–30%; the full range across specifications is 17–42%.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$73.1K of existing-franchise revenue was displaced — about a third of Vestal Pro's $207.7K direct revenue.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Shift concentrated where positioning overlaps: Sense Ride (−24%) and Genesis (−18%), both high-cushion trail franchises.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Launch remains clearly net-positive: +$134.6K incremental footwear revenue after absorbing the shift.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Unit baselines per franchise; range reflects three baseline specifications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8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HALO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Adjacent categories lifted +9%, but as standalone purchases, not bigger baskets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ADJACENT-CATEGORY REVENUE VS EXPECTED BASELINE, ACTIVE FLIGHT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023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  <a:latin typeface="Arial"/>
              </a:rPr>
              <a:t>Success criterion ≥ +5%: </a:t>
            </a:r>
            <a:r>
              <a:rPr sz="1000" b="1" i="0">
                <a:solidFill>
                  <a:srgbClr val="1F7A4D"/>
                </a:solidFill>
                <a:latin typeface="Arial"/>
              </a:rPr>
              <a:t>PASS</a:t>
            </a:r>
            <a:r>
              <a:rPr sz="1000" b="0" i="0">
                <a:solidFill>
                  <a:srgbClr val="757575"/>
                </a:solidFill>
                <a:latin typeface="Arial"/>
              </a:rPr>
              <a:t>  (+9.2%, 95% CI +3.0% to +15.4% · +$7.9K)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8132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ATTACH RATE TO VESTAL PRO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828800"/>
            <a:ext cx="4572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Arial"/>
              </a:rPr>
              <a:t>17.8%</a:t>
            </a:r>
            <a:r>
              <a:rPr sz="1300" b="0" i="0">
                <a:solidFill>
                  <a:srgbClr val="757575"/>
                </a:solidFill>
                <a:latin typeface="Arial"/>
              </a:rPr>
              <a:t>   flat vs 18.0% pre-period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834640"/>
            <a:ext cx="45720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The halo arrived as standalone adjacent purchases driven by campaign traffic and awareness — not as bigger Vestal Pro baskets.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Accessories led (+16.9%); apparel followed (+5.4%). Other footwear orders attached at the same 18% rate.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Opportunity: PDP bundles (socks, gaiters, hydration) and CRM cross-sell journeys to convert awareness halo into basket halo.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Baseline: pre-period trend + weekly seasonality per category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9</a:t>
            </a:r>
          </a:p>
        </p:txBody>
      </p:sp>
      <p:pic>
        <p:nvPicPr>
          <p:cNvPr id="12" name="Picture 11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CRM and affiliate cleared breakeven on incremental ROAS; paid media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INCREMENTAL ROAS BY CHANNEL (BREAKEVEN = 1.0×)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CRM: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8% of spend, 44% of attributed revenue. Efficient activation of existing buyers — though without a holdout, high-intent audiences inflate its read.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social: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59% of spend at 0.3× iROAS — but it acquired 629 of 1,499 new customers (42%) at $147 CAC vs $212 early value. It pays back as acquisition, not immediate revenue; judge it on CAC and LTV.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Paid search: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0.9× — strong early flight, efficiency fell as core sizes stocked out while spend kept running.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757575"/>
                </a:solidFill>
                <a:latin typeface="Arial"/>
              </a:rPr>
              <a:t>•  Method: </a:t>
            </a:r>
            <a:r>
              <a:rPr sz="1150" b="0" i="0">
                <a:solidFill>
                  <a:srgbClr val="757575"/>
                </a:solidFill>
                <a:latin typeface="Arial"/>
              </a:rPr>
              <a:t>iROAS = attributed ROAS × 0.31 site-level incrementality factor, applied uniformly (no holdout or geo split this flight). Attributed ROAS: Email 23.2×, SMS 8.3×, Affiliate 4.2×, Search 3.0×, Social 1.0×.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GUARDRAIL SCORECARD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Pricing and basket guardrails held; returns, service load, and availability strained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54480"/>
          <a:ext cx="11183112" cy="42565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9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Pre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flight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73152" marR="36576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Average order value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$123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$132  (+7.1%)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Footwear mix plus accessory attachment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Discounting (ASP proxy)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Vestal Pro $145, full price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7A4D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launch markdown; post-period ASP eased 7.7% to $134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Site conversion rate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2.33%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2.42% avg · 2.23% wk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Improved early, then fell below pre-period as core sizes depleted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site-wide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6.6%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8.7%  (+2.1 pts)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Within the 1–3 pt launch expectation; still maturing post-period (9.4%)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Return rate,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14.4% → 19.8% post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≈2× fleet average; sizing-and-fit driven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Service contact rate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3.5%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7.7% of orders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57575"/>
                          </a:solidFill>
                          <a:latin typeface="Arial"/>
                        </a:rPr>
                        <a:t>WATCH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Sizing +199%, inventory +152%, comparison +109% vs pre-period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Core-size availability, Vestal Pro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56% by week 6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3261E"/>
                          </a:solidFill>
                          <a:latin typeface="Arial"/>
                        </a:rPr>
                        <a:t>MISS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Below 90% from week 3; ≈$20K modeled unmet demand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Email / SMS unsubscribes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No send-level CRM data captured — instrument next flight</a:t>
                      </a:r>
                    </a:p>
                  </a:txBody>
                  <a:tcPr marL="73152" marR="36576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333333"/>
                          </a:solidFill>
                          <a:latin typeface="Arial"/>
                        </a:rPr>
                        <a:t>Gross margin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33333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D9D9D9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757575"/>
                          </a:solidFill>
                          <a:latin typeface="Arial"/>
                        </a:rPr>
                        <a:t>COGS not tracked; price and discount proxies look healthy</a:t>
                      </a:r>
                    </a:p>
                  </a:txBody>
                  <a:tcPr marL="73152" marR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11</a:t>
            </a:r>
          </a:p>
        </p:txBody>
      </p:sp>
      <p:pic>
        <p:nvPicPr>
          <p:cNvPr id="7" name="Picture 6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>
                <a:solidFill>
                  <a:srgbClr val="000000"/>
                </a:solidFill>
                <a:latin typeface="Georgia"/>
              </a:rPr>
              <a:t>Core sizes were 44% unavailable by week 6, costing an estimated $20K in demand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81328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57575"/>
                </a:solidFill>
                <a:latin typeface="Arial"/>
              </a:rPr>
              <a:t>VESTAL PRO AVAILABILITY BY CAMPAIGN WEEK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828800"/>
          <a:ext cx="6309360" cy="39776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86600" y="160020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 i="0">
                <a:solidFill>
                  <a:srgbClr val="333333"/>
                </a:solidFill>
                <a:latin typeface="Arial"/>
              </a:rPr>
              <a:t>•  Depletion, not demand, ended the flight: </a:t>
            </a:r>
            <a:r>
              <a:rPr sz="1150" b="0" i="0">
                <a:solidFill>
                  <a:srgbClr val="333333"/>
                </a:solidFill>
                <a:latin typeface="Arial"/>
              </a:rPr>
              <a:t>core sizes (M9–11, W7–9) fell below 90% in week 3 and hit 56% by week 6.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Vestal Pro sell-through conversion fell 35% (5.2% weeks 1–3 → 3.4% week 6) while paid media kept sending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Modeled unmet demand: ≈140 units, ≈$20.4K, from applying early-flight conversion to weeks 4–6 traffic.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Site conversion followed: 2.52% week 1 → 2.23% week 6, below the 2.33% pre-period average.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 i="0">
                <a:solidFill>
                  <a:srgbClr val="333333"/>
                </a:solidFill>
                <a:latin typeface="Arial"/>
              </a:rPr>
              <a:t>•  Speedcross picked up +14% units as shoppers substituted — a partial, lower-price offset.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12</a:t>
            </a:r>
          </a:p>
        </p:txBody>
      </p:sp>
      <p:pic>
        <p:nvPicPr>
          <p:cNvPr id="9" name="Picture 8" descr="salomon_wordmark_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Arial"/>
              </a:rPr>
              <a:t>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Georgia"/>
              </a:rPr>
              <a:t>Six changes for the next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18488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Buy deeper on core sizes.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Week-3 depletion of M9–11 / W7–9 cost ≈140 units (≈$20K) and dragged site conversion below baseline by week 6. Size-curve depth should cover a full 6-week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86584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04872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Tie paid media to inventory signals.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Throttle prospecting when core-size availability drops below 80%. Paid social ran 59% of budget at 0.3× iROAS into a constrained assortment; reallocate mid-flight to CRM and search.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72968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91256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Judge paid social on acquisition economics, not last-click revenue.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It delivered 42% of new customers at $147 CAC against $212 early customer value. Set a CAC target pre-launch and add a day-90 LTV readout.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9352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77639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Fix sizing upstream of the return.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Vestal Pro returns hit 14–20% (≈2× fleet) and sizing contacts tripled. Add fit guidance to the PDP, launch emails, and post-purchase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764023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Convert the halo into baskets.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Adjacent demand lifted +9% but attach to Vestal Pro orders stayed flat at 18%. Bundle socks and accessories at PDP and activate the 2,776 email / 1,447 SMS adds on cross-category journeys.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502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57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550407"/>
            <a:ext cx="9966960" cy="7498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Instrument incrementality before launch day.  </a:t>
            </a:r>
            <a:r>
              <a:rPr sz="1150" b="0" i="0">
                <a:solidFill>
                  <a:srgbClr val="BFD5ED"/>
                </a:solidFill>
                <a:latin typeface="Arial"/>
              </a:rPr>
              <a:t>Field a CRM holdout and a geo split, set numeric revenue / CAC / database targets, and track COGS and unsubscribes so the next readout measures margin, not proxies.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CA7C4-DD03-977A-26ED-597F07993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9E9FC8-0A6C-639A-55CC-FF675D22BB1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A55F5F-4D4F-01B7-4269-502598763585}"/>
              </a:ext>
            </a:extLst>
          </p:cNvPr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  <a:latin typeface="Georgia"/>
              </a:rPr>
              <a:t>APPENDIX</a:t>
            </a:r>
            <a:endParaRPr sz="4400" b="0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5042CB-5990-BF91-038A-7DA5859E0C0B}"/>
              </a:ext>
            </a:extLst>
          </p:cNvPr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757575"/>
                </a:solidFill>
                <a:latin typeface="Arial"/>
              </a:rPr>
              <a:t>Marketing Insights &amp; Analytics</a:t>
            </a:r>
          </a:p>
        </p:txBody>
      </p:sp>
      <p:pic>
        <p:nvPicPr>
          <p:cNvPr id="7" name="Picture 6" descr="salomon_wordmark_white.png">
            <a:extLst>
              <a:ext uri="{FF2B5EF4-FFF2-40B4-BE49-F238E27FC236}">
                <a16:creationId xmlns:a16="http://schemas.microsoft.com/office/drawing/2014/main" id="{7E51FCA6-267E-8599-5BE8-752560193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00000"/>
            <a:ext cx="2560320" cy="293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470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57575"/>
                </a:solidFill>
                <a:latin typeface="Arial"/>
              </a:rPr>
              <a:t>MEASUREMENT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201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0" i="0" dirty="0">
                <a:solidFill>
                  <a:srgbClr val="000000"/>
                </a:solidFill>
                <a:latin typeface="Georgia"/>
              </a:rPr>
              <a:t>Impact is measured against a modeled no-campaign baseline, not channel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COUNTERFACTUAL BASELINE   </a:t>
            </a:r>
            <a:r>
              <a:rPr sz="1000" b="1" i="0" dirty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84831"/>
            <a:ext cx="4937760" cy="743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Expected no-campaign revenue = linear trend + </a:t>
            </a:r>
            <a:r>
              <a:rPr lang="en-US" sz="1100" b="0" i="0" dirty="0">
                <a:solidFill>
                  <a:srgbClr val="333333"/>
                </a:solidFill>
                <a:latin typeface="Arial"/>
              </a:rPr>
              <a:t>weekly </a:t>
            </a:r>
            <a:r>
              <a:rPr sz="1100" b="0" i="0" dirty="0">
                <a:solidFill>
                  <a:srgbClr val="333333"/>
                </a:solidFill>
                <a:latin typeface="Arial"/>
              </a:rPr>
              <a:t>seasonality, fit to the 8-week pre-period and projected through the flight. Validated on a held-out final fortnight of the pre-period: 8.8–10.1% mean error. Lift is reported with 95% confidence intervals.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1072" y="155448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19672" y="173736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IMPACT DECOMPOSITION   </a:t>
            </a:r>
            <a:r>
              <a:rPr sz="1000" b="1" i="0">
                <a:solidFill>
                  <a:srgbClr val="0057B8"/>
                </a:solidFill>
                <a:latin typeface="Arial"/>
              </a:rPr>
              <a:t>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084831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Net campaign value = direct Vestal Pro revenue − franchise shift (cannibalization) + adjacent-category halo − incremental media spend. Franchise shift is stress-tested across three baseline specifications and reported as a range, not a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000000"/>
                </a:solidFill>
                <a:latin typeface="Arial"/>
              </a:rPr>
              <a:t>CRM HOLDOUT   </a:t>
            </a:r>
            <a:r>
              <a:rPr sz="1000" b="1" i="0" dirty="0">
                <a:solidFill>
                  <a:srgbClr val="757575"/>
                </a:solidFill>
                <a:latin typeface="Arial"/>
              </a:rPr>
              <a:t>NOT FIELDED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 dirty="0">
                <a:solidFill>
                  <a:srgbClr val="333333"/>
                </a:solidFill>
                <a:latin typeface="Arial"/>
              </a:rPr>
              <a:t>No held-out control group was reserved this flight, so channel-level incrementality is proxied: attributed revenue is scaled to the site-level incremental total (factor 0.31). Reserve a 10% CRM holdout next launch to measure it directly.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1072" y="3794760"/>
            <a:ext cx="5394960" cy="2011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39776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00000"/>
                </a:solidFill>
                <a:latin typeface="Arial"/>
              </a:rPr>
              <a:t>GEO SPLIT   </a:t>
            </a:r>
            <a:r>
              <a:rPr sz="1000" b="1" i="0">
                <a:solidFill>
                  <a:srgbClr val="757575"/>
                </a:solidFill>
                <a:latin typeface="Arial"/>
              </a:rP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325112"/>
            <a:ext cx="49377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333333"/>
                </a:solidFill>
                <a:latin typeface="Arial"/>
              </a:rPr>
              <a:t>Campaign reporting carries no regional dimension, so no geo-matched test was possible. A matched-market design on the next launch would give a second, model-free read on incrementality.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57575"/>
                </a:solidFill>
                <a:latin typeface="Arial"/>
              </a:rPr>
              <a:t>Salomon NA eCommerce · Vestal Pro launch readout · Illustrative synthetic case data · All lift figures are modeled estimates vs a no-campaign 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757575"/>
                </a:solidFill>
                <a:latin typeface="Arial"/>
              </a:rPr>
              <a:t>4</a:t>
            </a:r>
          </a:p>
        </p:txBody>
      </p:sp>
      <p:pic>
        <p:nvPicPr>
          <p:cNvPr id="18" name="Picture 17" descr="salomon_wordmark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292608"/>
            <a:ext cx="960120" cy="1100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2200</Words>
  <Application>Microsoft Office PowerPoint</Application>
  <PresentationFormat>Widescreen</PresentationFormat>
  <Paragraphs>230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Anderson, Edward Clifford (eca4zm)</cp:lastModifiedBy>
  <cp:revision>6</cp:revision>
  <dcterms:created xsi:type="dcterms:W3CDTF">2013-01-27T09:14:16Z</dcterms:created>
  <dcterms:modified xsi:type="dcterms:W3CDTF">2026-07-16T20:06:30Z</dcterms:modified>
  <cp:category/>
</cp:coreProperties>
</file>