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footwear revenue</c:v>
                </c:pt>
              </c:strCache>
            </c:strRef>
          </c:tx>
          <c:spPr>
            <a:ln w="34925">
              <a:solidFill>
                <a:srgbClr val="2251FF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Jan 5</c:v>
                </c:pt>
                <c:pt idx="1">
                  <c:v>Jan 12</c:v>
                </c:pt>
                <c:pt idx="2">
                  <c:v>Jan 19</c:v>
                </c:pt>
                <c:pt idx="3">
                  <c:v>Jan 26</c:v>
                </c:pt>
                <c:pt idx="4">
                  <c:v>Feb 2</c:v>
                </c:pt>
                <c:pt idx="5">
                  <c:v>Feb 9</c:v>
                </c:pt>
                <c:pt idx="6">
                  <c:v>Feb 16</c:v>
                </c:pt>
                <c:pt idx="7">
                  <c:v>Feb 23</c:v>
                </c:pt>
                <c:pt idx="8">
                  <c:v>Mar 2</c:v>
                </c:pt>
                <c:pt idx="9">
                  <c:v>Mar 9</c:v>
                </c:pt>
                <c:pt idx="10">
                  <c:v>Mar 16</c:v>
                </c:pt>
                <c:pt idx="11">
                  <c:v>Mar 23</c:v>
                </c:pt>
                <c:pt idx="12">
                  <c:v>Mar 30</c:v>
                </c:pt>
                <c:pt idx="13">
                  <c:v>Apr 6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59675</c:v>
                </c:pt>
                <c:pt idx="1">
                  <c:v>59754</c:v>
                </c:pt>
                <c:pt idx="2">
                  <c:v>58025</c:v>
                </c:pt>
                <c:pt idx="3">
                  <c:v>61476</c:v>
                </c:pt>
                <c:pt idx="4">
                  <c:v>62771</c:v>
                </c:pt>
                <c:pt idx="5">
                  <c:v>62908</c:v>
                </c:pt>
                <c:pt idx="6">
                  <c:v>68234</c:v>
                </c:pt>
                <c:pt idx="7">
                  <c:v>61971</c:v>
                </c:pt>
                <c:pt idx="8">
                  <c:v>95778</c:v>
                </c:pt>
                <c:pt idx="9">
                  <c:v>91117</c:v>
                </c:pt>
                <c:pt idx="10">
                  <c:v>93839</c:v>
                </c:pt>
                <c:pt idx="11">
                  <c:v>92751</c:v>
                </c:pt>
                <c:pt idx="12">
                  <c:v>85777</c:v>
                </c:pt>
                <c:pt idx="13">
                  <c:v>83631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No-campaign counterfactual</c:v>
                </c:pt>
              </c:strCache>
            </c:strRef>
          </c:tx>
          <c:spPr>
            <a:ln w="25400">
              <a:solidFill>
                <a:srgbClr val="757575"/>
              </a:solidFill>
              <a:prstDash val="dash"/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Jan 5</c:v>
                </c:pt>
                <c:pt idx="1">
                  <c:v>Jan 12</c:v>
                </c:pt>
                <c:pt idx="2">
                  <c:v>Jan 19</c:v>
                </c:pt>
                <c:pt idx="3">
                  <c:v>Jan 26</c:v>
                </c:pt>
                <c:pt idx="4">
                  <c:v>Feb 2</c:v>
                </c:pt>
                <c:pt idx="5">
                  <c:v>Feb 9</c:v>
                </c:pt>
                <c:pt idx="6">
                  <c:v>Feb 16</c:v>
                </c:pt>
                <c:pt idx="7">
                  <c:v>Feb 23</c:v>
                </c:pt>
                <c:pt idx="8">
                  <c:v>Mar 2</c:v>
                </c:pt>
                <c:pt idx="9">
                  <c:v>Mar 9</c:v>
                </c:pt>
                <c:pt idx="10">
                  <c:v>Mar 16</c:v>
                </c:pt>
                <c:pt idx="11">
                  <c:v>Mar 23</c:v>
                </c:pt>
                <c:pt idx="12">
                  <c:v>Mar 30</c:v>
                </c:pt>
                <c:pt idx="13">
                  <c:v>Apr 6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58751</c:v>
                </c:pt>
                <c:pt idx="1">
                  <c:v>59637</c:v>
                </c:pt>
                <c:pt idx="2">
                  <c:v>60523</c:v>
                </c:pt>
                <c:pt idx="3">
                  <c:v>61409</c:v>
                </c:pt>
                <c:pt idx="4">
                  <c:v>62295</c:v>
                </c:pt>
                <c:pt idx="5">
                  <c:v>63181</c:v>
                </c:pt>
                <c:pt idx="6">
                  <c:v>64067</c:v>
                </c:pt>
                <c:pt idx="7">
                  <c:v>64953</c:v>
                </c:pt>
                <c:pt idx="8">
                  <c:v>65839</c:v>
                </c:pt>
                <c:pt idx="9">
                  <c:v>66725</c:v>
                </c:pt>
                <c:pt idx="10">
                  <c:v>67611</c:v>
                </c:pt>
                <c:pt idx="11">
                  <c:v>68497</c:v>
                </c:pt>
                <c:pt idx="12">
                  <c:v>69383</c:v>
                </c:pt>
                <c:pt idx="13">
                  <c:v>70269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900">
                <a:solidFill>
                  <a:srgbClr val="757575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000.0"/>
          <c:min val="0.0"/>
        </c:scaling>
        <c:delete val="0"/>
        <c:axPos val="l"/>
        <c:majorGridlines>
          <c:spPr>
            <a:ln w="6350">
              <a:solidFill>
                <a:srgbClr val="ECECEC"/>
              </a:solidFill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757575"/>
                </a:solidFill>
                <a:latin typeface="Arial"/>
              </a:defRPr>
            </a:pPr>
          </a:p>
        </c:txPr>
        <c:crossAx val="2118791784"/>
        <c:crosses val="autoZero"/>
        <c:majorUnit val="25000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Ledger</c:v>
                </c:pt>
              </c:strCache>
            </c:strRef>
          </c:tx>
          <c:dPt>
            <c:idx val="0"/>
            <c:spPr>
              <a:solidFill>
                <a:srgbClr val="051C2C"/>
              </a:solidFill>
            </c:spPr>
          </c:dPt>
          <c:dPt>
            <c:idx val="1"/>
            <c:spPr>
              <a:solidFill>
                <a:srgbClr val="757575"/>
              </a:solidFill>
            </c:spPr>
          </c:dPt>
          <c:dPt>
            <c:idx val="2"/>
            <c:spPr>
              <a:solidFill>
                <a:srgbClr val="051C2C"/>
              </a:solidFill>
            </c:spPr>
          </c:dPt>
          <c:dPt>
            <c:idx val="3"/>
            <c:spPr>
              <a:solidFill>
                <a:srgbClr val="2251FF"/>
              </a:solidFill>
            </c:spPr>
          </c:dPt>
          <c:dPt>
            <c:idx val="4"/>
            <c:spPr>
              <a:solidFill>
                <a:srgbClr val="757575"/>
              </a:solidFill>
            </c:spPr>
          </c:dPt>
          <c:dPt>
            <c:idx val="5"/>
            <c:spPr>
              <a:solidFill>
                <a:srgbClr val="2251FF"/>
              </a:solidFill>
            </c:spPr>
          </c:dPt>
          <c:cat>
            <c:strRef>
              <c:f>Sheet1!$A$2:$A$7</c:f>
              <c:strCache>
                <c:ptCount val="6"/>
                <c:pt idx="0">
                  <c:v>Net campaign value (revenue basis)</c:v>
                </c:pt>
                <c:pt idx="1">
                  <c:v>Incremental media spend</c:v>
                </c:pt>
                <c:pt idx="2">
                  <c:v>Net incremental revenue</c:v>
                </c:pt>
                <c:pt idx="3">
                  <c:v>Adjacent-category halo</c:v>
                </c:pt>
                <c:pt idx="4">
                  <c:v>Franchise shift (cannibalization)</c:v>
                </c:pt>
                <c:pt idx="5">
                  <c:v>Ultra Glide 15 direct revenue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52448</c:v>
                </c:pt>
                <c:pt idx="1">
                  <c:v>-90051</c:v>
                </c:pt>
                <c:pt idx="2">
                  <c:v>142499</c:v>
                </c:pt>
                <c:pt idx="3">
                  <c:v>7928</c:v>
                </c:pt>
                <c:pt idx="4">
                  <c:v>-73100</c:v>
                </c:pt>
                <c:pt idx="5">
                  <c:v>207671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sz="1050" b="1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>
                <a:solidFill>
                  <a:srgbClr val="757575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numFmt formatCode=";;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Buyers</c:v>
                </c:pt>
              </c:strCache>
            </c:strRef>
          </c:tx>
          <c:dPt>
            <c:idx val="0"/>
            <c:spPr>
              <a:solidFill>
                <a:srgbClr val="2251FF"/>
              </a:solidFill>
              <a:ln w="254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D9D9D9"/>
              </a:solidFill>
              <a:ln w="2540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New to Salomon</c:v>
                </c:pt>
                <c:pt idx="1">
                  <c:v>Existing customers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590</c:v>
                </c:pt>
                <c:pt idx="1">
                  <c:v>745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Pre-period</c:v>
                </c:pt>
              </c:strCache>
            </c:strRef>
          </c:tx>
          <c:spPr>
            <a:solidFill>
              <a:srgbClr val="D9D9D9"/>
            </a:solidFill>
          </c:spPr>
          <c:cat>
            <c:strRef>
              <c:f>Sheet1!$A$2:$A$3</c:f>
              <c:strCache>
                <c:ptCount val="2"/>
                <c:pt idx="0">
                  <c:v>Email</c:v>
                </c:pt>
                <c:pt idx="1">
                  <c:v>SMS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49.25</c:v>
                </c:pt>
                <c:pt idx="1">
                  <c:v>24.571428571428573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Active campaign</c:v>
                </c:pt>
              </c:strCache>
            </c:strRef>
          </c:tx>
          <c:spPr>
            <a:solidFill>
              <a:srgbClr val="2251FF"/>
            </a:solidFill>
          </c:spPr>
          <c:cat>
            <c:strRef>
              <c:f>Sheet1!$A$2:$A$3</c:f>
              <c:strCache>
                <c:ptCount val="2"/>
                <c:pt idx="0">
                  <c:v>Email</c:v>
                </c:pt>
                <c:pt idx="1">
                  <c:v>SMS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66.0952380952381</c:v>
                </c:pt>
                <c:pt idx="1">
                  <c:v>34.45238095238095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>
                <a:solidFill>
                  <a:srgbClr val="757575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;;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50">
              <a:solidFill>
                <a:srgbClr val="333333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vs baseline</c:v>
                </c:pt>
              </c:strCache>
            </c:strRef>
          </c:tx>
          <c:dPt>
            <c:idx val="0"/>
            <c:spPr>
              <a:solidFill>
                <a:srgbClr val="2251FF"/>
              </a:solidFill>
            </c:spPr>
          </c:dPt>
          <c:dPt>
            <c:idx val="1"/>
            <c:spPr>
              <a:solidFill>
                <a:srgbClr val="2251FF"/>
              </a:solidFill>
            </c:spPr>
          </c:dPt>
          <c:dPt>
            <c:idx val="2"/>
            <c:spPr>
              <a:solidFill>
                <a:srgbClr val="00A9F4"/>
              </a:solidFill>
            </c:spPr>
          </c:dPt>
          <c:cat>
            <c:strRef>
              <c:f>Sheet1!$A$2:$A$4</c:f>
              <c:strCache>
                <c:ptCount val="3"/>
                <c:pt idx="0">
                  <c:v>Sense Ride</c:v>
                </c:pt>
                <c:pt idx="1">
                  <c:v>Genesis</c:v>
                </c:pt>
                <c:pt idx="2">
                  <c:v>Speedcross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-0.24078834618680378</c:v>
                </c:pt>
                <c:pt idx="1">
                  <c:v>-0.18192488262910797</c:v>
                </c:pt>
                <c:pt idx="2">
                  <c:v>0.14424242424242426</c:v>
                </c:pt>
              </c:numCache>
            </c:numRef>
          </c:val>
        </c:ser>
        <c:dLbls>
          <c:numFmt formatCode="+0%;-0%" sourceLinked="0"/>
          <c:txPr>
            <a:bodyPr/>
            <a:lstStyle/>
            <a:p>
              <a:pPr>
                <a:defRPr sz="1200" b="1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100">
                <a:solidFill>
                  <a:srgbClr val="757575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;;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Lift</c:v>
                </c:pt>
              </c:strCache>
            </c:strRef>
          </c:tx>
          <c:dPt>
            <c:idx val="0"/>
            <c:spPr>
              <a:solidFill>
                <a:srgbClr val="2251FF"/>
              </a:solidFill>
            </c:spPr>
          </c:dPt>
          <c:dPt>
            <c:idx val="1"/>
            <c:spPr>
              <a:solidFill>
                <a:srgbClr val="2251FF"/>
              </a:solidFill>
            </c:spPr>
          </c:dPt>
          <c:dPt>
            <c:idx val="2"/>
            <c:spPr>
              <a:solidFill>
                <a:srgbClr val="051C2C"/>
              </a:solidFill>
            </c:spPr>
          </c:dPt>
          <c:cat>
            <c:strRef>
              <c:f>Sheet1!$A$2:$A$4</c:f>
              <c:strCache>
                <c:ptCount val="3"/>
                <c:pt idx="0">
                  <c:v>Trail Apparel</c:v>
                </c:pt>
                <c:pt idx="1">
                  <c:v>Trail Accessories</c:v>
                </c:pt>
                <c:pt idx="2">
                  <c:v>All adjacent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0.05403198108465084</c:v>
                </c:pt>
                <c:pt idx="1">
                  <c:v>0.1694855926968357</c:v>
                </c:pt>
                <c:pt idx="2">
                  <c:v>0.09177215400496858</c:v>
                </c:pt>
              </c:numCache>
            </c:numRef>
          </c:val>
        </c:ser>
        <c:dLbls>
          <c:numFmt formatCode="+0.0%;-0.0%" sourceLinked="0"/>
          <c:txPr>
            <a:bodyPr/>
            <a:lstStyle/>
            <a:p>
              <a:pPr>
                <a:defRPr sz="1200" b="1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100">
                <a:solidFill>
                  <a:srgbClr val="757575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;;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iROAS</c:v>
                </c:pt>
              </c:strCache>
            </c:strRef>
          </c:tx>
          <c:dPt>
            <c:idx val="0"/>
            <c:spPr>
              <a:solidFill>
                <a:srgbClr val="757575"/>
              </a:solidFill>
            </c:spPr>
          </c:dPt>
          <c:dPt>
            <c:idx val="1"/>
            <c:spPr>
              <a:solidFill>
                <a:srgbClr val="757575"/>
              </a:solidFill>
            </c:spPr>
          </c:dPt>
          <c:dPt>
            <c:idx val="2"/>
            <c:spPr>
              <a:solidFill>
                <a:srgbClr val="2251FF"/>
              </a:solidFill>
            </c:spPr>
          </c:dPt>
          <c:dPt>
            <c:idx val="3"/>
            <c:spPr>
              <a:solidFill>
                <a:srgbClr val="2251FF"/>
              </a:solidFill>
            </c:spPr>
          </c:dPt>
          <c:dPt>
            <c:idx val="4"/>
            <c:spPr>
              <a:solidFill>
                <a:srgbClr val="2251FF"/>
              </a:solidFill>
            </c:spPr>
          </c:dPt>
          <c:cat>
            <c:strRef>
              <c:f>Sheet1!$A$2:$A$6</c:f>
              <c:strCache>
                <c:ptCount val="5"/>
                <c:pt idx="0">
                  <c:v>Paid Social</c:v>
                </c:pt>
                <c:pt idx="1">
                  <c:v>Paid Search</c:v>
                </c:pt>
                <c:pt idx="2">
                  <c:v>Affiliate</c:v>
                </c:pt>
                <c:pt idx="3">
                  <c:v>SMS</c:v>
                </c:pt>
                <c:pt idx="4">
                  <c:v>Email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0.30263626208104794</c:v>
                </c:pt>
                <c:pt idx="1">
                  <c:v>0.9270704798942021</c:v>
                </c:pt>
                <c:pt idx="2">
                  <c:v>1.2788902238995834</c:v>
                </c:pt>
                <c:pt idx="3">
                  <c:v>2.530420436382097</c:v>
                </c:pt>
                <c:pt idx="4">
                  <c:v>7.111619256516912</c:v>
                </c:pt>
              </c:numCache>
            </c:numRef>
          </c:val>
        </c:ser>
        <c:dLbls>
          <c:numFmt formatCode="0.0&quot;×&quot;" sourceLinked="0"/>
          <c:txPr>
            <a:bodyPr/>
            <a:lstStyle/>
            <a:p>
              <a:pPr>
                <a:defRPr sz="1200" b="1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100">
                <a:solidFill>
                  <a:srgbClr val="757575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numFmt formatCode=";;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Core-size availability</c:v>
                </c:pt>
              </c:strCache>
            </c:strRef>
          </c:tx>
          <c:spPr>
            <a:ln w="34925">
              <a:solidFill>
                <a:srgbClr val="2251FF"/>
              </a:solidFill>
            </a:ln>
          </c:spPr>
          <c:marker>
            <c:symbol val="none"/>
          </c:marker>
          <c:dLbls>
            <c:numFmt formatCode="0%" sourceLinked="0"/>
            <c:txPr>
              <a:bodyPr/>
              <a:lstStyle/>
              <a:p>
                <a:pPr>
                  <a:defRPr sz="1000" b="0">
                    <a:solidFill>
                      <a:srgbClr val="2251FF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Wk 1</c:v>
                </c:pt>
                <c:pt idx="1">
                  <c:v>Wk 2</c:v>
                </c:pt>
                <c:pt idx="2">
                  <c:v>Wk 3</c:v>
                </c:pt>
                <c:pt idx="3">
                  <c:v>Wk 4</c:v>
                </c:pt>
                <c:pt idx="4">
                  <c:v>Wk 5</c:v>
                </c:pt>
                <c:pt idx="5">
                  <c:v>Wk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0.9726857142857143</c:v>
                </c:pt>
                <c:pt idx="1">
                  <c:v>0.9751714285714286</c:v>
                </c:pt>
                <c:pt idx="2">
                  <c:v>0.9081714285714285</c:v>
                </c:pt>
                <c:pt idx="3">
                  <c:v>0.8155428571428571</c:v>
                </c:pt>
                <c:pt idx="4">
                  <c:v>0.7374999999999999</c:v>
                </c:pt>
                <c:pt idx="5">
                  <c:v>0.5618428571428572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Overall in-stock rate</c:v>
                </c:pt>
              </c:strCache>
            </c:strRef>
          </c:tx>
          <c:spPr>
            <a:ln w="25400">
              <a:solidFill>
                <a:srgbClr val="757575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Wk 1</c:v>
                </c:pt>
                <c:pt idx="1">
                  <c:v>Wk 2</c:v>
                </c:pt>
                <c:pt idx="2">
                  <c:v>Wk 3</c:v>
                </c:pt>
                <c:pt idx="3">
                  <c:v>Wk 4</c:v>
                </c:pt>
                <c:pt idx="4">
                  <c:v>Wk 5</c:v>
                </c:pt>
                <c:pt idx="5">
                  <c:v>Wk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0.9877285714285715</c:v>
                </c:pt>
                <c:pt idx="1">
                  <c:v>0.9892142857142857</c:v>
                </c:pt>
                <c:pt idx="2">
                  <c:v>0.951957142857143</c:v>
                </c:pt>
                <c:pt idx="3">
                  <c:v>0.8998571428571429</c:v>
                </c:pt>
                <c:pt idx="4">
                  <c:v>0.8777571428571429</c:v>
                </c:pt>
                <c:pt idx="5">
                  <c:v>0.7785285714285715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>
                <a:solidFill>
                  <a:srgbClr val="757575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4"/>
        </c:scaling>
        <c:delete val="0"/>
        <c:axPos val="l"/>
        <c:majorGridlines>
          <c:spPr>
            <a:ln w="6350">
              <a:solidFill>
                <a:srgbClr val="ECECEC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757575"/>
                </a:solidFill>
                <a:latin typeface="Arial"/>
              </a:defRPr>
            </a:pPr>
          </a:p>
        </c:txPr>
        <c:crossAx val="2118791784"/>
        <c:crosses val="autoZero"/>
        <c:majorUnit val="0.2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333333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Georgia"/>
              </a:rPr>
              <a:t>Ultra Glide 15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0A9F4"/>
                </a:solidFill>
                <a:latin typeface="Georgia"/>
              </a:rPr>
              <a:t>Campaign Performance Readout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North America eCommerce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Active campaign: March 2 – April 12, 2026  ·  Readout window: January 5 – May 10,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80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Arial"/>
              </a:rPr>
              <a:t>Marketing Insights &amp; Analytics  ·  Illustrative synthetic case data — not actual Salomon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757575"/>
                </a:solidFill>
                <a:latin typeface="Arial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01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51C2C"/>
                </a:solidFill>
                <a:latin typeface="Georgia"/>
              </a:rPr>
              <a:t>The launch cleared three of four success criteria — franchise shift is the watch item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81328"/>
            <a:ext cx="2706624" cy="260604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700784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Arial"/>
              </a:rPr>
              <a:t>INCREMENTAL FOOTWEAR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28600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2251FF"/>
                </a:solidFill>
                <a:latin typeface="Arial"/>
              </a:rPr>
              <a:t>+33%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3127248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333333"/>
                </a:solidFill>
                <a:latin typeface="Arial"/>
              </a:rPr>
              <a:t>+$134.6K vs modeled no-campaign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712463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57575"/>
                </a:solidFill>
                <a:latin typeface="Arial"/>
              </a:rPr>
              <a:t>Target ≥ +10%  ·  </a:t>
            </a:r>
            <a:r>
              <a:rPr sz="1050" b="1" i="0">
                <a:solidFill>
                  <a:srgbClr val="1F7A4D"/>
                </a:solidFill>
                <a:latin typeface="Arial"/>
              </a:rPr>
              <a:t>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6704" y="1481328"/>
            <a:ext cx="2706624" cy="260604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700784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Arial"/>
              </a:rPr>
              <a:t>NEW-CUSTOMER SHARE, UG15 BUYERS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28600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2251FF"/>
                </a:solidFill>
                <a:latin typeface="Arial"/>
              </a:rPr>
              <a:t>44%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3127248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333333"/>
                </a:solidFill>
                <a:latin typeface="Arial"/>
              </a:rPr>
              <a:t>590 of 1,335 buyers new to Salomon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3712463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57575"/>
                </a:solidFill>
                <a:latin typeface="Arial"/>
              </a:rPr>
              <a:t>Target ≥ 25%  ·  </a:t>
            </a:r>
            <a:r>
              <a:rPr sz="1050" b="1" i="0">
                <a:solidFill>
                  <a:srgbClr val="1F7A4D"/>
                </a:solidFill>
                <a:latin typeface="Arial"/>
              </a:rPr>
              <a:t>PASS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0488" y="1481328"/>
            <a:ext cx="2706624" cy="260604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5" y="1700784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Arial"/>
              </a:rPr>
              <a:t>FRANCHISE CANNIBALIZATION, 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5" y="228600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2251FF"/>
                </a:solidFill>
                <a:latin typeface="Arial"/>
              </a:rPr>
              <a:t>22–30%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5" y="3127248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333333"/>
                </a:solidFill>
                <a:latin typeface="Arial"/>
              </a:rPr>
              <a:t>17–42% across baseline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5" y="3712463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57575"/>
                </a:solidFill>
                <a:latin typeface="Arial"/>
              </a:rPr>
              <a:t>Guardrail &lt; 25%  ·  </a:t>
            </a:r>
            <a:r>
              <a:rPr sz="1050" b="1" i="0">
                <a:solidFill>
                  <a:srgbClr val="757575"/>
                </a:solidFill>
                <a:latin typeface="Arial"/>
              </a:rPr>
              <a:t>WATCH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34272" y="1481328"/>
            <a:ext cx="2706624" cy="260604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700784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Arial"/>
              </a:rPr>
              <a:t>ADJACENT-CATEGORY HALO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28600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2251FF"/>
                </a:solidFill>
                <a:latin typeface="Arial"/>
              </a:rPr>
              <a:t>+9%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127248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333333"/>
                </a:solidFill>
                <a:latin typeface="Arial"/>
              </a:rPr>
              <a:t>95% CI +3% to +15% vs baseline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712463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57575"/>
                </a:solidFill>
                <a:latin typeface="Arial"/>
              </a:rPr>
              <a:t>Target ≥ +5%  ·  </a:t>
            </a:r>
            <a:r>
              <a:rPr sz="1050" b="1" i="0">
                <a:solidFill>
                  <a:srgbClr val="1F7A4D"/>
                </a:solidFill>
                <a:latin typeface="Arial"/>
              </a:rPr>
              <a:t>PASS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434840"/>
            <a:ext cx="11183112" cy="178308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681728"/>
            <a:ext cx="10469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VERDICT — a commercial success with operational headroom.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The Ultra Glide 15 delivered $207.7K of direct revenue and $142.5K of net incremental revenue (+29% vs the no-campaign baseline). After $90.1K of incremental media, the launch created ≈$52.4K of net new revenue. Inventory depth, franchise shift, and paid-social efficiency left value on the table.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Salomon NA eCommerce · Ultra Glide 15 launch readout · Illustrative synthetic case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757575"/>
                </a:solidFill>
                <a:latin typeface="Arial"/>
              </a:rPr>
              <a:t>CAMPAIGN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01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51C2C"/>
                </a:solidFill>
                <a:latin typeface="Georgia"/>
              </a:rPr>
              <a:t>A six-week launch flight, judged against pre-committed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757575"/>
                </a:solidFill>
                <a:latin typeface="Arial"/>
              </a:rPr>
              <a:t>PRIMARY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5394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Arial"/>
              </a:rPr>
              <a:t>•  Create incremental footwear revenue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Arial"/>
              </a:rPr>
              <a:t>•  Acquire new trail-running consumers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Arial"/>
              </a:rPr>
              <a:t>•  Establish Ultra Glide 15 as a durable Salomon franchise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6324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757575"/>
                </a:solidFill>
                <a:latin typeface="Arial"/>
              </a:rPr>
              <a:t>SECONDARY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64992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Arial"/>
              </a:rPr>
              <a:t>•  Grow the email / SMS consumer database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Arial"/>
              </a:rPr>
              <a:t>•  Generate halo demand across adjacent trail categories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Arial"/>
              </a:rPr>
              <a:t>•  Limit cannibalization of existing footwear franchises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81328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757575"/>
                </a:solidFill>
                <a:latin typeface="Arial"/>
              </a:rPr>
              <a:t>PRE-COMMITTED SUCCESS CRITERIA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83080"/>
            <a:ext cx="5394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Arial"/>
              </a:rPr>
              <a:t>•  Incremental revenue ≥ +10% vs no-campaign counterfactual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Arial"/>
              </a:rPr>
              <a:t>•  New customers ≥ 25% of Ultra Glide 15 purchasers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Arial"/>
              </a:rPr>
              <a:t>•  Cannibalization &lt; 25% of Ultra Glide 15 sales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Arial"/>
              </a:rPr>
              <a:t>•  Halo ≥ +5% lift across adjacent trail categories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Arial"/>
              </a:rPr>
              <a:t>•  Guardrails: margin, returns, conversion, availability,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7200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757575"/>
                </a:solidFill>
                <a:latin typeface="Arial"/>
              </a:rPr>
              <a:t>MEASUREMENT WINDOWS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892040"/>
            <a:ext cx="3630168" cy="123444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5047488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051C2C"/>
                </a:solidFill>
                <a:latin typeface="Arial"/>
              </a:rPr>
              <a:t>PRE-CAMPAIGN BASELINE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757575"/>
                </a:solidFill>
                <a:latin typeface="Arial"/>
              </a:rPr>
              <a:t>Jan 5 – Mar 1 · 8 weeks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Normal demand, traffic, and channel patterns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4892040"/>
            <a:ext cx="3630168" cy="123444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5047488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ACTIVE CAMPAIGN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00A9F4"/>
                </a:solidFill>
                <a:latin typeface="Arial"/>
              </a:rPr>
              <a:t>Mar 2 – Apr 12 · 6 weeks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Launch flight: paid media, CRM, site merchandising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9016" y="4892040"/>
            <a:ext cx="3630168" cy="123444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5047488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051C2C"/>
                </a:solidFill>
                <a:latin typeface="Arial"/>
              </a:rPr>
              <a:t>POST-CAMPAIGN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757575"/>
                </a:solidFill>
                <a:latin typeface="Arial"/>
              </a:rPr>
              <a:t>Apr 13 – May 10 · 4 weeks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Persistence, delayed returns, repeat purchase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Salomon NA eCommerce · Ultra Glide 15 launch readout · Illustrative synthetic case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757575"/>
                </a:solidFill>
                <a:latin typeface="Arial"/>
              </a:rPr>
              <a:t>MEASUREMENT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01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51C2C"/>
                </a:solidFill>
                <a:latin typeface="Georgia"/>
              </a:rPr>
              <a:t>Impact is measured against a modeled no-campaign baseline, not channel attribution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54480"/>
            <a:ext cx="5394960" cy="201168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51C2C"/>
                </a:solidFill>
                <a:latin typeface="Arial"/>
              </a:rPr>
              <a:t>COUNTERFACTUAL BASELINE   </a:t>
            </a:r>
            <a:r>
              <a:rPr sz="1000" b="1" i="0">
                <a:solidFill>
                  <a:srgbClr val="2251FF"/>
                </a:solidFill>
                <a:latin typeface="Arial"/>
              </a:rPr>
              <a:t>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84831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Expected no-campaign revenue = linear trend + day-of-week seasonality, fit to the 8-week pre-period and projected through the flight. Validated on a held-out final fortnight of the pre-period: 8.8–10.1% mean error. Lift is reported with 95% confidence intervals.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91072" y="1554480"/>
            <a:ext cx="5394960" cy="201168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2" y="17373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51C2C"/>
                </a:solidFill>
                <a:latin typeface="Arial"/>
              </a:rPr>
              <a:t>IMPACT DECOMPOSITION   </a:t>
            </a:r>
            <a:r>
              <a:rPr sz="1000" b="1" i="0">
                <a:solidFill>
                  <a:srgbClr val="2251FF"/>
                </a:solidFill>
                <a:latin typeface="Arial"/>
              </a:rPr>
              <a:t>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2084831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Net campaign value = direct UG15 revenue − franchise shift (cannibalization) + adjacent-category halo − incremental media spend. Franchise shift is stress-tested across three baseline specifications and reported as a range, not a point.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794760"/>
            <a:ext cx="5394960" cy="201168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776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51C2C"/>
                </a:solidFill>
                <a:latin typeface="Arial"/>
              </a:rPr>
              <a:t>CRM HOLDOUT   </a:t>
            </a:r>
            <a:r>
              <a:rPr sz="1000" b="1" i="0">
                <a:solidFill>
                  <a:srgbClr val="757575"/>
                </a:solidFill>
                <a:latin typeface="Arial"/>
              </a:rPr>
              <a:t>NOT FIELDED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25112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No held-out control group was reserved this flight, so channel-level incrementality is proxied: attributed revenue is scaled to the site-level incremental total (factor 0.31). Reserve a 10% CRM holdout next launch to measure it directly.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3794760"/>
            <a:ext cx="5394960" cy="201168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39776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51C2C"/>
                </a:solidFill>
                <a:latin typeface="Arial"/>
              </a:rPr>
              <a:t>GEO SPLIT   </a:t>
            </a:r>
            <a:r>
              <a:rPr sz="1000" b="1" i="0">
                <a:solidFill>
                  <a:srgbClr val="757575"/>
                </a:solidFill>
                <a:latin typeface="Arial"/>
              </a:rPr>
              <a:t>NOT 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4325112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Campaign reporting carries no regional dimension, so no geo-matched test was possible. A matched-market design on the next launch would give a second, model-free read on incrementality.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Salomon NA eCommerce · Ultra Glide 15 launch readout · Illustrative synthetic case data · All lift figures are modeled estimates vs a no-campaign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757575"/>
                </a:solidFill>
                <a:latin typeface="Arial"/>
              </a:rPr>
              <a:t>TOPLINE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01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51C2C"/>
                </a:solidFill>
                <a:latin typeface="Georgia"/>
              </a:rPr>
              <a:t>Footwear revenue ran 33% above the no-campaign baseline throughout the flight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600200"/>
          <a:ext cx="80010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5532120" y="1783080"/>
            <a:ext cx="0" cy="3794760"/>
          </a:xfrm>
          <a:prstGeom prst="line">
            <a:avLst/>
          </a:prstGeom>
          <a:ln w="12700">
            <a:solidFill>
              <a:srgbClr val="051C2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23560" y="17830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1C2C"/>
                </a:solidFill>
                <a:latin typeface="Arial"/>
              </a:rPr>
              <a:t>Campaign start · Mar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1737360"/>
            <a:ext cx="31089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 i="0">
                <a:solidFill>
                  <a:srgbClr val="757575"/>
                </a:solidFill>
                <a:latin typeface="Arial"/>
              </a:rPr>
              <a:t>ACTIVE CAMPAIGN, 6 WEEKS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0" i="0">
                <a:solidFill>
                  <a:srgbClr val="757575"/>
                </a:solidFill>
                <a:latin typeface="Arial"/>
              </a:rPr>
              <a:t>Observed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333333"/>
                </a:solidFill>
                <a:latin typeface="Arial"/>
              </a:rPr>
              <a:t>$542.9K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0" i="0">
                <a:solidFill>
                  <a:srgbClr val="757575"/>
                </a:solidFill>
                <a:latin typeface="Arial"/>
              </a:rPr>
              <a:t>Counterfactual baseline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757575"/>
                </a:solidFill>
                <a:latin typeface="Arial"/>
              </a:rPr>
              <a:t>$408.3K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00" b="0" i="0">
                <a:solidFill>
                  <a:srgbClr val="757575"/>
                </a:solidFill>
                <a:latin typeface="Arial"/>
              </a:rPr>
              <a:t>Incremental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251FF"/>
                </a:solidFill>
                <a:latin typeface="Arial"/>
              </a:rPr>
              <a:t>+$134.6K  (+33%)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50" b="0" i="0">
                <a:solidFill>
                  <a:srgbClr val="333333"/>
                </a:solidFill>
                <a:latin typeface="Arial"/>
              </a:rPr>
              <a:t>95% CI +30% to +36% · every campaign week ran above baseline · peak gap +$30K in launch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Salomon NA eCommerce · Ultra Glide 15 launch readout · Illustrative synthetic case data · Baseline: pre-period trend + weekly seasonality; backtest MAPE 10.1%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757575"/>
                </a:solidFill>
                <a:latin typeface="Arial"/>
              </a:rPr>
              <a:t>REVENUE DECOMPOSITION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01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51C2C"/>
                </a:solidFill>
                <a:latin typeface="Georgia"/>
              </a:rPr>
              <a:t>After franchise shift and media cost, the launch created ≈$52K of net new revenue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554480"/>
          <a:ext cx="722376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1691640"/>
            <a:ext cx="393192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000" b="1" i="0">
                <a:solidFill>
                  <a:srgbClr val="757575"/>
                </a:solidFill>
                <a:latin typeface="Arial"/>
              </a:rPr>
              <a:t>HOW TO READ THIS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100" b="0" i="0">
                <a:solidFill>
                  <a:srgbClr val="333333"/>
                </a:solidFill>
                <a:latin typeface="Arial"/>
              </a:rPr>
              <a:t>Baseline business of $494.7K would have occurred without the campaign and is excluded — only movement vs baseline is counted.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100" b="0" i="0">
                <a:solidFill>
                  <a:srgbClr val="333333"/>
                </a:solidFill>
                <a:latin typeface="Arial"/>
              </a:rPr>
              <a:t>Franchise shift: $73.1K of UG15 revenue displaced Sense Ride and Genesis sales, net of Speedcross substitution gains.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100" b="0" i="0">
                <a:solidFill>
                  <a:srgbClr val="333333"/>
                </a:solidFill>
                <a:latin typeface="Arial"/>
              </a:rPr>
              <a:t>Media basis: $155.8K active spend less the $65.8K pre-period run-rate the business would have spent anyway → $90.1K incremental.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100" b="0" i="0">
                <a:solidFill>
                  <a:srgbClr val="333333"/>
                </a:solidFill>
                <a:latin typeface="Arial"/>
              </a:rPr>
              <a:t>Return on incremental media: $142.5K ÷ $90.1K = 1.58× on a revenue basis. A margin-adjusted view requires COGS, which this dataset does not track.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Salomon NA eCommerce · Ultra Glide 15 launch readout · Illustrative synthetic case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757575"/>
                </a:solidFill>
                <a:latin typeface="Arial"/>
              </a:rPr>
              <a:t>CUSTOMER ACQUISITION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01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51C2C"/>
                </a:solidFill>
                <a:latin typeface="Georgia"/>
              </a:rPr>
              <a:t>44% of Ultra Glide buyers were new to Salomon, acquired at half their early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Arial"/>
              </a:rPr>
              <a:t>UG15 BUYER MIX (N = 1,335)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828800"/>
          <a:ext cx="338328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24612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2600" b="1" i="0">
                <a:solidFill>
                  <a:srgbClr val="051C2C"/>
                </a:solidFill>
                <a:latin typeface="Arial"/>
              </a:rPr>
              <a:t>44%</a:t>
            </a:r>
          </a:p>
          <a:p>
            <a:pPr algn="ctr">
              <a:lnSpc>
                <a:spcPct val="95000"/>
              </a:lnSpc>
            </a:pPr>
            <a:r>
              <a:rPr sz="1200" b="0" i="0">
                <a:solidFill>
                  <a:srgbClr val="757575"/>
                </a:solidFill>
                <a:latin typeface="Arial"/>
              </a:rPr>
              <a:t>new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30352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New 590 · </a:t>
            </a:r>
            <a:r>
              <a:rPr sz="1100" b="1" i="0">
                <a:solidFill>
                  <a:srgbClr val="757575"/>
                </a:solidFill>
                <a:latin typeface="Arial"/>
              </a:rPr>
              <a:t>Existing 745</a:t>
            </a:r>
          </a:p>
          <a:p>
            <a:pPr algn="ctr">
              <a:spcAft>
                <a:spcPts val="300"/>
              </a:spcAft>
            </a:pPr>
            <a:r>
              <a:rPr sz="1050" b="0" i="0">
                <a:solidFill>
                  <a:srgbClr val="757575"/>
                </a:solidFill>
                <a:latin typeface="Arial"/>
              </a:rPr>
              <a:t>Success criterion ≥ 25% · </a:t>
            </a:r>
            <a:r>
              <a:rPr sz="1050" b="1" i="0">
                <a:solidFill>
                  <a:srgbClr val="1F7A4D"/>
                </a:solidFill>
                <a:latin typeface="Arial"/>
              </a:rPr>
              <a:t>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481328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Arial"/>
              </a:rPr>
              <a:t>ACQUISITION ECONOMICS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847088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100" b="1" i="0">
                <a:solidFill>
                  <a:srgbClr val="333333"/>
                </a:solidFill>
                <a:latin typeface="Arial"/>
              </a:rPr>
              <a:t>$104   </a:t>
            </a:r>
            <a:r>
              <a:rPr sz="1200" b="1" i="0">
                <a:solidFill>
                  <a:srgbClr val="333333"/>
                </a:solidFill>
                <a:latin typeface="Arial"/>
              </a:rPr>
              <a:t>Blended CAC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757575"/>
                </a:solidFill>
                <a:latin typeface="Arial"/>
              </a:rPr>
              <a:t>$155.8K spend ÷ 1,499 new 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834640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100" b="1" i="0">
                <a:solidFill>
                  <a:srgbClr val="333333"/>
                </a:solidFill>
                <a:latin typeface="Arial"/>
              </a:rPr>
              <a:t>$130   </a:t>
            </a:r>
            <a:r>
              <a:rPr sz="1200" b="1" i="0">
                <a:solidFill>
                  <a:srgbClr val="333333"/>
                </a:solidFill>
                <a:latin typeface="Arial"/>
              </a:rPr>
              <a:t>First-order value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757575"/>
                </a:solidFill>
                <a:latin typeface="Arial"/>
              </a:rPr>
              <a:t>average first basket, new 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822191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100" b="1" i="0">
                <a:solidFill>
                  <a:srgbClr val="2251FF"/>
                </a:solidFill>
                <a:latin typeface="Arial"/>
              </a:rPr>
              <a:t>$212   </a:t>
            </a:r>
            <a:r>
              <a:rPr sz="1200" b="1" i="0">
                <a:solidFill>
                  <a:srgbClr val="333333"/>
                </a:solidFill>
                <a:latin typeface="Arial"/>
              </a:rPr>
              <a:t>Early customer value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757575"/>
                </a:solidFill>
                <a:latin typeface="Arial"/>
              </a:rPr>
              <a:t>revenue through May 10 · 2.0× CAC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4809744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100" b="1" i="0">
                <a:solidFill>
                  <a:srgbClr val="333333"/>
                </a:solidFill>
                <a:latin typeface="Arial"/>
              </a:rPr>
              <a:t>27%   </a:t>
            </a:r>
            <a:r>
              <a:rPr sz="1200" b="1" i="0">
                <a:solidFill>
                  <a:srgbClr val="333333"/>
                </a:solidFill>
                <a:latin typeface="Arial"/>
              </a:rPr>
              <a:t>Post-period repeat rate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757575"/>
                </a:solidFill>
                <a:latin typeface="Arial"/>
              </a:rPr>
              <a:t>repurchased within 4 weeks of flight 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576072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1">
                <a:solidFill>
                  <a:srgbClr val="757575"/>
                </a:solidFill>
                <a:latin typeface="Arial"/>
              </a:rPr>
              <a:t>Full LTV needs cohort history beyond this window; early value already covers CAC twice over.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14813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Arial"/>
              </a:rPr>
              <a:t>DATABASE ADDS PER DAY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8046719" y="1828800"/>
          <a:ext cx="3657600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8183879" y="5074920"/>
            <a:ext cx="3520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Arial"/>
              </a:rPr>
              <a:t>Email +34% · SMS +40% vs pre-period run-rate → 2,776 email and 1,447 SMS adds in six weeks.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0" i="0">
                <a:solidFill>
                  <a:srgbClr val="333333"/>
                </a:solidFill>
                <a:latin typeface="Arial"/>
              </a:rPr>
              <a:t>New UG15 buyers opt in at 77% email / 47% SMS vs a 56% / 28% site average.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Salomon NA eCommerce · Ultra Glide 15 launch readout · Illustrative synthetic case data · No numeric CAC or database targets were set pre-launch — set them next flight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757575"/>
                </a:solidFill>
                <a:latin typeface="Arial"/>
              </a:rPr>
              <a:t>CANNIBALIZATION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01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51C2C"/>
                </a:solidFill>
                <a:latin typeface="Georgia"/>
              </a:rPr>
              <a:t>An estimated 22–30% of UG15 units shifted from existing franchises — at the guardrail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Arial"/>
              </a:rPr>
              <a:t>EXISTING-FRANCHISE UNITS VS EXPECTED BASELINE, ACTIVE FLIGHT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828800"/>
          <a:ext cx="63093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06440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57575"/>
                </a:solidFill>
                <a:latin typeface="Arial"/>
              </a:rPr>
              <a:t>Speedcross gained — substitution capture when UG15 core sizes stocked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14813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Arial"/>
              </a:rPr>
              <a:t>OVERALL CANNIBALIZATION ESTIMATE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182880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2251FF"/>
                </a:solidFill>
                <a:latin typeface="Arial"/>
              </a:rPr>
              <a:t>22–30%</a:t>
            </a:r>
            <a:r>
              <a:rPr sz="1300" b="0" i="0">
                <a:solidFill>
                  <a:srgbClr val="333333"/>
                </a:solidFill>
                <a:latin typeface="Arial"/>
              </a:rPr>
              <a:t>   of UG15 units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757575"/>
                </a:solidFill>
                <a:latin typeface="Arial"/>
              </a:rPr>
              <a:t>Guardrail &lt; 25% · </a:t>
            </a:r>
            <a:r>
              <a:rPr sz="1150" b="1" i="0">
                <a:solidFill>
                  <a:srgbClr val="757575"/>
                </a:solidFill>
                <a:latin typeface="Arial"/>
              </a:rPr>
              <a:t>WATCH</a:t>
            </a:r>
            <a:r>
              <a:rPr sz="1150" b="0" i="0">
                <a:solidFill>
                  <a:srgbClr val="757575"/>
                </a:solidFill>
                <a:latin typeface="Arial"/>
              </a:rPr>
              <a:t> — at the line, not clearly through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3017520"/>
            <a:ext cx="457200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0" i="0">
                <a:solidFill>
                  <a:srgbClr val="333333"/>
                </a:solidFill>
                <a:latin typeface="Arial"/>
              </a:rPr>
              <a:t>•  Central estimates (recent-baseline and flat-seasonal models) span 22–30%; the full range across specifications is 17–42%.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0" i="0">
                <a:solidFill>
                  <a:srgbClr val="333333"/>
                </a:solidFill>
                <a:latin typeface="Arial"/>
              </a:rPr>
              <a:t>•  $73.1K of existing-franchise revenue was displaced — about a third of UG15's $207.7K direct revenue.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0" i="0">
                <a:solidFill>
                  <a:srgbClr val="333333"/>
                </a:solidFill>
                <a:latin typeface="Arial"/>
              </a:rPr>
              <a:t>•  Shift concentrated where positioning overlaps: Sense Ride (−24%) and Genesis (−18%), both high-cushion trail franchises.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0" i="0">
                <a:solidFill>
                  <a:srgbClr val="333333"/>
                </a:solidFill>
                <a:latin typeface="Arial"/>
              </a:rPr>
              <a:t>•  Launch remains clearly net-positive: +$134.6K incremental footwear revenue after absorbing the shift.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Salomon NA eCommerce · Ultra Glide 15 launch readout · Illustrative synthetic case data · Unit baselines per franchise; range reflects three baseline specifications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757575"/>
                </a:solidFill>
                <a:latin typeface="Arial"/>
              </a:rPr>
              <a:t>HALO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01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51C2C"/>
                </a:solidFill>
                <a:latin typeface="Georgia"/>
              </a:rPr>
              <a:t>Adjacent categories lifted +9%, but as standalone purchases, not bigger baskets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Arial"/>
              </a:rPr>
              <a:t>ADJACENT-CATEGORY REVENUE VS EXPECTED BASELINE, ACTIVE FLIGHT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828800"/>
          <a:ext cx="63093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06440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Arial"/>
              </a:rPr>
              <a:t>Success criterion ≥ +5%: </a:t>
            </a:r>
            <a:r>
              <a:rPr sz="1000" b="1" i="0">
                <a:solidFill>
                  <a:srgbClr val="1F7A4D"/>
                </a:solidFill>
                <a:latin typeface="Arial"/>
              </a:rPr>
              <a:t>PASS</a:t>
            </a:r>
            <a:r>
              <a:rPr sz="1000" b="0" i="0">
                <a:solidFill>
                  <a:srgbClr val="757575"/>
                </a:solidFill>
                <a:latin typeface="Arial"/>
              </a:rPr>
              <a:t>  (+9.2%, 95% CI +3.0% to +15.4% · +$7.9K)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14813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Arial"/>
              </a:rPr>
              <a:t>ATTACH RATE TO UG15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1828800"/>
            <a:ext cx="4572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333333"/>
                </a:solidFill>
                <a:latin typeface="Arial"/>
              </a:rPr>
              <a:t>17.8%</a:t>
            </a:r>
            <a:r>
              <a:rPr sz="1300" b="0" i="0">
                <a:solidFill>
                  <a:srgbClr val="757575"/>
                </a:solidFill>
                <a:latin typeface="Arial"/>
              </a:rPr>
              <a:t>   flat vs 18.0% pre-period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2834640"/>
            <a:ext cx="45720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0" i="0">
                <a:solidFill>
                  <a:srgbClr val="333333"/>
                </a:solidFill>
                <a:latin typeface="Arial"/>
              </a:rPr>
              <a:t>•  The halo arrived as standalone adjacent purchases driven by campaign traffic and awareness — not as bigger UG15 baskets.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0" i="0">
                <a:solidFill>
                  <a:srgbClr val="333333"/>
                </a:solidFill>
                <a:latin typeface="Arial"/>
              </a:rPr>
              <a:t>•  Accessories led (+16.9%); apparel followed (+5.4%). Other footwear orders attached at the same 18% rate.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0" i="0">
                <a:solidFill>
                  <a:srgbClr val="333333"/>
                </a:solidFill>
                <a:latin typeface="Arial"/>
              </a:rPr>
              <a:t>•  Opportunity: PDP bundles (socks, gaiters, hydration) and CRM cross-sell journeys to convert awareness halo into basket halo.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Salomon NA eCommerce · Ultra Glide 15 launch readout · Illustrative synthetic case data · Baseline: pre-period trend + weekly seasonality per 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757575"/>
                </a:solidFill>
                <a:latin typeface="Arial"/>
              </a:rPr>
              <a:t>CHANNEL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01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51C2C"/>
                </a:solidFill>
                <a:latin typeface="Georgia"/>
              </a:rPr>
              <a:t>CRM and affiliate cleared breakeven on incremental ROAS; paid media did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Arial"/>
              </a:rPr>
              <a:t>INCREMENTAL ROAS BY CHANNEL (BREAKEVEN = 1.0×)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828800"/>
          <a:ext cx="63093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86600" y="1600200"/>
            <a:ext cx="45720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1" i="0">
                <a:solidFill>
                  <a:srgbClr val="333333"/>
                </a:solidFill>
                <a:latin typeface="Arial"/>
              </a:rPr>
              <a:t>•  CRM: </a:t>
            </a:r>
            <a:r>
              <a:rPr sz="1150" b="0" i="0">
                <a:solidFill>
                  <a:srgbClr val="333333"/>
                </a:solidFill>
                <a:latin typeface="Arial"/>
              </a:rPr>
              <a:t>8% of spend, 44% of attributed revenue. Efficient activation of existing buyers — though without a holdout, high-intent audiences inflate its read.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1" i="0">
                <a:solidFill>
                  <a:srgbClr val="333333"/>
                </a:solidFill>
                <a:latin typeface="Arial"/>
              </a:rPr>
              <a:t>•  Paid social: </a:t>
            </a:r>
            <a:r>
              <a:rPr sz="1150" b="0" i="0">
                <a:solidFill>
                  <a:srgbClr val="333333"/>
                </a:solidFill>
                <a:latin typeface="Arial"/>
              </a:rPr>
              <a:t>59% of spend at 0.3× iROAS — but it acquired 629 of 1,499 new customers (42%) at $147 CAC vs $212 early value. It pays back as acquisition, not immediate revenue; judge it on CAC and LTV.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1" i="0">
                <a:solidFill>
                  <a:srgbClr val="333333"/>
                </a:solidFill>
                <a:latin typeface="Arial"/>
              </a:rPr>
              <a:t>•  Paid search: </a:t>
            </a:r>
            <a:r>
              <a:rPr sz="1150" b="0" i="0">
                <a:solidFill>
                  <a:srgbClr val="333333"/>
                </a:solidFill>
                <a:latin typeface="Arial"/>
              </a:rPr>
              <a:t>0.9× — strong early flight, efficiency fell as core sizes stocked out while spend kept running.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1" i="0">
                <a:solidFill>
                  <a:srgbClr val="757575"/>
                </a:solidFill>
                <a:latin typeface="Arial"/>
              </a:rPr>
              <a:t>•  Method: </a:t>
            </a:r>
            <a:r>
              <a:rPr sz="1150" b="0" i="0">
                <a:solidFill>
                  <a:srgbClr val="757575"/>
                </a:solidFill>
                <a:latin typeface="Arial"/>
              </a:rPr>
              <a:t>iROAS = attributed ROAS × 0.31 site-level incrementality factor, applied uniformly (no holdout or geo split this flight). Attributed ROAS: Email 23.2×, SMS 8.3×, Affiliate 4.2×, Search 3.0×, Social 1.0×.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Salomon NA eCommerce · Ultra Glide 15 launch readout · Illustrative synthetic case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757575"/>
                </a:solidFill>
                <a:latin typeface="Arial"/>
              </a:rPr>
              <a:t>GUARDRAIL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01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51C2C"/>
                </a:solidFill>
                <a:latin typeface="Georgia"/>
              </a:rPr>
              <a:t>Pricing and basket guardrails held; returns, service load, and availability strained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54480"/>
          <a:ext cx="11183112" cy="42565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1143000"/>
                <a:gridCol w="2148840"/>
                <a:gridCol w="868680"/>
                <a:gridCol w="4279392"/>
              </a:tblGrid>
              <a:tr h="347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Guardrail</a:t>
                      </a:r>
                    </a:p>
                  </a:txBody>
                  <a:tcPr marL="73152" marR="36576" anchor="ctr"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Pre</a:t>
                      </a:r>
                    </a:p>
                  </a:txBody>
                  <a:tcPr marL="73152" marR="36576" anchor="ctr"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flight</a:t>
                      </a:r>
                    </a:p>
                  </a:txBody>
                  <a:tcPr marL="73152" marR="36576" anchor="ctr"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3152" marR="36576" anchor="ctr"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Note</a:t>
                      </a:r>
                    </a:p>
                  </a:txBody>
                  <a:tcPr marL="73152" marR="36576" anchor="ctr">
                    <a:solidFill>
                      <a:srgbClr val="051C2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Average order value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$123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$132  (+7.1%)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7A4D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757575"/>
                          </a:solidFill>
                          <a:latin typeface="Arial"/>
                        </a:rPr>
                        <a:t>Footwear mix plus accessory attachment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Discounting (ASP proxy)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UG15 $145, full price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7A4D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757575"/>
                          </a:solidFill>
                          <a:latin typeface="Arial"/>
                        </a:rPr>
                        <a:t>No launch markdown; post-period ASP eased 7.7% to $134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Site conversion rate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2.33%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2.42% avg · 2.23% wk 6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57575"/>
                          </a:solidFill>
                          <a:latin typeface="Arial"/>
                        </a:rPr>
                        <a:t>WATCH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757575"/>
                          </a:solidFill>
                          <a:latin typeface="Arial"/>
                        </a:rPr>
                        <a:t>Improved early, then fell below pre-period as core sizes depleted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Return rate, site-wide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6.6%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8.7%  (+2.1 pts)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57575"/>
                          </a:solidFill>
                          <a:latin typeface="Arial"/>
                        </a:rPr>
                        <a:t>WATCH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757575"/>
                          </a:solidFill>
                          <a:latin typeface="Arial"/>
                        </a:rPr>
                        <a:t>Within the 1–3 pt launch expectation; still maturing post-period (9.4%)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Return rate, UG15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14.4% → 19.8% post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57575"/>
                          </a:solidFill>
                          <a:latin typeface="Arial"/>
                        </a:rPr>
                        <a:t>WATCH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757575"/>
                          </a:solidFill>
                          <a:latin typeface="Arial"/>
                        </a:rPr>
                        <a:t>≈2× fleet average; sizing-and-fit driven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Service contact rate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3.5%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7.7% of orders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57575"/>
                          </a:solidFill>
                          <a:latin typeface="Arial"/>
                        </a:rPr>
                        <a:t>WATCH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757575"/>
                          </a:solidFill>
                          <a:latin typeface="Arial"/>
                        </a:rPr>
                        <a:t>Sizing +199%, inventory +152%, comparison +109% vs pre-period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Core-size availability, UG15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97%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56% by week 6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3261E"/>
                          </a:solidFill>
                          <a:latin typeface="Arial"/>
                        </a:rPr>
                        <a:t>MISS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757575"/>
                          </a:solidFill>
                          <a:latin typeface="Arial"/>
                        </a:rPr>
                        <a:t>Below 90% from week 3; ≈$20K modeled unmet demand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Email / SMS unsubscribes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not measured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D9D9D9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757575"/>
                          </a:solidFill>
                          <a:latin typeface="Arial"/>
                        </a:rPr>
                        <a:t>No send-level CRM data captured — instrument next flight</a:t>
                      </a:r>
                    </a:p>
                  </a:txBody>
                  <a:tcPr marL="73152" marR="36576" anchor="ctr">
                    <a:solidFill>
                      <a:srgbClr val="F5F6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Gross margin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  <a:latin typeface="Arial"/>
                        </a:rPr>
                        <a:t>not measured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D9D9D9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757575"/>
                          </a:solidFill>
                          <a:latin typeface="Arial"/>
                        </a:rPr>
                        <a:t>COGS not tracked; price and discount proxies look healthy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Salomon NA eCommerce · Ultra Glide 15 launch readout · Illustrative synthetic case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757575"/>
                </a:solidFill>
                <a:latin typeface="Arial"/>
              </a:rPr>
              <a:t>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201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51C2C"/>
                </a:solidFill>
                <a:latin typeface="Georgia"/>
              </a:rPr>
              <a:t>Core sizes were 44% unavailable by week 6, costing an estimated $20K in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Arial"/>
              </a:rPr>
              <a:t>UG15 AVAILABILITY BY CAMPAIGN WEEK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828800"/>
          <a:ext cx="630936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86600" y="1600200"/>
            <a:ext cx="45720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1" i="0">
                <a:solidFill>
                  <a:srgbClr val="333333"/>
                </a:solidFill>
                <a:latin typeface="Arial"/>
              </a:rPr>
              <a:t>•  Depletion, not demand, ended the flight: </a:t>
            </a:r>
            <a:r>
              <a:rPr sz="1150" b="0" i="0">
                <a:solidFill>
                  <a:srgbClr val="333333"/>
                </a:solidFill>
                <a:latin typeface="Arial"/>
              </a:rPr>
              <a:t>core sizes (M9–11, W7–9) fell below 90% in week 3 and hit 56% by week 6.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0" i="0">
                <a:solidFill>
                  <a:srgbClr val="333333"/>
                </a:solidFill>
                <a:latin typeface="Arial"/>
              </a:rPr>
              <a:t>•  UG15 sell-through conversion fell 35% (5.2% weeks 1–3 → 3.4% week 6) while paid media kept sending traffic.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0" i="0">
                <a:solidFill>
                  <a:srgbClr val="333333"/>
                </a:solidFill>
                <a:latin typeface="Arial"/>
              </a:rPr>
              <a:t>•  Modeled unmet demand: ≈140 units, ≈$20.4K, from applying early-flight conversion to weeks 4–6 traffic.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0" i="0">
                <a:solidFill>
                  <a:srgbClr val="333333"/>
                </a:solidFill>
                <a:latin typeface="Arial"/>
              </a:rPr>
              <a:t>•  Site conversion followed: 2.52% week 1 → 2.23% week 6, below the 2.33% pre-period average.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0" i="0">
                <a:solidFill>
                  <a:srgbClr val="333333"/>
                </a:solidFill>
                <a:latin typeface="Arial"/>
              </a:rPr>
              <a:t>•  Speedcross picked up +14% units as shoppers substituted — a partial, lower-price offset.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Salomon NA eCommerce · Ultra Glide 15 launch readout · Illustrative synthetic case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757575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A9F4"/>
                </a:solidFill>
                <a:latin typeface="Arial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Six changes for the next 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502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A9F4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18488"/>
            <a:ext cx="99669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Buy deeper on core sizes.  </a:t>
            </a:r>
            <a:r>
              <a:rPr sz="1150" b="0" i="0">
                <a:solidFill>
                  <a:srgbClr val="C9D4DC"/>
                </a:solidFill>
                <a:latin typeface="Arial"/>
              </a:rPr>
              <a:t>Week-3 depletion of M9–11 / W7–9 cost ≈140 units (≈$20K) and dragged site conversion below baseline by week 6. Size-curve depth should cover a full 6-week flight.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86584"/>
            <a:ext cx="502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A9F4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404872"/>
            <a:ext cx="99669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Tie paid media to inventory signals.  </a:t>
            </a:r>
            <a:r>
              <a:rPr sz="1150" b="0" i="0">
                <a:solidFill>
                  <a:srgbClr val="C9D4DC"/>
                </a:solidFill>
                <a:latin typeface="Arial"/>
              </a:rPr>
              <a:t>Throttle prospecting when core-size availability drops below 80%. Paid social ran 59% of budget at 0.3× iROAS into a constrained assortment; reallocate mid-flight to CRM and search.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72968"/>
            <a:ext cx="502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A9F4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191256"/>
            <a:ext cx="99669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Judge paid social on acquisition economics, not last-click revenue.  </a:t>
            </a:r>
            <a:r>
              <a:rPr sz="1150" b="0" i="0">
                <a:solidFill>
                  <a:srgbClr val="C9D4DC"/>
                </a:solidFill>
                <a:latin typeface="Arial"/>
              </a:rPr>
              <a:t>It delivered 42% of new customers at $147 CAC against $212 early customer value. Set a CAC target pre-launch and add a day-90 LTV readout.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59352"/>
            <a:ext cx="502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A9F4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977639"/>
            <a:ext cx="99669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Fix sizing upstream of the return.  </a:t>
            </a:r>
            <a:r>
              <a:rPr sz="1150" b="0" i="0">
                <a:solidFill>
                  <a:srgbClr val="C9D4DC"/>
                </a:solidFill>
                <a:latin typeface="Arial"/>
              </a:rPr>
              <a:t>UG15 returns hit 14–20% (≈2× fleet) and sizing contacts tripled. Add fit guidance to the PDP, launch emails, and post-purchase flows.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45736"/>
            <a:ext cx="502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A9F4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764023"/>
            <a:ext cx="99669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Convert the halo into baskets.  </a:t>
            </a:r>
            <a:r>
              <a:rPr sz="1150" b="0" i="0">
                <a:solidFill>
                  <a:srgbClr val="C9D4DC"/>
                </a:solidFill>
                <a:latin typeface="Arial"/>
              </a:rPr>
              <a:t>Adjacent demand lifted +9% but attach to UG15 orders stayed flat at 18%. Bundle socks and accessories at PDP and activate the 2,776 email / 1,447 SMS adds on cross-category journeys.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32120"/>
            <a:ext cx="502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A9F4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550407"/>
            <a:ext cx="99669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Instrument incrementality before launch day.  </a:t>
            </a:r>
            <a:r>
              <a:rPr sz="1150" b="0" i="0">
                <a:solidFill>
                  <a:srgbClr val="C9D4DC"/>
                </a:solidFill>
                <a:latin typeface="Arial"/>
              </a:rPr>
              <a:t>Field a CRM holdout and a geo split, set numeric revenue / CAC / database targets, and track COGS and unsubscribes so the next readout measures margin, not proxies.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57575"/>
                </a:solidFill>
                <a:latin typeface="Arial"/>
              </a:rPr>
              <a:t>Salomon NA eCommerce · Ultra Glide 15 launch readout · Illustrative synthetic case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