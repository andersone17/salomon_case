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3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7" r:id="rId11"/>
    <p:sldId id="265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637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YpyT7O49FwNOEKdjeHwjl0PwSD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CB7528-0317-1151-A7B7-34D5B6A94F6F}" name="Anderson, Edward Clifford (eca4zm)" initials="EA" userId="S::eca4zm@virginia.edu::8b27aeba-14ab-4313-9339-48da5a11e8c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uel Kunitz-Levy" initials="" lastIdx="3" clrIdx="0"/>
  <p:cmAuthor id="1" name="Edward Ander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366D9-E613-46E6-9156-025C964B5705}" v="40" dt="2026-07-19T21:44:32.885"/>
    <p1510:client id="{AE8B8185-CB61-412D-B7C1-12E16DEFFA7C}" v="4" dt="2026-07-19T20:43:03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66" autoAdjust="0"/>
  </p:normalViewPr>
  <p:slideViewPr>
    <p:cSldViewPr snapToGrid="0">
      <p:cViewPr varScale="1">
        <p:scale>
          <a:sx n="103" d="100"/>
          <a:sy n="103" d="100"/>
        </p:scale>
        <p:origin x="204" y="68"/>
      </p:cViewPr>
      <p:guideLst>
        <p:guide orient="horz" pos="2160"/>
        <p:guide pos="2880"/>
        <p:guide pos="63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, Edward Clifford (eca4zm)" userId="8b27aeba-14ab-4313-9339-48da5a11e8c1" providerId="ADAL" clId="{E97D1C7C-331B-49B3-91F1-CE31FEEB8FDF}"/>
    <pc:docChg chg="undo redo custSel modSld sldOrd">
      <pc:chgData name="Anderson, Edward Clifford (eca4zm)" userId="8b27aeba-14ab-4313-9339-48da5a11e8c1" providerId="ADAL" clId="{E97D1C7C-331B-49B3-91F1-CE31FEEB8FDF}" dt="2026-07-19T21:49:30.927" v="2132" actId="1076"/>
      <pc:docMkLst>
        <pc:docMk/>
      </pc:docMkLst>
      <pc:sldChg chg="modSp mod">
        <pc:chgData name="Anderson, Edward Clifford (eca4zm)" userId="8b27aeba-14ab-4313-9339-48da5a11e8c1" providerId="ADAL" clId="{E97D1C7C-331B-49B3-91F1-CE31FEEB8FDF}" dt="2026-07-19T21:31:58.658" v="1381" actId="20577"/>
        <pc:sldMkLst>
          <pc:docMk/>
          <pc:sldMk cId="0" sldId="258"/>
        </pc:sldMkLst>
        <pc:spChg chg="mod">
          <ac:chgData name="Anderson, Edward Clifford (eca4zm)" userId="8b27aeba-14ab-4313-9339-48da5a11e8c1" providerId="ADAL" clId="{E97D1C7C-331B-49B3-91F1-CE31FEEB8FDF}" dt="2026-07-19T21:31:58.658" v="1381" actId="20577"/>
          <ac:spMkLst>
            <pc:docMk/>
            <pc:sldMk cId="0" sldId="258"/>
            <ac:spMk id="201" creationId="{00000000-0000-0000-0000-000000000000}"/>
          </ac:spMkLst>
        </pc:spChg>
      </pc:sldChg>
      <pc:sldChg chg="modSp mod">
        <pc:chgData name="Anderson, Edward Clifford (eca4zm)" userId="8b27aeba-14ab-4313-9339-48da5a11e8c1" providerId="ADAL" clId="{E97D1C7C-331B-49B3-91F1-CE31FEEB8FDF}" dt="2026-07-19T21:45:15.810" v="2094" actId="20577"/>
        <pc:sldMkLst>
          <pc:docMk/>
          <pc:sldMk cId="0" sldId="260"/>
        </pc:sldMkLst>
        <pc:spChg chg="mod">
          <ac:chgData name="Anderson, Edward Clifford (eca4zm)" userId="8b27aeba-14ab-4313-9339-48da5a11e8c1" providerId="ADAL" clId="{E97D1C7C-331B-49B3-91F1-CE31FEEB8FDF}" dt="2026-07-19T21:45:15.810" v="2094" actId="20577"/>
          <ac:spMkLst>
            <pc:docMk/>
            <pc:sldMk cId="0" sldId="260"/>
            <ac:spMk id="164" creationId="{00000000-0000-0000-0000-000000000000}"/>
          </ac:spMkLst>
        </pc:spChg>
      </pc:sldChg>
      <pc:sldChg chg="addSp delSp modSp mod modNotesTx">
        <pc:chgData name="Anderson, Edward Clifford (eca4zm)" userId="8b27aeba-14ab-4313-9339-48da5a11e8c1" providerId="ADAL" clId="{E97D1C7C-331B-49B3-91F1-CE31FEEB8FDF}" dt="2026-07-19T21:34:38.926" v="1464" actId="20577"/>
        <pc:sldMkLst>
          <pc:docMk/>
          <pc:sldMk cId="0" sldId="262"/>
        </pc:sldMkLst>
        <pc:spChg chg="add del mod">
          <ac:chgData name="Anderson, Edward Clifford (eca4zm)" userId="8b27aeba-14ab-4313-9339-48da5a11e8c1" providerId="ADAL" clId="{E97D1C7C-331B-49B3-91F1-CE31FEEB8FDF}" dt="2026-07-19T20:40:40.194" v="4" actId="478"/>
          <ac:spMkLst>
            <pc:docMk/>
            <pc:sldMk cId="0" sldId="262"/>
            <ac:spMk id="3" creationId="{0DAEDD0E-4D21-745F-3BE1-98365DF03C77}"/>
          </ac:spMkLst>
        </pc:spChg>
        <pc:spChg chg="add mod">
          <ac:chgData name="Anderson, Edward Clifford (eca4zm)" userId="8b27aeba-14ab-4313-9339-48da5a11e8c1" providerId="ADAL" clId="{E97D1C7C-331B-49B3-91F1-CE31FEEB8FDF}" dt="2026-07-19T20:49:21.217" v="74" actId="1076"/>
          <ac:spMkLst>
            <pc:docMk/>
            <pc:sldMk cId="0" sldId="262"/>
            <ac:spMk id="3" creationId="{63A022E8-737A-7E41-A354-81EAA801B62D}"/>
          </ac:spMkLst>
        </pc:spChg>
        <pc:spChg chg="add del mod">
          <ac:chgData name="Anderson, Edward Clifford (eca4zm)" userId="8b27aeba-14ab-4313-9339-48da5a11e8c1" providerId="ADAL" clId="{E97D1C7C-331B-49B3-91F1-CE31FEEB8FDF}" dt="2026-07-19T20:40:56.172" v="7" actId="478"/>
          <ac:spMkLst>
            <pc:docMk/>
            <pc:sldMk cId="0" sldId="262"/>
            <ac:spMk id="4" creationId="{E3BA999F-7627-D9FB-5154-E331ECE6AAC6}"/>
          </ac:spMkLst>
        </pc:spChg>
        <pc:spChg chg="add mod">
          <ac:chgData name="Anderson, Edward Clifford (eca4zm)" userId="8b27aeba-14ab-4313-9339-48da5a11e8c1" providerId="ADAL" clId="{E97D1C7C-331B-49B3-91F1-CE31FEEB8FDF}" dt="2026-07-19T20:59:18.874" v="225" actId="1076"/>
          <ac:spMkLst>
            <pc:docMk/>
            <pc:sldMk cId="0" sldId="262"/>
            <ac:spMk id="5" creationId="{72EEB1D0-D830-97D1-9168-9089053FDC56}"/>
          </ac:spMkLst>
        </pc:spChg>
        <pc:spChg chg="add mod ord">
          <ac:chgData name="Anderson, Edward Clifford (eca4zm)" userId="8b27aeba-14ab-4313-9339-48da5a11e8c1" providerId="ADAL" clId="{E97D1C7C-331B-49B3-91F1-CE31FEEB8FDF}" dt="2026-07-19T20:48:52.460" v="71" actId="167"/>
          <ac:spMkLst>
            <pc:docMk/>
            <pc:sldMk cId="0" sldId="262"/>
            <ac:spMk id="6" creationId="{469A13D2-5CAD-9EAF-771D-0C9FCF37F585}"/>
          </ac:spMkLst>
        </pc:spChg>
        <pc:spChg chg="add mod ord">
          <ac:chgData name="Anderson, Edward Clifford (eca4zm)" userId="8b27aeba-14ab-4313-9339-48da5a11e8c1" providerId="ADAL" clId="{E97D1C7C-331B-49B3-91F1-CE31FEEB8FDF}" dt="2026-07-19T21:07:29.606" v="531" actId="14100"/>
          <ac:spMkLst>
            <pc:docMk/>
            <pc:sldMk cId="0" sldId="262"/>
            <ac:spMk id="8" creationId="{26E78437-9148-AB28-F2BC-E2DB1DDF6E72}"/>
          </ac:spMkLst>
        </pc:spChg>
        <pc:spChg chg="add mod">
          <ac:chgData name="Anderson, Edward Clifford (eca4zm)" userId="8b27aeba-14ab-4313-9339-48da5a11e8c1" providerId="ADAL" clId="{E97D1C7C-331B-49B3-91F1-CE31FEEB8FDF}" dt="2026-07-19T21:00:20.157" v="250" actId="313"/>
          <ac:spMkLst>
            <pc:docMk/>
            <pc:sldMk cId="0" sldId="262"/>
            <ac:spMk id="10" creationId="{51FF3FA0-4DAD-AB13-3C8A-6B45B09847B2}"/>
          </ac:spMkLst>
        </pc:spChg>
        <pc:spChg chg="mod">
          <ac:chgData name="Anderson, Edward Clifford (eca4zm)" userId="8b27aeba-14ab-4313-9339-48da5a11e8c1" providerId="ADAL" clId="{E97D1C7C-331B-49B3-91F1-CE31FEEB8FDF}" dt="2026-07-19T21:07:56.224" v="540" actId="20577"/>
          <ac:spMkLst>
            <pc:docMk/>
            <pc:sldMk cId="0" sldId="262"/>
            <ac:spMk id="194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41:50.310" v="16" actId="207"/>
          <ac:spMkLst>
            <pc:docMk/>
            <pc:sldMk cId="0" sldId="262"/>
            <ac:spMk id="300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48:42.462" v="69" actId="207"/>
          <ac:spMkLst>
            <pc:docMk/>
            <pc:sldMk cId="0" sldId="262"/>
            <ac:spMk id="303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47:54.338" v="68" actId="20577"/>
          <ac:spMkLst>
            <pc:docMk/>
            <pc:sldMk cId="0" sldId="262"/>
            <ac:spMk id="321" creationId="{00000000-0000-0000-0000-000000000000}"/>
          </ac:spMkLst>
        </pc:spChg>
        <pc:cxnChg chg="add mod">
          <ac:chgData name="Anderson, Edward Clifford (eca4zm)" userId="8b27aeba-14ab-4313-9339-48da5a11e8c1" providerId="ADAL" clId="{E97D1C7C-331B-49B3-91F1-CE31FEEB8FDF}" dt="2026-07-19T20:59:49.009" v="229" actId="208"/>
          <ac:cxnSpMkLst>
            <pc:docMk/>
            <pc:sldMk cId="0" sldId="262"/>
            <ac:cxnSpMk id="9" creationId="{50CE79D2-B176-2533-17F0-A91C931DD8CF}"/>
          </ac:cxnSpMkLst>
        </pc:cxnChg>
        <pc:cxnChg chg="add mod">
          <ac:chgData name="Anderson, Edward Clifford (eca4zm)" userId="8b27aeba-14ab-4313-9339-48da5a11e8c1" providerId="ADAL" clId="{E97D1C7C-331B-49B3-91F1-CE31FEEB8FDF}" dt="2026-07-19T21:00:12.621" v="232" actId="1076"/>
          <ac:cxnSpMkLst>
            <pc:docMk/>
            <pc:sldMk cId="0" sldId="262"/>
            <ac:cxnSpMk id="11" creationId="{A1980D8C-4497-F15D-6170-940861314810}"/>
          </ac:cxnSpMkLst>
        </pc:cxnChg>
      </pc:sldChg>
      <pc:sldChg chg="addSp delSp modSp mod">
        <pc:chgData name="Anderson, Edward Clifford (eca4zm)" userId="8b27aeba-14ab-4313-9339-48da5a11e8c1" providerId="ADAL" clId="{E97D1C7C-331B-49B3-91F1-CE31FEEB8FDF}" dt="2026-07-19T21:45:50.640" v="2101" actId="20577"/>
        <pc:sldMkLst>
          <pc:docMk/>
          <pc:sldMk cId="0" sldId="263"/>
        </pc:sldMkLst>
        <pc:spChg chg="add del mod ord">
          <ac:chgData name="Anderson, Edward Clifford (eca4zm)" userId="8b27aeba-14ab-4313-9339-48da5a11e8c1" providerId="ADAL" clId="{E97D1C7C-331B-49B3-91F1-CE31FEEB8FDF}" dt="2026-07-19T20:53:29.164" v="160" actId="11529"/>
          <ac:spMkLst>
            <pc:docMk/>
            <pc:sldMk cId="0" sldId="263"/>
            <ac:spMk id="2" creationId="{DB5D2039-253C-09D6-A3A5-847CE370E782}"/>
          </ac:spMkLst>
        </pc:spChg>
        <pc:spChg chg="add mod ord">
          <ac:chgData name="Anderson, Edward Clifford (eca4zm)" userId="8b27aeba-14ab-4313-9339-48da5a11e8c1" providerId="ADAL" clId="{E97D1C7C-331B-49B3-91F1-CE31FEEB8FDF}" dt="2026-07-19T20:54:45.557" v="166" actId="14100"/>
          <ac:spMkLst>
            <pc:docMk/>
            <pc:sldMk cId="0" sldId="263"/>
            <ac:spMk id="4" creationId="{D88BC433-E84E-7B24-F94F-8A1F761269E4}"/>
          </ac:spMkLst>
        </pc:spChg>
        <pc:spChg chg="mod">
          <ac:chgData name="Anderson, Edward Clifford (eca4zm)" userId="8b27aeba-14ab-4313-9339-48da5a11e8c1" providerId="ADAL" clId="{E97D1C7C-331B-49B3-91F1-CE31FEEB8FDF}" dt="2026-07-19T21:45:50.640" v="2101" actId="20577"/>
          <ac:spMkLst>
            <pc:docMk/>
            <pc:sldMk cId="0" sldId="263"/>
            <ac:spMk id="207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50:43.490" v="75" actId="1076"/>
          <ac:spMkLst>
            <pc:docMk/>
            <pc:sldMk cId="0" sldId="263"/>
            <ac:spMk id="210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52:46.151" v="152" actId="6549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0:55:57.867" v="184" actId="20577"/>
          <ac:spMkLst>
            <pc:docMk/>
            <pc:sldMk cId="0" sldId="263"/>
            <ac:spMk id="214" creationId="{00000000-0000-0000-0000-000000000000}"/>
          </ac:spMkLst>
        </pc:spChg>
        <pc:picChg chg="mod ord">
          <ac:chgData name="Anderson, Edward Clifford (eca4zm)" userId="8b27aeba-14ab-4313-9339-48da5a11e8c1" providerId="ADAL" clId="{E97D1C7C-331B-49B3-91F1-CE31FEEB8FDF}" dt="2026-07-19T21:29:31.543" v="1275" actId="1035"/>
          <ac:picMkLst>
            <pc:docMk/>
            <pc:sldMk cId="0" sldId="263"/>
            <ac:picMk id="209" creationId="{00000000-0000-0000-0000-000000000000}"/>
          </ac:picMkLst>
        </pc:picChg>
      </pc:sldChg>
      <pc:sldChg chg="addSp modSp mod">
        <pc:chgData name="Anderson, Edward Clifford (eca4zm)" userId="8b27aeba-14ab-4313-9339-48da5a11e8c1" providerId="ADAL" clId="{E97D1C7C-331B-49B3-91F1-CE31FEEB8FDF}" dt="2026-07-19T21:46:38.954" v="2112" actId="20577"/>
        <pc:sldMkLst>
          <pc:docMk/>
          <pc:sldMk cId="0" sldId="264"/>
        </pc:sldMkLst>
        <pc:spChg chg="add mod ord">
          <ac:chgData name="Anderson, Edward Clifford (eca4zm)" userId="8b27aeba-14ab-4313-9339-48da5a11e8c1" providerId="ADAL" clId="{E97D1C7C-331B-49B3-91F1-CE31FEEB8FDF}" dt="2026-07-19T20:56:31.152" v="189" actId="167"/>
          <ac:spMkLst>
            <pc:docMk/>
            <pc:sldMk cId="0" sldId="264"/>
            <ac:spMk id="3" creationId="{0F8E16F7-83B1-6A58-BA41-71D5BBE94705}"/>
          </ac:spMkLst>
        </pc:spChg>
        <pc:spChg chg="mod">
          <ac:chgData name="Anderson, Edward Clifford (eca4zm)" userId="8b27aeba-14ab-4313-9339-48da5a11e8c1" providerId="ADAL" clId="{E97D1C7C-331B-49B3-91F1-CE31FEEB8FDF}" dt="2026-07-19T20:57:31.319" v="195" actId="20577"/>
          <ac:spMkLst>
            <pc:docMk/>
            <pc:sldMk cId="0" sldId="264"/>
            <ac:spMk id="226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6:38.954" v="2112" actId="20577"/>
          <ac:spMkLst>
            <pc:docMk/>
            <pc:sldMk cId="0" sldId="264"/>
            <ac:spMk id="228" creationId="{00000000-0000-0000-0000-000000000000}"/>
          </ac:spMkLst>
        </pc:spChg>
        <pc:picChg chg="ord">
          <ac:chgData name="Anderson, Edward Clifford (eca4zm)" userId="8b27aeba-14ab-4313-9339-48da5a11e8c1" providerId="ADAL" clId="{E97D1C7C-331B-49B3-91F1-CE31FEEB8FDF}" dt="2026-07-19T20:56:38.153" v="190" actId="167"/>
          <ac:picMkLst>
            <pc:docMk/>
            <pc:sldMk cId="0" sldId="264"/>
            <ac:picMk id="230" creationId="{00000000-0000-0000-0000-000000000000}"/>
          </ac:picMkLst>
        </pc:picChg>
      </pc:sldChg>
      <pc:sldChg chg="modSp mod modNotesTx">
        <pc:chgData name="Anderson, Edward Clifford (eca4zm)" userId="8b27aeba-14ab-4313-9339-48da5a11e8c1" providerId="ADAL" clId="{E97D1C7C-331B-49B3-91F1-CE31FEEB8FDF}" dt="2026-07-19T21:47:01.205" v="2117" actId="20577"/>
        <pc:sldMkLst>
          <pc:docMk/>
          <pc:sldMk cId="0" sldId="265"/>
        </pc:sldMkLst>
        <pc:spChg chg="mod">
          <ac:chgData name="Anderson, Edward Clifford (eca4zm)" userId="8b27aeba-14ab-4313-9339-48da5a11e8c1" providerId="ADAL" clId="{E97D1C7C-331B-49B3-91F1-CE31FEEB8FDF}" dt="2026-07-19T21:15:34.973" v="658" actId="1076"/>
          <ac:spMkLst>
            <pc:docMk/>
            <pc:sldMk cId="0" sldId="265"/>
            <ac:spMk id="269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7:01.205" v="2117" actId="20577"/>
          <ac:spMkLst>
            <pc:docMk/>
            <pc:sldMk cId="0" sldId="265"/>
            <ac:spMk id="271" creationId="{00000000-0000-0000-0000-000000000000}"/>
          </ac:spMkLst>
        </pc:spChg>
        <pc:graphicFrameChg chg="mod">
          <ac:chgData name="Anderson, Edward Clifford (eca4zm)" userId="8b27aeba-14ab-4313-9339-48da5a11e8c1" providerId="ADAL" clId="{E97D1C7C-331B-49B3-91F1-CE31FEEB8FDF}" dt="2026-07-19T21:06:46.382" v="506"/>
          <ac:graphicFrameMkLst>
            <pc:docMk/>
            <pc:sldMk cId="0" sldId="265"/>
            <ac:graphicFrameMk id="273" creationId="{00000000-0000-0000-0000-000000000000}"/>
          </ac:graphicFrameMkLst>
        </pc:graphicFrameChg>
      </pc:sldChg>
      <pc:sldChg chg="addSp modSp mod ord modNotesTx">
        <pc:chgData name="Anderson, Edward Clifford (eca4zm)" userId="8b27aeba-14ab-4313-9339-48da5a11e8c1" providerId="ADAL" clId="{E97D1C7C-331B-49B3-91F1-CE31FEEB8FDF}" dt="2026-07-19T21:46:33.167" v="2109" actId="20577"/>
        <pc:sldMkLst>
          <pc:docMk/>
          <pc:sldMk cId="0" sldId="266"/>
        </pc:sldMkLst>
        <pc:spChg chg="add mod or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3" creationId="{231B5DCB-9413-E443-717C-420A786C3E0B}"/>
          </ac:spMkLst>
        </pc:spChg>
        <pc:spChg chg="mo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253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254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255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6:33.167" v="2109" actId="20577"/>
          <ac:spMkLst>
            <pc:docMk/>
            <pc:sldMk cId="0" sldId="266"/>
            <ac:spMk id="257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259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35:17.743" v="1465" actId="1076"/>
          <ac:spMkLst>
            <pc:docMk/>
            <pc:sldMk cId="0" sldId="266"/>
            <ac:spMk id="260" creationId="{00000000-0000-0000-0000-000000000000}"/>
          </ac:spMkLst>
        </pc:spChg>
      </pc:sldChg>
      <pc:sldChg chg="addSp modSp mod ord">
        <pc:chgData name="Anderson, Edward Clifford (eca4zm)" userId="8b27aeba-14ab-4313-9339-48da5a11e8c1" providerId="ADAL" clId="{E97D1C7C-331B-49B3-91F1-CE31FEEB8FDF}" dt="2026-07-19T21:46:54.283" v="2115" actId="20577"/>
        <pc:sldMkLst>
          <pc:docMk/>
          <pc:sldMk cId="0" sldId="267"/>
        </pc:sldMkLst>
        <pc:spChg chg="add mod ord">
          <ac:chgData name="Anderson, Edward Clifford (eca4zm)" userId="8b27aeba-14ab-4313-9339-48da5a11e8c1" providerId="ADAL" clId="{E97D1C7C-331B-49B3-91F1-CE31FEEB8FDF}" dt="2026-07-19T21:14:47.671" v="653" actId="167"/>
          <ac:spMkLst>
            <pc:docMk/>
            <pc:sldMk cId="0" sldId="267"/>
            <ac:spMk id="3" creationId="{410E13D1-2595-6B64-1016-7E7600EEF02C}"/>
          </ac:spMkLst>
        </pc:spChg>
        <pc:spChg chg="mod">
          <ac:chgData name="Anderson, Edward Clifford (eca4zm)" userId="8b27aeba-14ab-4313-9339-48da5a11e8c1" providerId="ADAL" clId="{E97D1C7C-331B-49B3-91F1-CE31FEEB8FDF}" dt="2026-07-19T21:46:54.283" v="2115" actId="20577"/>
          <ac:spMkLst>
            <pc:docMk/>
            <pc:sldMk cId="0" sldId="267"/>
            <ac:spMk id="239" creationId="{00000000-0000-0000-0000-000000000000}"/>
          </ac:spMkLst>
        </pc:spChg>
      </pc:sldChg>
      <pc:sldChg chg="addSp modSp mod modNotesTx">
        <pc:chgData name="Anderson, Edward Clifford (eca4zm)" userId="8b27aeba-14ab-4313-9339-48da5a11e8c1" providerId="ADAL" clId="{E97D1C7C-331B-49B3-91F1-CE31FEEB8FDF}" dt="2026-07-19T21:49:30.927" v="2132" actId="1076"/>
        <pc:sldMkLst>
          <pc:docMk/>
          <pc:sldMk cId="0" sldId="268"/>
        </pc:sldMkLst>
        <pc:spChg chg="add mod ord">
          <ac:chgData name="Anderson, Edward Clifford (eca4zm)" userId="8b27aeba-14ab-4313-9339-48da5a11e8c1" providerId="ADAL" clId="{E97D1C7C-331B-49B3-91F1-CE31FEEB8FDF}" dt="2026-07-19T21:49:11.984" v="2128" actId="14100"/>
          <ac:spMkLst>
            <pc:docMk/>
            <pc:sldMk cId="0" sldId="268"/>
            <ac:spMk id="3" creationId="{AC459A38-F191-6D3C-2CA0-38F270AECD79}"/>
          </ac:spMkLst>
        </pc:spChg>
        <pc:spChg chg="mod">
          <ac:chgData name="Anderson, Edward Clifford (eca4zm)" userId="8b27aeba-14ab-4313-9339-48da5a11e8c1" providerId="ADAL" clId="{E97D1C7C-331B-49B3-91F1-CE31FEEB8FDF}" dt="2026-07-19T21:48:58.081" v="2125" actId="1076"/>
          <ac:spMkLst>
            <pc:docMk/>
            <pc:sldMk cId="0" sldId="268"/>
            <ac:spMk id="282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7:06.333" v="2119" actId="6549"/>
          <ac:spMkLst>
            <pc:docMk/>
            <pc:sldMk cId="0" sldId="268"/>
            <ac:spMk id="284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9:27.326" v="2131" actId="1076"/>
          <ac:spMkLst>
            <pc:docMk/>
            <pc:sldMk cId="0" sldId="268"/>
            <ac:spMk id="286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9:30.927" v="2132" actId="1076"/>
          <ac:spMkLst>
            <pc:docMk/>
            <pc:sldMk cId="0" sldId="268"/>
            <ac:spMk id="288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9:14.980" v="2129" actId="1076"/>
          <ac:spMkLst>
            <pc:docMk/>
            <pc:sldMk cId="0" sldId="268"/>
            <ac:spMk id="289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9:18.752" v="2130" actId="1076"/>
          <ac:spMkLst>
            <pc:docMk/>
            <pc:sldMk cId="0" sldId="268"/>
            <ac:spMk id="294" creationId="{00000000-0000-0000-0000-000000000000}"/>
          </ac:spMkLst>
        </pc:spChg>
        <pc:picChg chg="ord">
          <ac:chgData name="Anderson, Edward Clifford (eca4zm)" userId="8b27aeba-14ab-4313-9339-48da5a11e8c1" providerId="ADAL" clId="{E97D1C7C-331B-49B3-91F1-CE31FEEB8FDF}" dt="2026-07-19T21:21:09.767" v="767" actId="167"/>
          <ac:picMkLst>
            <pc:docMk/>
            <pc:sldMk cId="0" sldId="268"/>
            <ac:picMk id="287" creationId="{00000000-0000-0000-0000-000000000000}"/>
          </ac:picMkLst>
        </pc:picChg>
      </pc:sldChg>
      <pc:sldChg chg="addSp delSp modSp mod modNotesTx">
        <pc:chgData name="Anderson, Edward Clifford (eca4zm)" userId="8b27aeba-14ab-4313-9339-48da5a11e8c1" providerId="ADAL" clId="{E97D1C7C-331B-49B3-91F1-CE31FEEB8FDF}" dt="2026-07-19T21:47:10.898" v="2121" actId="20577"/>
        <pc:sldMkLst>
          <pc:docMk/>
          <pc:sldMk cId="0" sldId="269"/>
        </pc:sldMkLst>
        <pc:spChg chg="add del">
          <ac:chgData name="Anderson, Edward Clifford (eca4zm)" userId="8b27aeba-14ab-4313-9339-48da5a11e8c1" providerId="ADAL" clId="{E97D1C7C-331B-49B3-91F1-CE31FEEB8FDF}" dt="2026-07-19T21:26:21.918" v="1067" actId="22"/>
          <ac:spMkLst>
            <pc:docMk/>
            <pc:sldMk cId="0" sldId="269"/>
            <ac:spMk id="3" creationId="{A09D28C5-2B44-32D1-C376-2B690F91A780}"/>
          </ac:spMkLst>
        </pc:spChg>
        <pc:spChg chg="add mod ord">
          <ac:chgData name="Anderson, Edward Clifford (eca4zm)" userId="8b27aeba-14ab-4313-9339-48da5a11e8c1" providerId="ADAL" clId="{E97D1C7C-331B-49B3-91F1-CE31FEEB8FDF}" dt="2026-07-19T21:37:44.665" v="1776" actId="14100"/>
          <ac:spMkLst>
            <pc:docMk/>
            <pc:sldMk cId="0" sldId="269"/>
            <ac:spMk id="5" creationId="{C4398C81-9A50-02B7-E141-7D570C4D6462}"/>
          </ac:spMkLst>
        </pc:spChg>
        <pc:spChg chg="add del mod">
          <ac:chgData name="Anderson, Edward Clifford (eca4zm)" userId="8b27aeba-14ab-4313-9339-48da5a11e8c1" providerId="ADAL" clId="{E97D1C7C-331B-49B3-91F1-CE31FEEB8FDF}" dt="2026-07-19T21:29:43.457" v="1278" actId="478"/>
          <ac:spMkLst>
            <pc:docMk/>
            <pc:sldMk cId="0" sldId="269"/>
            <ac:spMk id="7" creationId="{65AB34D8-F4D3-B8BE-7DC6-F290E655AACC}"/>
          </ac:spMkLst>
        </pc:spChg>
        <pc:spChg chg="mod">
          <ac:chgData name="Anderson, Edward Clifford (eca4zm)" userId="8b27aeba-14ab-4313-9339-48da5a11e8c1" providerId="ADAL" clId="{E97D1C7C-331B-49B3-91F1-CE31FEEB8FDF}" dt="2026-07-19T21:36:29.299" v="1480" actId="20577"/>
          <ac:spMkLst>
            <pc:docMk/>
            <pc:sldMk cId="0" sldId="269"/>
            <ac:spMk id="303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7:10.898" v="2121" actId="20577"/>
          <ac:spMkLst>
            <pc:docMk/>
            <pc:sldMk cId="0" sldId="269"/>
            <ac:spMk id="305" creationId="{00000000-0000-0000-0000-000000000000}"/>
          </ac:spMkLst>
        </pc:spChg>
        <pc:picChg chg="ord">
          <ac:chgData name="Anderson, Edward Clifford (eca4zm)" userId="8b27aeba-14ab-4313-9339-48da5a11e8c1" providerId="ADAL" clId="{E97D1C7C-331B-49B3-91F1-CE31FEEB8FDF}" dt="2026-07-19T21:26:53.824" v="1073" actId="167"/>
          <ac:picMkLst>
            <pc:docMk/>
            <pc:sldMk cId="0" sldId="269"/>
            <ac:picMk id="300" creationId="{00000000-0000-0000-0000-000000000000}"/>
          </ac:picMkLst>
        </pc:picChg>
      </pc:sldChg>
      <pc:sldChg chg="modSp mod modNotesTx">
        <pc:chgData name="Anderson, Edward Clifford (eca4zm)" userId="8b27aeba-14ab-4313-9339-48da5a11e8c1" providerId="ADAL" clId="{E97D1C7C-331B-49B3-91F1-CE31FEEB8FDF}" dt="2026-07-19T21:44:56.745" v="2088" actId="1036"/>
        <pc:sldMkLst>
          <pc:docMk/>
          <pc:sldMk cId="0" sldId="270"/>
        </pc:sldMkLst>
        <pc:spChg chg="mod">
          <ac:chgData name="Anderson, Edward Clifford (eca4zm)" userId="8b27aeba-14ab-4313-9339-48da5a11e8c1" providerId="ADAL" clId="{E97D1C7C-331B-49B3-91F1-CE31FEEB8FDF}" dt="2026-07-19T21:44:56.745" v="2088" actId="1036"/>
          <ac:spMkLst>
            <pc:docMk/>
            <pc:sldMk cId="0" sldId="270"/>
            <ac:spMk id="318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40.603" v="1998" actId="403"/>
          <ac:spMkLst>
            <pc:docMk/>
            <pc:sldMk cId="0" sldId="270"/>
            <ac:spMk id="321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56.080" v="1999" actId="403"/>
          <ac:spMkLst>
            <pc:docMk/>
            <pc:sldMk cId="0" sldId="270"/>
            <ac:spMk id="322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40.603" v="1998" actId="403"/>
          <ac:spMkLst>
            <pc:docMk/>
            <pc:sldMk cId="0" sldId="270"/>
            <ac:spMk id="323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4:25.855" v="2001" actId="20577"/>
          <ac:spMkLst>
            <pc:docMk/>
            <pc:sldMk cId="0" sldId="270"/>
            <ac:spMk id="324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40.603" v="1998" actId="403"/>
          <ac:spMkLst>
            <pc:docMk/>
            <pc:sldMk cId="0" sldId="270"/>
            <ac:spMk id="325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56.080" v="1999" actId="403"/>
          <ac:spMkLst>
            <pc:docMk/>
            <pc:sldMk cId="0" sldId="270"/>
            <ac:spMk id="326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40.603" v="1998" actId="403"/>
          <ac:spMkLst>
            <pc:docMk/>
            <pc:sldMk cId="0" sldId="270"/>
            <ac:spMk id="327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40.603" v="1998" actId="403"/>
          <ac:spMkLst>
            <pc:docMk/>
            <pc:sldMk cId="0" sldId="270"/>
            <ac:spMk id="328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56.080" v="1999" actId="403"/>
          <ac:spMkLst>
            <pc:docMk/>
            <pc:sldMk cId="0" sldId="270"/>
            <ac:spMk id="329" creationId="{00000000-0000-0000-0000-000000000000}"/>
          </ac:spMkLst>
        </pc:spChg>
        <pc:spChg chg="mod">
          <ac:chgData name="Anderson, Edward Clifford (eca4zm)" userId="8b27aeba-14ab-4313-9339-48da5a11e8c1" providerId="ADAL" clId="{E97D1C7C-331B-49B3-91F1-CE31FEEB8FDF}" dt="2026-07-19T21:43:56.080" v="1999" actId="403"/>
          <ac:spMkLst>
            <pc:docMk/>
            <pc:sldMk cId="0" sldId="270"/>
            <ac:spMk id="332" creationId="{00000000-0000-0000-0000-000000000000}"/>
          </ac:spMkLst>
        </pc:spChg>
      </pc:sldChg>
    </pc:docChg>
  </pc:docChgLst>
</pc:chgInfo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C3210B-4185-49E8-B774-0BAB29307DDB}" authorId="{F7CB7528-0317-1151-A7B7-34D5B6A94F6F}" created="2026-07-19T23:07:19.2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400" creationId="{00000000-0000-0000-0000-000000000000}"/>
      <ac:tblMk/>
      <ac:tcMk rowId="10003" colId="20002"/>
      <ac:txMk cp="0" len="45">
        <ac:context len="46" hash="1022678855"/>
      </ac:txMk>
    </ac:txMkLst>
    <p188:pos x="8641080" y="1152964"/>
    <p188:txBody>
      <a:bodyPr/>
      <a:lstStyle/>
      <a:p>
        <a:r>
          <a:rPr lang="en-US"/>
          <a:t>Remove the 3rd row?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60e89e4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f560e89e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Named after 1 of my favorite mtns in Colorado. Vestal Peak on Wham Ridge outside of Silverton. Its an ultra just to get to the mtn. 25 mile round trip. </a:t>
            </a:r>
            <a:endParaRPr dirty="0"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BASELINE: $234.0K of business would have occurred without the campaign and is excluded.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solidFill>
                  <a:srgbClr val="333333"/>
                </a:solidFill>
              </a:rPr>
              <a:t>•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$74.6K campaign spend less $31.6K baseline 20-day run rate → $43.0K additional spend.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dirty="0">
              <a:solidFill>
                <a:srgbClr val="333333"/>
              </a:solidFill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  <a:sym typeface="Arial"/>
              </a:rPr>
              <a:t>Check the 1.8 number here vs the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  <a:sym typeface="Arial"/>
              </a:rPr>
              <a:t>iROAS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  <a:sym typeface="Arial"/>
              </a:rPr>
              <a:t> in later slide</a:t>
            </a:r>
            <a:endParaRPr lang="en-US" dirty="0"/>
          </a:p>
        </p:txBody>
      </p:sp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The three baseline estimates are 19%, 28%, and 32%, with a median of 28%.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2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$30.5K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of existing-shoe revenue was displaced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about </a:t>
            </a:r>
            <a:r>
              <a:rPr lang="en-US" sz="12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31% 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 Vestal Pro's $99.8K direct revenue.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LARGER CARTS drove halo effect. 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New buyers attached accessories at a higher rate. Standalone adjacent demand up only 1%.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Arial"/>
                <a:cs typeface="Arial"/>
                <a:sym typeface="Arial"/>
              </a:rPr>
              <a:t>OPPORTUNITIES: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(socks, jerseys, hydration) </a:t>
            </a:r>
            <a:endParaRPr dirty="0"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reality, we would want a more nuanced, geo and channel based estimate of incremental ROAS instead of a uniform application.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CRM: 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8% of spend, 47% of attributed revenue.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PAID SOCIAL: 60</a:t>
            </a: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 of spend at only 0.3× </a:t>
            </a:r>
            <a:r>
              <a:rPr lang="en-US" sz="1200" b="0" i="0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iROAS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PAID SEARCH:</a:t>
            </a:r>
            <a:r>
              <a:rPr lang="en-US" sz="12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25% of spend at 1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lang="en-US" sz="1200" i="0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iROAS</a:t>
            </a:r>
            <a:r>
              <a:rPr lang="en-US" sz="120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(175 new customers at $108 CAC)</a:t>
            </a:r>
            <a:endParaRPr lang="en-US" sz="120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AFFILIATE:</a:t>
            </a:r>
            <a:r>
              <a:rPr lang="en-US" sz="12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7% of spend at 1.4× </a:t>
            </a:r>
            <a:r>
              <a:rPr lang="en-US" sz="1200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iROAS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BRAND IMPRESSIONS AND CLICKS: +20% during campaign and continues to increase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+22% above pre-campaign levels in the final two weeks (Jul 7–20) vs baseline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  <a:sym typeface="Arial"/>
              </a:rPr>
              <a:t>BRAND AWARENESS DOES NOT DECAY with media spend divestment after campaign.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  <a:sym typeface="Arial"/>
              </a:rPr>
              <a:t>BASELINE IS 100.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NONBRAND rose slightly (+8%) and reverted toward baseline (+5%) after campaign. The win is in brand awareness, not ultra-running market or seasonality.</a:t>
            </a:r>
            <a:endParaRPr dirty="0"/>
          </a:p>
        </p:txBody>
      </p:sp>
      <p:sp>
        <p:nvSpPr>
          <p:cNvPr id="278" name="Google Shape;2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Weeks run from the June 1 launch; weeks 4–7 are post-campaign (Jun 21–Jul 19). Core-size availability = share of core sizes (M9–11, W7–9) in stock, daily average. PDP conversion = Vestal Pro units ÷ PDP views, 7-day average. Unmet demand = campaign-period conversion (4.6%) applied to weeks 4–7 PDP traffic, less actual units, at the $145 average selling price. Illustrative synthetic case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UNMET DEMAND is modeled through conversion drop from baseline multiplied with Vestal Pro traffic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SUBSTITUTION OFFSET: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Adjacent shoe categories held flat.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OPPORTUNITIES: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Increase buy plan on core sizes to create buffer. Revisit sales forecasting during launches and activations.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Inventory indicators should flag indicators around </a:t>
            </a:r>
            <a:r>
              <a:rPr lang="en-US" sz="12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replenishment and paid spend throttling to divest from products that are out of stock</a:t>
            </a:r>
            <a:endParaRPr lang="en-US" dirty="0"/>
          </a:p>
        </p:txBody>
      </p:sp>
      <p:sp>
        <p:nvSpPr>
          <p:cNvPr id="298" name="Google Shape;29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Core-size availability broke 90% in week 3 and bottomed near 43%, costing ≈112 units (≈$16.2K)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en-US" sz="1200" dirty="0">
                <a:solidFill>
                  <a:srgbClr val="BFD5ED"/>
                </a:solidFill>
                <a:latin typeface="Arial"/>
                <a:cs typeface="Arial"/>
                <a:sym typeface="Arial"/>
              </a:rPr>
              <a:t>We don’t want to push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traffic into a broken areas, especially when it costs money and yields $0.</a:t>
            </a:r>
            <a:endParaRPr lang="en-US" sz="1200" dirty="0">
              <a:solidFill>
                <a:srgbClr val="BFD5ED"/>
              </a:solidFill>
              <a:latin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dirty="0">
                <a:solidFill>
                  <a:srgbClr val="BFD5ED"/>
                </a:solidFill>
                <a:latin typeface="Arial"/>
                <a:cs typeface="Arial"/>
                <a:sym typeface="Arial"/>
              </a:rPr>
              <a:t>Paid Social: Responsible for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41% of new customers at $151 CAC vs $188 early value.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200" dirty="0">
                <a:solidFill>
                  <a:srgbClr val="BFD5ED"/>
                </a:solidFill>
                <a:latin typeface="Arial"/>
                <a:cs typeface="Arial"/>
                <a:sym typeface="Arial"/>
              </a:rPr>
              <a:t>Cannibalization: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~30% of Vestal Pro units shifted from existing shoes displacing with $30.5K. Monitor cannibalization throughout campaign.</a:t>
            </a:r>
            <a:endParaRPr lang="en-US" sz="1200" dirty="0">
              <a:solidFill>
                <a:srgbClr val="BFD5ED"/>
              </a:solidFill>
              <a:latin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dirty="0"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Vestal Pro Shoe Launch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22960" y="2834640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E8EDE"/>
                </a:solidFill>
                <a:latin typeface="Georgia"/>
                <a:ea typeface="Georgia"/>
                <a:cs typeface="Georgia"/>
                <a:sym typeface="Georgia"/>
              </a:rPr>
              <a:t>Campaign Performance Report</a:t>
            </a:r>
            <a:endParaRPr sz="2400" b="0" i="0" u="none" strike="noStrike" cap="none">
              <a:solidFill>
                <a:srgbClr val="3E8ED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22960" y="3977639"/>
            <a:ext cx="10515600" cy="45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North America eCommerce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Active campaign: June 1 – June 20, 2026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Marketing Insights &amp; Analytics  ·  **synthetic case data**</a:t>
            </a:r>
            <a:endParaRPr sz="1000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 descr="salomon_wordmar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900000"/>
            <a:ext cx="2560320" cy="29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0" y="-531516"/>
            <a:ext cx="13527464" cy="9018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60e89e40_0_0"/>
          <p:cNvSpPr txBox="1"/>
          <p:nvPr/>
        </p:nvSpPr>
        <p:spPr>
          <a:xfrm>
            <a:off x="502920" y="292608"/>
            <a:ext cx="11155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757575"/>
                </a:solidFill>
              </a:rPr>
              <a:t>AGENDA</a:t>
            </a:r>
            <a:endParaRPr/>
          </a:p>
        </p:txBody>
      </p:sp>
      <p:sp>
        <p:nvSpPr>
          <p:cNvPr id="107" name="Google Shape;107;g3f560e89e40_0_0"/>
          <p:cNvSpPr txBox="1"/>
          <p:nvPr/>
        </p:nvSpPr>
        <p:spPr>
          <a:xfrm>
            <a:off x="502920" y="566928"/>
            <a:ext cx="1120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Georgia"/>
                <a:ea typeface="Georgia"/>
                <a:cs typeface="Georgia"/>
                <a:sym typeface="Georgia"/>
              </a:rPr>
              <a:t>CASE AGENDA</a:t>
            </a:r>
            <a:endParaRPr sz="23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g3f560e89e40_0_0"/>
          <p:cNvSpPr txBox="1"/>
          <p:nvPr/>
        </p:nvSpPr>
        <p:spPr>
          <a:xfrm>
            <a:off x="502920" y="6510528"/>
            <a:ext cx="10515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</a:t>
            </a:r>
            <a:endParaRPr/>
          </a:p>
        </p:txBody>
      </p:sp>
      <p:sp>
        <p:nvSpPr>
          <p:cNvPr id="111" name="Google Shape;111;g3f560e89e40_0_0"/>
          <p:cNvSpPr txBox="1"/>
          <p:nvPr/>
        </p:nvSpPr>
        <p:spPr>
          <a:xfrm>
            <a:off x="11292840" y="6510528"/>
            <a:ext cx="411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id="112" name="Google Shape;112;g3f560e89e40_0_0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AgendaCard"/>
          <p:cNvSpPr/>
          <p:nvPr/>
        </p:nvSpPr>
        <p:spPr>
          <a:xfrm>
            <a:off x="502920" y="1310000"/>
            <a:ext cx="111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AgendaItem"/>
          <p:cNvSpPr txBox="1"/>
          <p:nvPr/>
        </p:nvSpPr>
        <p:spPr>
          <a:xfrm>
            <a:off x="731520" y="1310000"/>
            <a:ext cx="10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Setup &amp; Executive Summary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Background, </a:t>
            </a:r>
            <a:r>
              <a:rPr lang="en-US" sz="1000" dirty="0">
                <a:solidFill>
                  <a:srgbClr val="757575"/>
                </a:solidFill>
              </a:rPr>
              <a:t>o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bjectives, success criteria, and the campaign verdict</a:t>
            </a:r>
            <a:endParaRPr dirty="0"/>
          </a:p>
        </p:txBody>
      </p:sp>
      <p:cxnSp>
        <p:nvCxnSpPr>
          <p:cNvPr id="202" name="FlowArrow"/>
          <p:cNvCxnSpPr/>
          <p:nvPr/>
        </p:nvCxnSpPr>
        <p:spPr>
          <a:xfrm>
            <a:off x="6096000" y="1890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03" name="AgendaCard"/>
          <p:cNvSpPr/>
          <p:nvPr/>
        </p:nvSpPr>
        <p:spPr>
          <a:xfrm>
            <a:off x="1102920" y="2045000"/>
            <a:ext cx="105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AgendaNum1"/>
          <p:cNvSpPr txBox="1"/>
          <p:nvPr/>
        </p:nvSpPr>
        <p:spPr>
          <a:xfrm>
            <a:off x="1331520" y="2045000"/>
            <a:ext cx="3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5" name="AgendaItem"/>
          <p:cNvSpPr txBox="1"/>
          <p:nvPr/>
        </p:nvSpPr>
        <p:spPr>
          <a:xfrm>
            <a:off x="1731520" y="2045000"/>
            <a:ext cx="9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Performance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Topline vs. baseline, decomposition, cannibalization, halo</a:t>
            </a:r>
            <a:endParaRPr dirty="0"/>
          </a:p>
        </p:txBody>
      </p:sp>
      <p:cxnSp>
        <p:nvCxnSpPr>
          <p:cNvPr id="206" name="FlowArrow"/>
          <p:cNvCxnSpPr/>
          <p:nvPr/>
        </p:nvCxnSpPr>
        <p:spPr>
          <a:xfrm>
            <a:off x="6096000" y="2625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07" name="AgendaCard"/>
          <p:cNvSpPr/>
          <p:nvPr/>
        </p:nvSpPr>
        <p:spPr>
          <a:xfrm>
            <a:off x="1102920" y="2780000"/>
            <a:ext cx="105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AgendaNum2"/>
          <p:cNvSpPr txBox="1"/>
          <p:nvPr/>
        </p:nvSpPr>
        <p:spPr>
          <a:xfrm>
            <a:off x="1331520" y="2780000"/>
            <a:ext cx="3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9" name="AgendaItem"/>
          <p:cNvSpPr txBox="1"/>
          <p:nvPr/>
        </p:nvSpPr>
        <p:spPr>
          <a:xfrm>
            <a:off x="1731520" y="2780000"/>
            <a:ext cx="9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Acquisition &amp; LTV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CAC, early customer value, 24-month LTV forecast</a:t>
            </a:r>
            <a:endParaRPr dirty="0"/>
          </a:p>
        </p:txBody>
      </p:sp>
      <p:cxnSp>
        <p:nvCxnSpPr>
          <p:cNvPr id="210" name="FlowArrow"/>
          <p:cNvCxnSpPr/>
          <p:nvPr/>
        </p:nvCxnSpPr>
        <p:spPr>
          <a:xfrm>
            <a:off x="6096000" y="3360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11" name="AgendaCard"/>
          <p:cNvSpPr/>
          <p:nvPr/>
        </p:nvSpPr>
        <p:spPr>
          <a:xfrm>
            <a:off x="1102920" y="3515000"/>
            <a:ext cx="105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AgendaNum3"/>
          <p:cNvSpPr txBox="1"/>
          <p:nvPr/>
        </p:nvSpPr>
        <p:spPr>
          <a:xfrm>
            <a:off x="1331520" y="3515000"/>
            <a:ext cx="3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3" name="AgendaItem"/>
          <p:cNvSpPr txBox="1"/>
          <p:nvPr/>
        </p:nvSpPr>
        <p:spPr>
          <a:xfrm>
            <a:off x="1731520" y="3515000"/>
            <a:ext cx="9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 Performance</a:t>
            </a:r>
            <a:r>
              <a:rPr lang="en-US" sz="10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Spend mix, iROAS, and each channel’s role</a:t>
            </a:r>
            <a:endParaRPr/>
          </a:p>
        </p:txBody>
      </p:sp>
      <p:cxnSp>
        <p:nvCxnSpPr>
          <p:cNvPr id="214" name="FlowArrow"/>
          <p:cNvCxnSpPr/>
          <p:nvPr/>
        </p:nvCxnSpPr>
        <p:spPr>
          <a:xfrm>
            <a:off x="6096000" y="4095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15" name="AgendaCard"/>
          <p:cNvSpPr/>
          <p:nvPr/>
        </p:nvSpPr>
        <p:spPr>
          <a:xfrm>
            <a:off x="1102920" y="4250000"/>
            <a:ext cx="105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AgendaNum4"/>
          <p:cNvSpPr txBox="1"/>
          <p:nvPr/>
        </p:nvSpPr>
        <p:spPr>
          <a:xfrm>
            <a:off x="1331520" y="4250000"/>
            <a:ext cx="3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7" name="AgendaItem"/>
          <p:cNvSpPr txBox="1"/>
          <p:nvPr/>
        </p:nvSpPr>
        <p:spPr>
          <a:xfrm>
            <a:off x="1731520" y="4250000"/>
            <a:ext cx="9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Branded search demand during and after the campaign</a:t>
            </a:r>
            <a:endParaRPr dirty="0"/>
          </a:p>
        </p:txBody>
      </p:sp>
      <p:cxnSp>
        <p:nvCxnSpPr>
          <p:cNvPr id="218" name="FlowArrow"/>
          <p:cNvCxnSpPr/>
          <p:nvPr/>
        </p:nvCxnSpPr>
        <p:spPr>
          <a:xfrm>
            <a:off x="6096000" y="4830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19" name="AgendaCard"/>
          <p:cNvSpPr/>
          <p:nvPr/>
        </p:nvSpPr>
        <p:spPr>
          <a:xfrm>
            <a:off x="1102920" y="4985000"/>
            <a:ext cx="105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AgendaNum5"/>
          <p:cNvSpPr txBox="1"/>
          <p:nvPr/>
        </p:nvSpPr>
        <p:spPr>
          <a:xfrm>
            <a:off x="1331520" y="4985000"/>
            <a:ext cx="35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1" name="AgendaItem"/>
          <p:cNvSpPr txBox="1"/>
          <p:nvPr/>
        </p:nvSpPr>
        <p:spPr>
          <a:xfrm>
            <a:off x="1731520" y="4985000"/>
            <a:ext cx="9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  <a:r>
              <a:rPr lang="en-US" sz="10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Size-curve availability and unmet demand</a:t>
            </a:r>
            <a:endParaRPr dirty="0"/>
          </a:p>
        </p:txBody>
      </p:sp>
      <p:cxnSp>
        <p:nvCxnSpPr>
          <p:cNvPr id="222" name="FlowArrow"/>
          <p:cNvCxnSpPr/>
          <p:nvPr/>
        </p:nvCxnSpPr>
        <p:spPr>
          <a:xfrm>
            <a:off x="6096000" y="5565000"/>
            <a:ext cx="0" cy="135000"/>
          </a:xfrm>
          <a:prstGeom prst="straightConnector1">
            <a:avLst/>
          </a:prstGeom>
          <a:ln w="19050" cap="flat">
            <a:solidFill>
              <a:srgbClr val="0057B8"/>
            </a:solidFill>
            <a:round/>
            <a:headEnd type="none"/>
            <a:tailEnd type="triangle" w="med" len="med"/>
          </a:ln>
        </p:spPr>
      </p:cxnSp>
      <p:sp>
        <p:nvSpPr>
          <p:cNvPr id="223" name="AgendaCard"/>
          <p:cNvSpPr/>
          <p:nvPr/>
        </p:nvSpPr>
        <p:spPr>
          <a:xfrm>
            <a:off x="502920" y="5720000"/>
            <a:ext cx="11186160" cy="560000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AgendaItem"/>
          <p:cNvSpPr txBox="1"/>
          <p:nvPr/>
        </p:nvSpPr>
        <p:spPr>
          <a:xfrm>
            <a:off x="731520" y="5720000"/>
            <a:ext cx="1072896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r>
              <a:rPr lang="en-US" sz="10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·   Changes for the next launch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/>
        </p:nvSpPr>
        <p:spPr>
          <a:xfrm>
            <a:off x="502920" y="292608"/>
            <a:ext cx="11155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757575"/>
                </a:solidFill>
              </a:rPr>
              <a:t>CASE SETUP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Vestal Pro: a new ultra-running franchise, launched with a 20-day GTM campaign</a:t>
            </a:r>
            <a:endParaRPr sz="23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id="134" name="Google Shape;134;p2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SetupLabel"/>
          <p:cNvSpPr txBox="1"/>
          <p:nvPr/>
        </p:nvSpPr>
        <p:spPr>
          <a:xfrm>
            <a:off x="502920" y="1180000"/>
            <a:ext cx="14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402" name="SetupLine"/>
          <p:cNvSpPr txBox="1"/>
          <p:nvPr/>
        </p:nvSpPr>
        <p:spPr>
          <a:xfrm>
            <a:off x="1950000" y="1180000"/>
            <a:ext cx="973908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High-cushion ultra-distance trail shoe · full-price launch · June 2026 · Salomon NA eCommerce</a:t>
            </a:r>
            <a:endParaRPr/>
          </a:p>
        </p:txBody>
      </p:sp>
      <p:sp>
        <p:nvSpPr>
          <p:cNvPr id="403" name="SetupLabel"/>
          <p:cNvSpPr txBox="1"/>
          <p:nvPr/>
        </p:nvSpPr>
        <p:spPr>
          <a:xfrm>
            <a:off x="502920" y="1510000"/>
            <a:ext cx="14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DATA USED</a:t>
            </a:r>
            <a:endParaRPr/>
          </a:p>
        </p:txBody>
      </p:sp>
      <p:sp>
        <p:nvSpPr>
          <p:cNvPr id="404" name="SetupLine"/>
          <p:cNvSpPr txBox="1"/>
          <p:nvPr/>
        </p:nvSpPr>
        <p:spPr>
          <a:xfrm>
            <a:off x="1950000" y="1510000"/>
            <a:ext cx="973908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GA4 sessions, source, views &amp; conversion · order-level sales · marketing spend by channel · ATS inventory · GSC brand queries · Mar 1 – Jul 20, 2026</a:t>
            </a:r>
            <a:endParaRPr/>
          </a:p>
        </p:txBody>
      </p:sp>
      <p:graphicFrame>
        <p:nvGraphicFramePr>
          <p:cNvPr id="400" name="ObjectivesTable"/>
          <p:cNvGraphicFramePr/>
          <p:nvPr>
            <p:extLst>
              <p:ext uri="{D42A27DB-BD31-4B8C-83A1-F6EECF244321}">
                <p14:modId xmlns:p14="http://schemas.microsoft.com/office/powerpoint/2010/main" val="322919849"/>
              </p:ext>
            </p:extLst>
          </p:nvPr>
        </p:nvGraphicFramePr>
        <p:xfrm>
          <a:off x="502920" y="1950000"/>
          <a:ext cx="11186160" cy="2368296"/>
        </p:xfrm>
        <a:graphic>
          <a:graphicData uri="http://schemas.openxmlformats.org/drawingml/2006/table">
            <a:tbl>
              <a:tblPr firstRow="1"/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</a:t>
                      </a:r>
                    </a:p>
                  </a:txBody>
                  <a:tcPr marL="13716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PRIORITY</a:t>
                      </a:r>
                    </a:p>
                  </a:txBody>
                  <a:tcPr marL="13716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SUCCESS CRITERIA</a:t>
                      </a:r>
                    </a:p>
                  </a:txBody>
                  <a:tcPr marL="13716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incremental footwear revenue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>
                          <a:solidFill>
                            <a:srgbClr val="0057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Incremental revenue ≥ +10% vs no-campaign counterfactual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Acquire new trail-running consumers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>
                          <a:solidFill>
                            <a:srgbClr val="0057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customers ≥ 25% of Vestal Pro purchasers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Establish a flagship ultra-running franchise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1" i="0" dirty="0">
                          <a:solidFill>
                            <a:srgbClr val="0057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Launch-period revenue meets campaign forecast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 cannibalization of existing footwear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7575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Secondary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shift &lt; 10% of Vestal Pro sales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 halo demand in adjacent categories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7575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Secondary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Halo lift ≥ +5% across adjacent trail categories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 Salomon brand awareness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7575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Secondary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Branded search ≥ +10% vs counterfactual baseline</a:t>
                      </a:r>
                    </a:p>
                  </a:txBody>
                  <a:tcPr marL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50" b="0" i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 the email / SMS consumer database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>
                          <a:solidFill>
                            <a:srgbClr val="7575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Secondary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buNone/>
                      </a:pPr>
                      <a:r>
                        <a:rPr lang="en-US" sz="1000" b="0" i="0" dirty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/ SMS acquisition meets campaign targets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5" name="SetupLabel"/>
          <p:cNvSpPr txBox="1"/>
          <p:nvPr/>
        </p:nvSpPr>
        <p:spPr>
          <a:xfrm>
            <a:off x="502920" y="4680000"/>
            <a:ext cx="539496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MEASUREMENT WINDOWS</a:t>
            </a:r>
            <a:endParaRPr/>
          </a:p>
        </p:txBody>
      </p:sp>
      <p:sp>
        <p:nvSpPr>
          <p:cNvPr id="420" name="TimelineSeg"/>
          <p:cNvSpPr/>
          <p:nvPr/>
        </p:nvSpPr>
        <p:spPr>
          <a:xfrm>
            <a:off x="502920" y="5560000"/>
            <a:ext cx="7247371" cy="1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TimelineSeg"/>
          <p:cNvSpPr/>
          <p:nvPr/>
        </p:nvSpPr>
        <p:spPr>
          <a:xfrm>
            <a:off x="7750291" y="5560000"/>
            <a:ext cx="1575515" cy="1200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2" name="TimelineSeg"/>
          <p:cNvSpPr/>
          <p:nvPr/>
        </p:nvSpPr>
        <p:spPr>
          <a:xfrm>
            <a:off x="9325806" y="5560000"/>
            <a:ext cx="2363274" cy="1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3" name="TimelineCallout"/>
          <p:cNvSpPr txBox="1"/>
          <p:nvPr/>
        </p:nvSpPr>
        <p:spPr>
          <a:xfrm>
            <a:off x="502920" y="4980000"/>
            <a:ext cx="38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PRE-CAMPAIGN BASELINE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Mar 1 – May 31 · 13 weeks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Status-quo demand, traffic, and channel patterns</a:t>
            </a:r>
          </a:p>
        </p:txBody>
      </p:sp>
      <p:sp>
        <p:nvSpPr>
          <p:cNvPr id="424" name="TimelineCallout"/>
          <p:cNvSpPr txBox="1"/>
          <p:nvPr/>
        </p:nvSpPr>
        <p:spPr>
          <a:xfrm>
            <a:off x="7889080" y="4980000"/>
            <a:ext cx="38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POST-CAMPAIGN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Jun 21 – Jul 20 · 4 weeks</a:t>
            </a: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Demand persistence, returns, repeat purchase</a:t>
            </a:r>
          </a:p>
        </p:txBody>
      </p:sp>
      <p:sp>
        <p:nvSpPr>
          <p:cNvPr id="425" name="TimelineCallout"/>
          <p:cNvSpPr txBox="1"/>
          <p:nvPr/>
        </p:nvSpPr>
        <p:spPr>
          <a:xfrm>
            <a:off x="7138048" y="5820000"/>
            <a:ext cx="28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ACTIVE CAMPAIGN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Jun 1 – Jun 20 · 3 weeks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Paid media, CRM, site merchandising, affiliates</a:t>
            </a:r>
          </a:p>
        </p:txBody>
      </p:sp>
      <p:cxnSp>
        <p:nvCxnSpPr>
          <p:cNvPr id="430" name="TimelineLeader"/>
          <p:cNvCxnSpPr/>
          <p:nvPr/>
        </p:nvCxnSpPr>
        <p:spPr>
          <a:xfrm>
            <a:off x="8538420" y="5680000"/>
            <a:ext cx="0" cy="120000"/>
          </a:xfrm>
          <a:prstGeom prst="straightConnector1">
            <a:avLst/>
          </a:prstGeom>
          <a:ln w="12700" cap="flat">
            <a:solidFill>
              <a:srgbClr val="0057B8"/>
            </a:solidFill>
            <a:round/>
            <a:headEnd type="none"/>
            <a:tailEnd type="none"/>
          </a:ln>
        </p:spPr>
      </p:cxnSp>
      <p:sp>
        <p:nvSpPr>
          <p:cNvPr id="426" name="TimelineDate"/>
          <p:cNvSpPr txBox="1"/>
          <p:nvPr/>
        </p:nvSpPr>
        <p:spPr>
          <a:xfrm>
            <a:off x="502920" y="572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MAR 1</a:t>
            </a:r>
            <a:endParaRPr/>
          </a:p>
        </p:txBody>
      </p:sp>
      <p:sp>
        <p:nvSpPr>
          <p:cNvPr id="427" name="TimelineDate"/>
          <p:cNvSpPr txBox="1"/>
          <p:nvPr/>
        </p:nvSpPr>
        <p:spPr>
          <a:xfrm>
            <a:off x="10789080" y="572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JUL 20</a:t>
            </a:r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EXECUTIVE SUMMARY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Successful Launch; Monitor for continued cannibalization and shifting sales mix</a:t>
            </a:r>
            <a:endParaRPr sz="23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02920" y="1481328"/>
            <a:ext cx="2706624" cy="26060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704088" y="170078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INCREMENTAL FOOTWEAR REVENUE</a:t>
            </a:r>
            <a:endParaRPr dirty="0"/>
          </a:p>
        </p:txBody>
      </p:sp>
      <p:sp>
        <p:nvSpPr>
          <p:cNvPr id="143" name="Google Shape;143;p3"/>
          <p:cNvSpPr txBox="1"/>
          <p:nvPr/>
        </p:nvSpPr>
        <p:spPr>
          <a:xfrm>
            <a:off x="704088" y="228600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+36%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704088" y="312724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+$69.3K vs modeled no-campaign baseline</a:t>
            </a:r>
            <a:endParaRPr dirty="0"/>
          </a:p>
        </p:txBody>
      </p:sp>
      <p:sp>
        <p:nvSpPr>
          <p:cNvPr id="145" name="Google Shape;145;p3"/>
          <p:cNvSpPr txBox="1"/>
          <p:nvPr/>
        </p:nvSpPr>
        <p:spPr>
          <a:xfrm>
            <a:off x="704088" y="3712463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Target ≥ +10%  ·  </a:t>
            </a:r>
            <a:r>
              <a:rPr lang="en-US" sz="1050" b="1" i="0" u="none" strike="noStrike" cap="none" dirty="0">
                <a:solidFill>
                  <a:srgbClr val="1F7A4D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dirty="0"/>
          </a:p>
        </p:txBody>
      </p:sp>
      <p:sp>
        <p:nvSpPr>
          <p:cNvPr id="146" name="Google Shape;146;p3"/>
          <p:cNvSpPr/>
          <p:nvPr/>
        </p:nvSpPr>
        <p:spPr>
          <a:xfrm>
            <a:off x="3346704" y="1481328"/>
            <a:ext cx="2706624" cy="26060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3547872" y="170078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NEW-CUSTOMER SHARE, VESTAL PRO BUYERS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3547872" y="228600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547872" y="312724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268 of 667 buyers new to Salomon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3547872" y="3712463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Target ≥ 25%  ·  </a:t>
            </a:r>
            <a:r>
              <a:rPr lang="en-US" sz="1050" b="1" i="0" u="none" strike="noStrike" cap="none">
                <a:solidFill>
                  <a:srgbClr val="1F7A4D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9034272" y="1481328"/>
            <a:ext cx="2706624" cy="26060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9235440" y="170078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FRANCHISE CANNIBALIZATION, EST.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9235440" y="228600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19–32%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235440" y="3127248"/>
            <a:ext cx="2331720" cy="33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−$30.5K existing-shoe revenue displaced</a:t>
            </a:r>
            <a:endParaRPr dirty="0"/>
          </a:p>
        </p:txBody>
      </p:sp>
      <p:sp>
        <p:nvSpPr>
          <p:cNvPr id="155" name="Google Shape;155;p3"/>
          <p:cNvSpPr txBox="1"/>
          <p:nvPr/>
        </p:nvSpPr>
        <p:spPr>
          <a:xfrm>
            <a:off x="9235440" y="3712463"/>
            <a:ext cx="233172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Guardrail &lt; 10%  ·  </a:t>
            </a:r>
            <a:r>
              <a:rPr lang="en-US" sz="1050" b="1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FLAG &amp; MONITOR</a:t>
            </a:r>
            <a:endParaRPr sz="1050" b="1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190488" y="1481328"/>
            <a:ext cx="2706624" cy="26060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391655" y="170078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ADJACENT-CATEGORY HALO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6391655" y="228600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+20%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6391655" y="312724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95% CI +14% to +27% vs baseline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6391655" y="3712463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Target ≥ +5%  ·  </a:t>
            </a:r>
            <a:r>
              <a:rPr lang="en-US" sz="1050" b="1" i="0" u="none" strike="noStrike" cap="none">
                <a:solidFill>
                  <a:srgbClr val="1F7A4D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502920" y="4434840"/>
            <a:ext cx="11183112" cy="1783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868680" y="4681728"/>
            <a:ext cx="104700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VERDICT — a commercial success limited by availability.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$99.8K </a:t>
            </a:r>
            <a:r>
              <a:rPr lang="en-US" sz="125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 revenue</a:t>
            </a: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· $77.5K </a:t>
            </a:r>
            <a:r>
              <a:rPr lang="en-US" sz="125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 incremental revenue</a:t>
            </a: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(+33% vs baseline) · </a:t>
            </a:r>
            <a:endParaRPr sz="1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$34.5K after incremental media · </a:t>
            </a:r>
            <a:r>
              <a:rPr lang="en-US" sz="125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$3.5K CM3</a:t>
            </a: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Cannibalization and core-size availability</a:t>
            </a:r>
            <a:r>
              <a:rPr lang="en-US" sz="1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capped the upside.</a:t>
            </a:r>
            <a:endParaRPr sz="1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dirty="0"/>
          </a:p>
        </p:txBody>
      </p:sp>
      <p:pic>
        <p:nvPicPr>
          <p:cNvPr id="165" name="Google Shape;165;p3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/>
          <p:nvPr/>
        </p:nvSpPr>
        <p:spPr>
          <a:xfrm>
            <a:off x="1307592" y="1344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4151376" y="1344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6995160" y="1344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9838944" y="1344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Card">
            <a:extLst>
              <a:ext uri="{FF2B5EF4-FFF2-40B4-BE49-F238E27FC236}">
                <a16:creationId xmlns:a16="http://schemas.microsoft.com/office/drawing/2014/main" id="{0D69F2B3-73A4-91DF-DA88-68450611EBA9}"/>
              </a:ext>
            </a:extLst>
          </p:cNvPr>
          <p:cNvSpPr/>
          <p:nvPr/>
        </p:nvSpPr>
        <p:spPr>
          <a:xfrm flipV="1">
            <a:off x="8578523" y="1869997"/>
            <a:ext cx="3275592" cy="2978727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TOPLINE PERFORMANCE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Footwear revenue was 36% above the no-campaign baseline throughout the launch</a:t>
            </a:r>
            <a:endParaRPr sz="23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 · Baseline: pre-period trend + weekly seasonality; backtest MAPE 8.0% · FOOTWEAR ONLY</a:t>
            </a:r>
            <a:endParaRPr sz="800" b="0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id="174" name="Google Shape;174;p4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 descr="The diagram illustrates a comparison of actual footwear revenue against a modeled baseline without campaigns, showing fluctuations over a period from April to July 2026.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19" y="1371973"/>
            <a:ext cx="8178093" cy="463920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"/>
          <p:cNvSpPr txBox="1"/>
          <p:nvPr/>
        </p:nvSpPr>
        <p:spPr>
          <a:xfrm>
            <a:off x="3951484" y="1693790"/>
            <a:ext cx="1394238" cy="14619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Campaign start · </a:t>
            </a:r>
            <a:r>
              <a:rPr lang="en-US" sz="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June 1</a:t>
            </a:r>
            <a:endParaRPr sz="950" i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4607553" y="1870947"/>
            <a:ext cx="0" cy="376026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8" name="Google Shape;178;p4"/>
          <p:cNvCxnSpPr/>
          <p:nvPr/>
        </p:nvCxnSpPr>
        <p:spPr>
          <a:xfrm>
            <a:off x="6011870" y="1907414"/>
            <a:ext cx="0" cy="1063352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4"/>
          <p:cNvSpPr txBox="1"/>
          <p:nvPr/>
        </p:nvSpPr>
        <p:spPr>
          <a:xfrm>
            <a:off x="5619129" y="1735937"/>
            <a:ext cx="802357" cy="14619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Final comms</a:t>
            </a:r>
            <a:endParaRPr sz="950" i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745156" y="1989167"/>
            <a:ext cx="3108960" cy="2717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ACTIVE CAMPAIGN, ~3 WEEKS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Observed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22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262.8</a:t>
            </a:r>
            <a:r>
              <a:rPr lang="en-US" sz="22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Counterfactual baseline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$193.5K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+$</a:t>
            </a:r>
            <a:r>
              <a:rPr lang="en-US" sz="2200" b="1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69.3</a:t>
            </a:r>
            <a:r>
              <a:rPr lang="en-US" sz="22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K  (+35.8%)</a:t>
            </a:r>
            <a:endParaRPr dirty="0"/>
          </a:p>
          <a:p>
            <a:pPr marL="0" marR="0" lvl="0" indent="0" algn="l" rtl="0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95% CI +32% to +</a:t>
            </a:r>
            <a:r>
              <a:rPr lang="en-US" sz="10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lang="en-US" sz="10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 · every campaign week ran above baseline · peak gap +$</a:t>
            </a:r>
            <a:r>
              <a:rPr lang="en-US" sz="10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r>
              <a:rPr lang="en-US" sz="10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 in launch week</a:t>
            </a:r>
            <a:endParaRPr sz="10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6655432" y="1870947"/>
            <a:ext cx="1591173" cy="14619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Incrementality Persists</a:t>
            </a:r>
            <a:endParaRPr sz="950" i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 rot="5400000">
            <a:off x="7157421" y="2512903"/>
            <a:ext cx="292388" cy="1539807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 flipH="1">
            <a:off x="7306008" y="2040342"/>
            <a:ext cx="145011" cy="109627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endaCard">
            <a:extLst>
              <a:ext uri="{FF2B5EF4-FFF2-40B4-BE49-F238E27FC236}">
                <a16:creationId xmlns:a16="http://schemas.microsoft.com/office/drawing/2014/main" id="{469A13D2-5CAD-9EAF-771D-0C9FCF37F585}"/>
              </a:ext>
            </a:extLst>
          </p:cNvPr>
          <p:cNvSpPr/>
          <p:nvPr/>
        </p:nvSpPr>
        <p:spPr>
          <a:xfrm flipV="1">
            <a:off x="403058" y="1774656"/>
            <a:ext cx="7140742" cy="4269191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AgendaCard">
            <a:extLst>
              <a:ext uri="{FF2B5EF4-FFF2-40B4-BE49-F238E27FC236}">
                <a16:creationId xmlns:a16="http://schemas.microsoft.com/office/drawing/2014/main" id="{26E78437-9148-AB28-F2BC-E2DB1DDF6E72}"/>
              </a:ext>
            </a:extLst>
          </p:cNvPr>
          <p:cNvSpPr/>
          <p:nvPr/>
        </p:nvSpPr>
        <p:spPr>
          <a:xfrm flipV="1">
            <a:off x="7688178" y="1816767"/>
            <a:ext cx="4358785" cy="25778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SALES DECOMPOSITION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Contribution Margin of ~4</a:t>
            </a:r>
            <a:r>
              <a:rPr lang="en-US" sz="2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 limited by </a:t>
            </a:r>
            <a:r>
              <a:rPr lang="en-US" sz="2300">
                <a:latin typeface="Georgia"/>
                <a:ea typeface="Georgia"/>
                <a:cs typeface="Georgia"/>
                <a:sym typeface="Georgia"/>
              </a:rPr>
              <a:t>Cannibalization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id="192" name="Google Shape;192;p5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7767819" y="2233767"/>
            <a:ext cx="4272519" cy="203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2000"/>
              </a:lnSpc>
            </a:pPr>
            <a:r>
              <a:rPr lang="en-US" sz="1100" dirty="0">
                <a:solidFill>
                  <a:srgbClr val="333333"/>
                </a:solidFill>
              </a:rPr>
              <a:t>• </a:t>
            </a:r>
            <a:r>
              <a:rPr lang="en-US" sz="11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Only movement vs. baseline is counted.</a:t>
            </a:r>
            <a:r>
              <a:rPr lang="en-US" dirty="0">
                <a:solidFill>
                  <a:srgbClr val="333333"/>
                </a:solidFill>
              </a:rPr>
              <a:t> </a:t>
            </a:r>
            <a:endParaRPr dirty="0"/>
          </a:p>
          <a:p>
            <a:pPr lvl="0">
              <a:lnSpc>
                <a:spcPct val="112000"/>
              </a:lnSpc>
              <a:spcBef>
                <a:spcPts val="900"/>
              </a:spcBef>
            </a:pPr>
            <a:r>
              <a:rPr lang="en-US" sz="1100" dirty="0">
                <a:solidFill>
                  <a:srgbClr val="333333"/>
                </a:solidFill>
              </a:rPr>
              <a:t>• </a:t>
            </a:r>
            <a:r>
              <a:rPr lang="en-US" sz="11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$30.5K of Ultra Glide and Sense Ride sales displaced by Vestal Pro campaign</a:t>
            </a:r>
            <a:r>
              <a:rPr lang="en-US" sz="1100" dirty="0">
                <a:solidFill>
                  <a:srgbClr val="333333"/>
                </a:solidFill>
              </a:rPr>
              <a:t>.</a:t>
            </a:r>
            <a:endParaRPr dirty="0"/>
          </a:p>
          <a:p>
            <a:pPr lvl="0">
              <a:lnSpc>
                <a:spcPct val="112000"/>
              </a:lnSpc>
              <a:spcBef>
                <a:spcPts val="900"/>
              </a:spcBef>
            </a:pPr>
            <a:r>
              <a:rPr lang="en-US" sz="1100" dirty="0">
                <a:solidFill>
                  <a:srgbClr val="333333"/>
                </a:solidFill>
              </a:rPr>
              <a:t>• </a:t>
            </a:r>
            <a:r>
              <a:rPr lang="en-US" sz="11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Paid investment is persistent. Lasting effects on brand awareness and CLV</a:t>
            </a:r>
            <a:endParaRPr dirty="0"/>
          </a:p>
          <a:p>
            <a:pPr lvl="0">
              <a:lnSpc>
                <a:spcPct val="112000"/>
              </a:lnSpc>
              <a:spcBef>
                <a:spcPts val="900"/>
              </a:spcBef>
            </a:pPr>
            <a:r>
              <a:rPr lang="en-US" sz="1100" dirty="0">
                <a:solidFill>
                  <a:srgbClr val="333333"/>
                </a:solidFill>
              </a:rPr>
              <a:t>• </a:t>
            </a:r>
            <a:r>
              <a:rPr lang="en-US" sz="1100" b="1" dirty="0">
                <a:solidFill>
                  <a:srgbClr val="333333"/>
                </a:solidFill>
              </a:rPr>
              <a:t>Return on Incremental Media</a:t>
            </a:r>
            <a:r>
              <a:rPr lang="en-US" sz="11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$77.5K ÷ $43.0K = 1.80×</a:t>
            </a:r>
            <a:endParaRPr dirty="0"/>
          </a:p>
          <a:p>
            <a:pPr lvl="0">
              <a:lnSpc>
                <a:spcPct val="112000"/>
              </a:lnSpc>
              <a:spcBef>
                <a:spcPts val="900"/>
              </a:spcBef>
            </a:pPr>
            <a:r>
              <a:rPr lang="en-US" sz="1100" dirty="0">
                <a:solidFill>
                  <a:srgbClr val="333333"/>
                </a:solidFill>
              </a:rPr>
              <a:t>• </a:t>
            </a:r>
            <a:r>
              <a:rPr lang="en-US" sz="11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Contribution Margin</a:t>
            </a:r>
            <a:r>
              <a:rPr lang="en-US" sz="110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After accounting for COGS and direct overhead, CM3 sit at $3.5K.</a:t>
            </a:r>
            <a:endParaRPr sz="110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LedgerRow"/>
          <p:cNvSpPr txBox="1"/>
          <p:nvPr/>
        </p:nvSpPr>
        <p:spPr>
          <a:xfrm>
            <a:off x="502920" y="223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Vestal Pro direct revenue</a:t>
            </a:r>
          </a:p>
        </p:txBody>
      </p:sp>
      <p:sp>
        <p:nvSpPr>
          <p:cNvPr id="199" name="Google Shape;199;p5"/>
          <p:cNvSpPr txBox="1"/>
          <p:nvPr/>
        </p:nvSpPr>
        <p:spPr>
          <a:xfrm>
            <a:off x="7774445" y="1911952"/>
            <a:ext cx="539496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INCREMENTALITY BREAKDOWN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LedgerLabel"/>
          <p:cNvSpPr txBox="1"/>
          <p:nvPr/>
        </p:nvSpPr>
        <p:spPr>
          <a:xfrm>
            <a:off x="502920" y="1911952"/>
            <a:ext cx="69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CAMPAIGN P&amp;L — 20-DAY LAUNCH</a:t>
            </a:r>
          </a:p>
        </p:txBody>
      </p:sp>
      <p:sp>
        <p:nvSpPr>
          <p:cNvPr id="302" name="LedgerVal"/>
          <p:cNvSpPr txBox="1"/>
          <p:nvPr/>
        </p:nvSpPr>
        <p:spPr>
          <a:xfrm>
            <a:off x="5502920" y="223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+$99.8K</a:t>
            </a:r>
          </a:p>
        </p:txBody>
      </p:sp>
      <p:sp>
        <p:nvSpPr>
          <p:cNvPr id="303" name="LedgerRule"/>
          <p:cNvSpPr/>
          <p:nvPr/>
        </p:nvSpPr>
        <p:spPr>
          <a:xfrm>
            <a:off x="502920" y="2708767"/>
            <a:ext cx="6900000" cy="95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LedgerRow"/>
          <p:cNvSpPr txBox="1"/>
          <p:nvPr/>
        </p:nvSpPr>
        <p:spPr>
          <a:xfrm>
            <a:off x="502920" y="275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Sales shifted from existing shoes</a:t>
            </a: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(19–32% of units)</a:t>
            </a:r>
          </a:p>
        </p:txBody>
      </p:sp>
      <p:sp>
        <p:nvSpPr>
          <p:cNvPr id="305" name="LedgerVal"/>
          <p:cNvSpPr txBox="1"/>
          <p:nvPr/>
        </p:nvSpPr>
        <p:spPr>
          <a:xfrm>
            <a:off x="5502920" y="275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DA291C"/>
                </a:solidFill>
                <a:latin typeface="Arial"/>
                <a:ea typeface="Arial"/>
                <a:cs typeface="Arial"/>
                <a:sym typeface="Arial"/>
              </a:rPr>
              <a:t>−$30.5K</a:t>
            </a:r>
          </a:p>
        </p:txBody>
      </p:sp>
      <p:sp>
        <p:nvSpPr>
          <p:cNvPr id="306" name="LedgerRule"/>
          <p:cNvSpPr/>
          <p:nvPr/>
        </p:nvSpPr>
        <p:spPr>
          <a:xfrm>
            <a:off x="502920" y="3228767"/>
            <a:ext cx="6900000" cy="952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LedgerRow"/>
          <p:cNvSpPr txBox="1"/>
          <p:nvPr/>
        </p:nvSpPr>
        <p:spPr>
          <a:xfrm>
            <a:off x="502920" y="327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Halo — attached apparel &amp; accessories</a:t>
            </a:r>
          </a:p>
        </p:txBody>
      </p:sp>
      <p:sp>
        <p:nvSpPr>
          <p:cNvPr id="311" name="LedgerRow"/>
          <p:cNvSpPr txBox="1"/>
          <p:nvPr/>
        </p:nvSpPr>
        <p:spPr>
          <a:xfrm>
            <a:off x="502920" y="379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 incremental revenue</a:t>
            </a: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(+33% vs no-campaign baseline)</a:t>
            </a:r>
          </a:p>
        </p:txBody>
      </p:sp>
      <p:sp>
        <p:nvSpPr>
          <p:cNvPr id="308" name="LedgerVal"/>
          <p:cNvSpPr txBox="1"/>
          <p:nvPr/>
        </p:nvSpPr>
        <p:spPr>
          <a:xfrm>
            <a:off x="5502920" y="327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+$8.2K</a:t>
            </a:r>
          </a:p>
        </p:txBody>
      </p:sp>
      <p:sp>
        <p:nvSpPr>
          <p:cNvPr id="309" name="LedgerRule"/>
          <p:cNvSpPr/>
          <p:nvPr/>
        </p:nvSpPr>
        <p:spPr>
          <a:xfrm>
            <a:off x="502920" y="3748767"/>
            <a:ext cx="6900000" cy="952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LedgerRule"/>
          <p:cNvSpPr/>
          <p:nvPr/>
        </p:nvSpPr>
        <p:spPr>
          <a:xfrm>
            <a:off x="502920" y="3748767"/>
            <a:ext cx="6900000" cy="12700"/>
          </a:xfrm>
          <a:prstGeom prst="rect">
            <a:avLst/>
          </a:prstGeom>
          <a:solidFill>
            <a:srgbClr val="BFD5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LedgerVal"/>
          <p:cNvSpPr txBox="1"/>
          <p:nvPr/>
        </p:nvSpPr>
        <p:spPr>
          <a:xfrm>
            <a:off x="5502920" y="379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+$77.5K</a:t>
            </a:r>
          </a:p>
        </p:txBody>
      </p:sp>
      <p:sp>
        <p:nvSpPr>
          <p:cNvPr id="313" name="LedgerRow"/>
          <p:cNvSpPr txBox="1"/>
          <p:nvPr/>
        </p:nvSpPr>
        <p:spPr>
          <a:xfrm>
            <a:off x="502920" y="431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Incremental media spend</a:t>
            </a:r>
            <a:r>
              <a:rPr lang="en-US" sz="9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($74.6K total less $31.6K run rate)</a:t>
            </a:r>
          </a:p>
        </p:txBody>
      </p:sp>
      <p:sp>
        <p:nvSpPr>
          <p:cNvPr id="314" name="LedgerVal"/>
          <p:cNvSpPr txBox="1"/>
          <p:nvPr/>
        </p:nvSpPr>
        <p:spPr>
          <a:xfrm>
            <a:off x="5502920" y="431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−$43.0K</a:t>
            </a:r>
          </a:p>
        </p:txBody>
      </p:sp>
      <p:sp>
        <p:nvSpPr>
          <p:cNvPr id="315" name="LedgerRule"/>
          <p:cNvSpPr/>
          <p:nvPr/>
        </p:nvSpPr>
        <p:spPr>
          <a:xfrm>
            <a:off x="502920" y="4788767"/>
            <a:ext cx="6900000" cy="952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6" name="LedgerRule"/>
          <p:cNvSpPr/>
          <p:nvPr/>
        </p:nvSpPr>
        <p:spPr>
          <a:xfrm>
            <a:off x="502920" y="4788767"/>
            <a:ext cx="6900000" cy="12700"/>
          </a:xfrm>
          <a:prstGeom prst="rect">
            <a:avLst/>
          </a:prstGeom>
          <a:solidFill>
            <a:srgbClr val="BFD5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LedgerRow"/>
          <p:cNvSpPr txBox="1"/>
          <p:nvPr/>
        </p:nvSpPr>
        <p:spPr>
          <a:xfrm>
            <a:off x="502920" y="483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 campaign value after media</a:t>
            </a:r>
          </a:p>
        </p:txBody>
      </p:sp>
      <p:sp>
        <p:nvSpPr>
          <p:cNvPr id="318" name="LedgerVal"/>
          <p:cNvSpPr txBox="1"/>
          <p:nvPr/>
        </p:nvSpPr>
        <p:spPr>
          <a:xfrm>
            <a:off x="5502920" y="483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+$34.5K</a:t>
            </a:r>
          </a:p>
        </p:txBody>
      </p:sp>
      <p:sp>
        <p:nvSpPr>
          <p:cNvPr id="319" name="LedgerRule"/>
          <p:cNvSpPr/>
          <p:nvPr/>
        </p:nvSpPr>
        <p:spPr>
          <a:xfrm>
            <a:off x="502920" y="5308767"/>
            <a:ext cx="6900000" cy="12700"/>
          </a:xfrm>
          <a:prstGeom prst="rect">
            <a:avLst/>
          </a:prstGeom>
          <a:solidFill>
            <a:srgbClr val="BFD5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LedgerRow"/>
          <p:cNvSpPr txBox="1"/>
          <p:nvPr/>
        </p:nvSpPr>
        <p:spPr>
          <a:xfrm>
            <a:off x="502920" y="5353767"/>
            <a:ext cx="50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Contribution margin (CM3) at 60% gross margin</a:t>
            </a:r>
          </a:p>
        </p:txBody>
      </p:sp>
      <p:sp>
        <p:nvSpPr>
          <p:cNvPr id="321" name="LedgerVal"/>
          <p:cNvSpPr txBox="1"/>
          <p:nvPr/>
        </p:nvSpPr>
        <p:spPr>
          <a:xfrm>
            <a:off x="5502920" y="5353767"/>
            <a:ext cx="1900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+$3.5K</a:t>
            </a:r>
          </a:p>
        </p:txBody>
      </p:sp>
      <p:sp>
        <p:nvSpPr>
          <p:cNvPr id="3" name="LedgerRule">
            <a:extLst>
              <a:ext uri="{FF2B5EF4-FFF2-40B4-BE49-F238E27FC236}">
                <a16:creationId xmlns:a16="http://schemas.microsoft.com/office/drawing/2014/main" id="{63A022E8-737A-7E41-A354-81EAA801B62D}"/>
              </a:ext>
            </a:extLst>
          </p:cNvPr>
          <p:cNvSpPr/>
          <p:nvPr/>
        </p:nvSpPr>
        <p:spPr>
          <a:xfrm>
            <a:off x="502919" y="3227412"/>
            <a:ext cx="6900000" cy="95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Google Shape;275;p10">
            <a:extLst>
              <a:ext uri="{FF2B5EF4-FFF2-40B4-BE49-F238E27FC236}">
                <a16:creationId xmlns:a16="http://schemas.microsoft.com/office/drawing/2014/main" id="{72EEB1D0-D830-97D1-9168-9089053FDC56}"/>
              </a:ext>
            </a:extLst>
          </p:cNvPr>
          <p:cNvSpPr txBox="1"/>
          <p:nvPr/>
        </p:nvSpPr>
        <p:spPr>
          <a:xfrm>
            <a:off x="4727692" y="2840394"/>
            <a:ext cx="1156274" cy="253875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Primary Concern</a:t>
            </a:r>
            <a:endParaRPr sz="105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CE79D2-B176-2533-17F0-A91C931DD8CF}"/>
              </a:ext>
            </a:extLst>
          </p:cNvPr>
          <p:cNvCxnSpPr>
            <a:stCxn id="5" idx="3"/>
          </p:cNvCxnSpPr>
          <p:nvPr/>
        </p:nvCxnSpPr>
        <p:spPr>
          <a:xfrm>
            <a:off x="5883966" y="2967332"/>
            <a:ext cx="728869" cy="14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Google Shape;275;p10">
            <a:extLst>
              <a:ext uri="{FF2B5EF4-FFF2-40B4-BE49-F238E27FC236}">
                <a16:creationId xmlns:a16="http://schemas.microsoft.com/office/drawing/2014/main" id="{51FF3FA0-4DAD-AB13-3C8A-6B45B09847B2}"/>
              </a:ext>
            </a:extLst>
          </p:cNvPr>
          <p:cNvSpPr txBox="1"/>
          <p:nvPr/>
        </p:nvSpPr>
        <p:spPr>
          <a:xfrm>
            <a:off x="4727692" y="4394659"/>
            <a:ext cx="1156274" cy="253875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Persistent Effect</a:t>
            </a:r>
            <a:endParaRPr sz="105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980D8C-4497-F15D-6170-940861314810}"/>
              </a:ext>
            </a:extLst>
          </p:cNvPr>
          <p:cNvCxnSpPr>
            <a:stCxn id="10" idx="3"/>
          </p:cNvCxnSpPr>
          <p:nvPr/>
        </p:nvCxnSpPr>
        <p:spPr>
          <a:xfrm>
            <a:off x="5883966" y="4521597"/>
            <a:ext cx="728869" cy="14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6" descr="The image displays a chart comparing campaign-period unit changes to an expected baseline, showing a +2% increase, -15% decrease, and -26% decrease, with categories labeled as Ultra Glide, Sense Ride, and Speedcross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88609"/>
            <a:ext cx="7214614" cy="42806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gendaCard">
            <a:extLst>
              <a:ext uri="{FF2B5EF4-FFF2-40B4-BE49-F238E27FC236}">
                <a16:creationId xmlns:a16="http://schemas.microsoft.com/office/drawing/2014/main" id="{D88BC433-E84E-7B24-F94F-8A1F761269E4}"/>
              </a:ext>
            </a:extLst>
          </p:cNvPr>
          <p:cNvSpPr/>
          <p:nvPr/>
        </p:nvSpPr>
        <p:spPr>
          <a:xfrm flipV="1">
            <a:off x="6981636" y="1704533"/>
            <a:ext cx="4448364" cy="2747591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CANNIBALIZATION BREAKDOWN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19–32% of Vestal Pro units shifted from existing shoes; exceeding </a:t>
            </a:r>
            <a:r>
              <a:rPr lang="en-US" sz="2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10% threshold.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 · Unit baselines per franchise; range reflects baseline forecast uncertainty</a:t>
            </a:r>
            <a:endParaRPr sz="800" b="0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dirty="0"/>
          </a:p>
        </p:txBody>
      </p:sp>
      <p:pic>
        <p:nvPicPr>
          <p:cNvPr id="208" name="Google Shape;208;p6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7086600" y="1430213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OVERALL CANNIBALIZATION ESTIMATE</a:t>
            </a:r>
            <a:endParaRPr dirty="0"/>
          </a:p>
        </p:txBody>
      </p:sp>
      <p:sp>
        <p:nvSpPr>
          <p:cNvPr id="211" name="Google Shape;211;p6"/>
          <p:cNvSpPr txBox="1"/>
          <p:nvPr/>
        </p:nvSpPr>
        <p:spPr>
          <a:xfrm>
            <a:off x="7086600" y="1840512"/>
            <a:ext cx="4572000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DA291C"/>
                </a:solidFill>
                <a:latin typeface="Arial"/>
                <a:ea typeface="Arial"/>
                <a:cs typeface="Arial"/>
                <a:sym typeface="Arial"/>
              </a:rPr>
              <a:t>19–32%</a:t>
            </a:r>
            <a:endParaRPr sz="130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Goal &lt; 10% · </a:t>
            </a:r>
            <a:r>
              <a:rPr lang="en-US" sz="1150" b="1" i="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 sz="1150" b="0" i="0" dirty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8737707" y="1930997"/>
            <a:ext cx="22808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 Vestal Pro units cannibalized existing portfolio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086600" y="2863959"/>
            <a:ext cx="4572000" cy="1401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$30.5K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of existing-shoe revenue was displaced</a:t>
            </a: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Sales shift is concentrated where product positioning overlaps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The launch remains net positive: +$69.3K in additional footwear revenue after the shift.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150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Speedcross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displacement is insignificant.</a:t>
            </a:r>
            <a:endParaRPr dirty="0"/>
          </a:p>
        </p:txBody>
      </p:sp>
      <p:sp>
        <p:nvSpPr>
          <p:cNvPr id="214" name="Google Shape;214;p6"/>
          <p:cNvSpPr txBox="1"/>
          <p:nvPr/>
        </p:nvSpPr>
        <p:spPr>
          <a:xfrm>
            <a:off x="6981636" y="4724083"/>
            <a:ext cx="4448364" cy="38308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100" b="1" dirty="0">
                <a:solidFill>
                  <a:schemeClr val="accent1"/>
                </a:solidFill>
                <a:ea typeface="Arial"/>
                <a:cs typeface="Arial"/>
              </a:rPr>
              <a:t>MANAGE</a:t>
            </a:r>
            <a:r>
              <a:rPr lang="en-US" sz="1100" b="1" i="1" dirty="0">
                <a:solidFill>
                  <a:schemeClr val="dk1"/>
                </a:solidFill>
              </a:rPr>
              <a:t> </a:t>
            </a:r>
            <a:r>
              <a:rPr lang="en-US" sz="11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franchise shift with merchandising that reduces head-to-head substitution. </a:t>
            </a:r>
            <a:endParaRPr sz="11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Card">
            <a:extLst>
              <a:ext uri="{FF2B5EF4-FFF2-40B4-BE49-F238E27FC236}">
                <a16:creationId xmlns:a16="http://schemas.microsoft.com/office/drawing/2014/main" id="{231B5DCB-9413-E443-717C-420A786C3E0B}"/>
              </a:ext>
            </a:extLst>
          </p:cNvPr>
          <p:cNvSpPr/>
          <p:nvPr/>
        </p:nvSpPr>
        <p:spPr>
          <a:xfrm flipV="1">
            <a:off x="6885556" y="1331704"/>
            <a:ext cx="4818764" cy="4304968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0" name="Google Shape;2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308688"/>
            <a:ext cx="6832397" cy="40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HALO EFFECT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Adjacent categories lifted 20% driven by larger Vestal Pro carts</a:t>
            </a:r>
            <a:endParaRPr sz="2300" b="0" i="0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7139759" y="160212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ATTACH RATE TO VESTAL PRO ORDERS</a:t>
            </a:r>
            <a:endParaRPr dirty="0"/>
          </a:p>
        </p:txBody>
      </p:sp>
      <p:sp>
        <p:nvSpPr>
          <p:cNvPr id="254" name="Google Shape;254;p9"/>
          <p:cNvSpPr txBox="1"/>
          <p:nvPr/>
        </p:nvSpPr>
        <p:spPr>
          <a:xfrm>
            <a:off x="7139759" y="1998887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lang="en-US" sz="34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.6%</a:t>
            </a:r>
            <a:r>
              <a:rPr lang="en-US" sz="13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+4.1ppts vs 17.5% historical average</a:t>
            </a:r>
            <a:endParaRPr dirty="0"/>
          </a:p>
        </p:txBody>
      </p:sp>
      <p:sp>
        <p:nvSpPr>
          <p:cNvPr id="255" name="Google Shape;255;p9"/>
          <p:cNvSpPr txBox="1"/>
          <p:nvPr/>
        </p:nvSpPr>
        <p:spPr>
          <a:xfrm>
            <a:off x="7133032" y="3405028"/>
            <a:ext cx="4572000" cy="99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Halo effect realized through larger Vestal Pro carts. </a:t>
            </a: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Accessories led (+26.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%); apparel followed (+17.4%). All adjacent categories combined lifted 20.3%</a:t>
            </a: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15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 · Baseline: pre-period trend + weekly seasonality per category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dirty="0"/>
          </a:p>
        </p:txBody>
      </p:sp>
      <p:pic>
        <p:nvPicPr>
          <p:cNvPr id="258" name="Google Shape;258;p9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7228081" y="4443393"/>
            <a:ext cx="4117918" cy="9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PDP bundles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and enhanced item-item recommendation systems to support ancillary products.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&amp; CRM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messaging to Vestal Pro customers supporting follow-up products.</a:t>
            </a:r>
            <a:endParaRPr dirty="0"/>
          </a:p>
        </p:txBody>
      </p:sp>
      <p:sp>
        <p:nvSpPr>
          <p:cNvPr id="260" name="Google Shape;260;p9"/>
          <p:cNvSpPr txBox="1"/>
          <p:nvPr/>
        </p:nvSpPr>
        <p:spPr>
          <a:xfrm>
            <a:off x="7132320" y="2592554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$8.2K</a:t>
            </a:r>
            <a:r>
              <a:rPr lang="en-US" sz="13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3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of incremental halo revenue</a:t>
            </a:r>
            <a:endParaRPr sz="1300" b="0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7" descr="The image displays a pie chart indicating that 25% of Vestal Pro buyers choose to pass, with new Salomon products being more popular at 268 and existing products at 399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408656"/>
            <a:ext cx="4313947" cy="38055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gendaCard">
            <a:extLst>
              <a:ext uri="{FF2B5EF4-FFF2-40B4-BE49-F238E27FC236}">
                <a16:creationId xmlns:a16="http://schemas.microsoft.com/office/drawing/2014/main" id="{0F8E16F7-83B1-6A58-BA41-71D5BBE94705}"/>
              </a:ext>
            </a:extLst>
          </p:cNvPr>
          <p:cNvSpPr/>
          <p:nvPr/>
        </p:nvSpPr>
        <p:spPr>
          <a:xfrm flipV="1">
            <a:off x="4172175" y="1300170"/>
            <a:ext cx="3050260" cy="4332003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CUSTOMER ACQUISITION AND LTV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40% of Vestal Pro buyers were new to Salomon</a:t>
            </a:r>
            <a:r>
              <a:rPr lang="en-US" sz="2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 A</a:t>
            </a: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cquired at half early value.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4343400" y="1481328"/>
            <a:ext cx="347472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ACQUISITION METRICS</a:t>
            </a:r>
            <a:endParaRPr sz="100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343400" y="1847088"/>
            <a:ext cx="3474720" cy="51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$102   </a:t>
            </a:r>
            <a:r>
              <a:rPr lang="en-US" sz="12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Blended CAC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$74.6K paid spend ÷ 730 new customers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4343400" y="2834640"/>
            <a:ext cx="3474720" cy="51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$129   </a:t>
            </a:r>
            <a:r>
              <a:rPr lang="en-US" sz="12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First-order 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average first basket, new customers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4343400" y="3822191"/>
            <a:ext cx="3474720" cy="51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$188   </a:t>
            </a:r>
            <a:r>
              <a:rPr lang="en-US" sz="12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Early customer value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revenue through July 20 · 1.8× CAC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4343400" y="4809744"/>
            <a:ext cx="3474720" cy="51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28.1</a:t>
            </a:r>
            <a:r>
              <a:rPr lang="en-US" sz="21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   </a:t>
            </a:r>
            <a:r>
              <a:rPr lang="en-US" sz="12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Post-period repeat rate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repurchased within 4 weeks of initial purchase</a:t>
            </a:r>
            <a:endParaRPr sz="1050" b="0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8183879" y="5074920"/>
            <a:ext cx="3520440" cy="65024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1,361 email and 678 SMS adds during campaign.</a:t>
            </a:r>
            <a:endParaRPr sz="1050" b="0" i="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New Vestal Pro buyers opt in at 72% email / 40% SMS, vs 51% / 24% for existing buyers.</a:t>
            </a:r>
            <a:endParaRPr sz="1050" b="0" i="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1299466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dirty="0"/>
          </a:p>
        </p:txBody>
      </p:sp>
      <p:pic>
        <p:nvPicPr>
          <p:cNvPr id="229" name="Google Shape;229;p7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 descr="The diagram illustrates an increasing trend in daily database additions, with percentages rising from +35% to +37% and a significant increase in email activity, contrasted with a smaller growth in SMS engagement.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4277" y="1481327"/>
            <a:ext cx="4530844" cy="3497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Card">
            <a:extLst>
              <a:ext uri="{FF2B5EF4-FFF2-40B4-BE49-F238E27FC236}">
                <a16:creationId xmlns:a16="http://schemas.microsoft.com/office/drawing/2014/main" id="{410E13D1-2595-6B64-1016-7E7600EEF02C}"/>
              </a:ext>
            </a:extLst>
          </p:cNvPr>
          <p:cNvSpPr/>
          <p:nvPr/>
        </p:nvSpPr>
        <p:spPr>
          <a:xfrm flipV="1">
            <a:off x="7767023" y="1834764"/>
            <a:ext cx="3782340" cy="2951677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CUSTOMER ACQUISITION AND LTV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Projected 24-month value of ~$387 per new customer; 3.8× acquisition cost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dirty="0"/>
          </a:p>
        </p:txBody>
      </p:sp>
      <p:pic>
        <p:nvPicPr>
          <p:cNvPr id="240" name="Google Shape;240;p8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8" descr="The diagram illustrates the projected and actual customer lifetime values, including the first order, blended customer acquisition cost (CAC), and the cumulative value per customer over time.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19" y="1834765"/>
            <a:ext cx="6484213" cy="4023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8"/>
          <p:cNvCxnSpPr/>
          <p:nvPr/>
        </p:nvCxnSpPr>
        <p:spPr>
          <a:xfrm>
            <a:off x="5877289" y="2135926"/>
            <a:ext cx="0" cy="425789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8"/>
          <p:cNvSpPr txBox="1"/>
          <p:nvPr/>
        </p:nvSpPr>
        <p:spPr>
          <a:xfrm>
            <a:off x="5065149" y="1916665"/>
            <a:ext cx="177993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Prior CLV cohort analysis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7909069" y="2444115"/>
            <a:ext cx="358951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2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LTV Forecast of $387/customer </a:t>
            </a: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at 24 months (3.8x CAC) based on prior CLV cohort analysis.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2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Value is front-loaded: </a:t>
            </a: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We will see most of the LTV within the first 12 months (Roughly 86% accrues within the first year).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• Currently </a:t>
            </a:r>
            <a:r>
              <a:rPr lang="en-US" sz="12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outperforming </a:t>
            </a:r>
            <a:r>
              <a:rPr lang="en-US" sz="12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LTV forecast at $188 after 4 weeks (1.8x CAC)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7909069" y="2016692"/>
            <a:ext cx="539496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LIFETIME VALUE FORECAST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The image displays a bar chart comparing the incremental Return on Advertising Spend (ROAS) across different marketing channels, with Email being the most effective at 8.7x ROAS and SMS at 3.2x ROAS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139" y="1456092"/>
            <a:ext cx="6061845" cy="361544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CHANNEL PERFORMANCE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502920" y="572944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All channels cleared breakeven except for paid social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2151159" y="4890790"/>
            <a:ext cx="7904922" cy="13027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CRM: 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Efficient activation of an existing low-funnel audience. High-intent buyers inflate the metric.</a:t>
            </a: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Paid social</a:t>
            </a:r>
            <a:r>
              <a:rPr lang="en-US" sz="1150" b="1" dirty="0">
                <a:solidFill>
                  <a:srgbClr val="333333"/>
                </a:solidFill>
              </a:rPr>
              <a:t> </a:t>
            </a:r>
            <a:r>
              <a:rPr lang="en-US" sz="1150" dirty="0">
                <a:solidFill>
                  <a:srgbClr val="333333"/>
                </a:solidFill>
              </a:rPr>
              <a:t>a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cquired 297 of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730 </a:t>
            </a:r>
            <a:r>
              <a:rPr lang="en-US" sz="1150" b="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new customers (41%) at $151 CAC vs $188 early value. W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ill pay back via LTV.</a:t>
            </a: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Paid search: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Second largest acquisition source.</a:t>
            </a:r>
            <a:r>
              <a:rPr lang="en-US" sz="115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Efficiency dropped through campaign as size curves broke. 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Affiliate: </a:t>
            </a:r>
            <a:r>
              <a:rPr lang="en-US" sz="1150" dirty="0">
                <a:solidFill>
                  <a:srgbClr val="333333"/>
                </a:solidFill>
              </a:rPr>
              <a:t>L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owest CAC at $82. Small share but positive. </a:t>
            </a: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 SCALING</a:t>
            </a:r>
            <a:endParaRPr sz="115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271" name="Google Shape;271;p10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dirty="0"/>
          </a:p>
        </p:txBody>
      </p:sp>
      <p:pic>
        <p:nvPicPr>
          <p:cNvPr id="272" name="Google Shape;272;p10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3" name="Channel breakdown table"/>
          <p:cNvGraphicFramePr/>
          <p:nvPr>
            <p:extLst>
              <p:ext uri="{D42A27DB-BD31-4B8C-83A1-F6EECF244321}">
                <p14:modId xmlns:p14="http://schemas.microsoft.com/office/powerpoint/2010/main" val="3497415799"/>
              </p:ext>
            </p:extLst>
          </p:nvPr>
        </p:nvGraphicFramePr>
        <p:xfrm>
          <a:off x="5844746" y="2220235"/>
          <a:ext cx="6000920" cy="1910028"/>
        </p:xfrm>
        <a:graphic>
          <a:graphicData uri="http://schemas.openxmlformats.org/drawingml/2006/table">
            <a:tbl>
              <a:tblPr firstRow="1"/>
              <a:tblGrid>
                <a:gridCol w="94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6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69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4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450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Channel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 of spend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Attributed revenue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 of attributed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ROAS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Est.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iROAS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New customers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CAC (new)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0057B8"/>
                      </a:solidFill>
                    </a:lnL>
                    <a:lnR w="6350">
                      <a:solidFill>
                        <a:srgbClr val="0057B8"/>
                      </a:solidFill>
                    </a:lnR>
                    <a:lnT w="6350">
                      <a:solidFill>
                        <a:srgbClr val="0057B8"/>
                      </a:solidFill>
                    </a:lnT>
                    <a:lnB w="6350">
                      <a:solidFill>
                        <a:srgbClr val="0057B8"/>
                      </a:solidFill>
                    </a:lnB>
                    <a:solidFill>
                      <a:srgbClr val="0057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Paid Social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$44,969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60%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$44,247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19%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1.0×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D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0.3×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D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297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$151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 cap="flat" cmpd="sng" algn="ctr">
                      <a:solidFill>
                        <a:srgbClr val="005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Paid Search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$18,849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$58,008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3.1×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1.0×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175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$108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Affiliate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$4,991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7%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$20,771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4.2×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1.4×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61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$82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Email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$3,255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$83,945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36%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25.8×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8.7×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39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$83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SMS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$2,490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$24,017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10%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9.6×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3.2×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$124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Total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$74,554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$230,988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3.1×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1.0×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592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$126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BF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4" name="Google Shape;274;p10"/>
          <p:cNvCxnSpPr>
            <a:cxnSpLocks/>
            <a:stCxn id="275" idx="2"/>
          </p:cNvCxnSpPr>
          <p:nvPr/>
        </p:nvCxnSpPr>
        <p:spPr>
          <a:xfrm flipH="1">
            <a:off x="10416746" y="1833745"/>
            <a:ext cx="80807" cy="386490"/>
          </a:xfrm>
          <a:prstGeom prst="straightConnector1">
            <a:avLst/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10"/>
          <p:cNvSpPr txBox="1"/>
          <p:nvPr/>
        </p:nvSpPr>
        <p:spPr>
          <a:xfrm>
            <a:off x="9745579" y="1418247"/>
            <a:ext cx="1503948" cy="415498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ROAS </a:t>
            </a:r>
            <a:r>
              <a:rPr lang="en-US" sz="10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× Incremental Revenue Factor of .34</a:t>
            </a:r>
            <a:endParaRPr sz="10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1" descr="The image displays a comparison of branded and non-brand search impressions over a period of time, showing that branded searches have a higher click-through rate (CTR) than non-branded searches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080479"/>
            <a:ext cx="10385659" cy="37649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gendaCard">
            <a:extLst>
              <a:ext uri="{FF2B5EF4-FFF2-40B4-BE49-F238E27FC236}">
                <a16:creationId xmlns:a16="http://schemas.microsoft.com/office/drawing/2014/main" id="{AC459A38-F191-6D3C-2CA0-38F270AECD79}"/>
              </a:ext>
            </a:extLst>
          </p:cNvPr>
          <p:cNvSpPr/>
          <p:nvPr/>
        </p:nvSpPr>
        <p:spPr>
          <a:xfrm flipV="1">
            <a:off x="988188" y="4903574"/>
            <a:ext cx="2530935" cy="1302767"/>
          </a:xfrm>
          <a:prstGeom prst="roundRect">
            <a:avLst>
              <a:gd name="adj" fmla="val 14000"/>
            </a:avLst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502920" y="560683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Campaign investment supports persisten</a:t>
            </a:r>
            <a:r>
              <a:rPr lang="en-US" sz="23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 brand awareness and recognition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4224497" y="4903575"/>
            <a:ext cx="6265628" cy="13027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Paid Media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during campaign supports lasting brand awareness impact.</a:t>
            </a:r>
            <a:endParaRPr sz="1150" b="1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Brand impressions and clicks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+20% during campaign and persist after the campaign. 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Non-brand search</a:t>
            </a:r>
            <a:r>
              <a:rPr lang="en-US" sz="1150" b="1" dirty="0">
                <a:solidFill>
                  <a:srgbClr val="333333"/>
                </a:solidFill>
              </a:rPr>
              <a:t> </a:t>
            </a:r>
            <a:r>
              <a:rPr lang="en-US" sz="1150" dirty="0">
                <a:solidFill>
                  <a:srgbClr val="333333"/>
                </a:solidFill>
              </a:rPr>
              <a:t>represents market and seasonal trends. 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Brand Clicks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lifted in-line with impressions. Impression quality did not deteriorate. </a:t>
            </a:r>
            <a:endParaRPr dirty="0"/>
          </a:p>
        </p:txBody>
      </p:sp>
      <p:sp>
        <p:nvSpPr>
          <p:cNvPr id="283" name="Google Shape;283;p11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 sz="800" b="0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dirty="0"/>
          </a:p>
        </p:txBody>
      </p:sp>
      <p:pic>
        <p:nvPicPr>
          <p:cNvPr id="285" name="Google Shape;285;p11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1164788" y="5001451"/>
            <a:ext cx="96493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lang="en-US" sz="340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300" b="0" i="0" dirty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1970301" y="5052654"/>
            <a:ext cx="15488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lift in branded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search impressions.</a:t>
            </a:r>
            <a:endParaRPr sz="12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1970301" y="5597846"/>
            <a:ext cx="13688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Impression quality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measured by CTR</a:t>
            </a:r>
            <a:endParaRPr dirty="0"/>
          </a:p>
        </p:txBody>
      </p:sp>
      <p:cxnSp>
        <p:nvCxnSpPr>
          <p:cNvPr id="290" name="Google Shape;290;p11"/>
          <p:cNvCxnSpPr/>
          <p:nvPr/>
        </p:nvCxnSpPr>
        <p:spPr>
          <a:xfrm>
            <a:off x="7259853" y="1697695"/>
            <a:ext cx="97458" cy="425879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11"/>
          <p:cNvSpPr txBox="1"/>
          <p:nvPr/>
        </p:nvSpPr>
        <p:spPr>
          <a:xfrm>
            <a:off x="7080584" y="1395728"/>
            <a:ext cx="1233235" cy="33855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Lag due to 7day MA and paid media ramp</a:t>
            </a:r>
            <a:endParaRPr/>
          </a:p>
        </p:txBody>
      </p:sp>
      <p:cxnSp>
        <p:nvCxnSpPr>
          <p:cNvPr id="292" name="Google Shape;292;p11"/>
          <p:cNvCxnSpPr/>
          <p:nvPr/>
        </p:nvCxnSpPr>
        <p:spPr>
          <a:xfrm flipH="1">
            <a:off x="8840802" y="1597142"/>
            <a:ext cx="291166" cy="32830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3" name="Google Shape;293;p11"/>
          <p:cNvSpPr txBox="1"/>
          <p:nvPr/>
        </p:nvSpPr>
        <p:spPr>
          <a:xfrm>
            <a:off x="8672762" y="1367373"/>
            <a:ext cx="918411" cy="33855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Persistence brand lift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1164788" y="5691724"/>
            <a:ext cx="96493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STABLE</a:t>
            </a:r>
            <a:endParaRPr sz="1700" b="0" i="0" dirty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2" descr="The image displays a line graph illustrating the trend in conversion rates for a campaign ending on June 20, with a notable gap in conversion after the third week, and the number of views per day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646" y="1335506"/>
            <a:ext cx="6765620" cy="40738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gendaCard">
            <a:extLst>
              <a:ext uri="{FF2B5EF4-FFF2-40B4-BE49-F238E27FC236}">
                <a16:creationId xmlns:a16="http://schemas.microsoft.com/office/drawing/2014/main" id="{C4398C81-9A50-02B7-E141-7D570C4D6462}"/>
              </a:ext>
            </a:extLst>
          </p:cNvPr>
          <p:cNvSpPr/>
          <p:nvPr/>
        </p:nvSpPr>
        <p:spPr>
          <a:xfrm flipV="1">
            <a:off x="6839840" y="1654981"/>
            <a:ext cx="4864472" cy="2976753"/>
          </a:xfrm>
          <a:prstGeom prst="roundRect">
            <a:avLst>
              <a:gd name="adj" fmla="val 14000"/>
            </a:avLst>
          </a:prstGeom>
          <a:solidFill>
            <a:srgbClr val="F5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Google Shape;301;p12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INVENTORY AND SALES PLANNING</a:t>
            </a:r>
            <a:endParaRPr sz="1050" b="1" i="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502920" y="562478"/>
            <a:ext cx="112014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Broken size curves from week 4 cost an estimated $16.2K in demand</a:t>
            </a:r>
            <a:endParaRPr sz="2300" b="0" i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7011566" y="2241529"/>
            <a:ext cx="4692754" cy="2390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Inventory (not demand)</a:t>
            </a:r>
            <a:r>
              <a:rPr lang="en-US" sz="1150" i="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constrained campaign and demand capture. </a:t>
            </a:r>
            <a:endParaRPr dirty="0"/>
          </a:p>
          <a:p>
            <a:pPr lvl="0">
              <a:lnSpc>
                <a:spcPct val="112000"/>
              </a:lnSpc>
              <a:spcBef>
                <a:spcPts val="1000"/>
              </a:spcBef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Conversion rate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depressed from 4.6% → 3% </a:t>
            </a:r>
            <a:r>
              <a:rPr lang="en-US" sz="1150" dirty="0">
                <a:solidFill>
                  <a:srgbClr val="333333"/>
                </a:solidFill>
              </a:rPr>
              <a:t>as core sizes fell below 90% threshold by week 3.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Unmet Demand: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112 units / ~$16.2K value</a:t>
            </a:r>
            <a:r>
              <a:rPr lang="en-US" sz="1150" dirty="0">
                <a:solidFill>
                  <a:srgbClr val="333333"/>
                </a:solidFill>
              </a:rPr>
              <a:t>. </a:t>
            </a:r>
            <a:endParaRPr dirty="0"/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No substitution offset 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 counteract lost Vestal Pro sales. </a:t>
            </a:r>
            <a:endParaRPr sz="115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OPPORTUNITY: </a:t>
            </a:r>
            <a:endParaRPr dirty="0"/>
          </a:p>
          <a:p>
            <a:pPr lvl="0">
              <a:spcBef>
                <a:spcPts val="1000"/>
              </a:spcBef>
            </a:pP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1.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WOS purchasing plan on core sizes to create sales buffer.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2. Tie inventory indicators to purchasing and paid media.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0" i="0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11292840" y="6510528"/>
            <a:ext cx="411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dirty="0"/>
          </a:p>
        </p:txBody>
      </p:sp>
      <p:pic>
        <p:nvPicPr>
          <p:cNvPr id="306" name="Google Shape;306;p12" descr="salomon_wordmark_bla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12"/>
          <p:cNvCxnSpPr/>
          <p:nvPr/>
        </p:nvCxnSpPr>
        <p:spPr>
          <a:xfrm rot="10800000">
            <a:off x="2314873" y="5322824"/>
            <a:ext cx="362153" cy="437341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8" name="Google Shape;308;p12"/>
          <p:cNvSpPr txBox="1"/>
          <p:nvPr/>
        </p:nvSpPr>
        <p:spPr>
          <a:xfrm>
            <a:off x="2352173" y="5635846"/>
            <a:ext cx="854243" cy="33855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Core Sizes = M9-11 &amp; W7-9</a:t>
            </a:r>
            <a:endParaRPr/>
          </a:p>
        </p:txBody>
      </p:sp>
      <p:cxnSp>
        <p:nvCxnSpPr>
          <p:cNvPr id="309" name="Google Shape;309;p12"/>
          <p:cNvCxnSpPr/>
          <p:nvPr/>
        </p:nvCxnSpPr>
        <p:spPr>
          <a:xfrm rot="10800000">
            <a:off x="669757" y="4932947"/>
            <a:ext cx="0" cy="657941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10" name="Google Shape;310;p12"/>
          <p:cNvSpPr txBox="1"/>
          <p:nvPr/>
        </p:nvSpPr>
        <p:spPr>
          <a:xfrm>
            <a:off x="344904" y="5466569"/>
            <a:ext cx="854243" cy="33855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June 1  Campaign Start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6908093" y="1828845"/>
            <a:ext cx="23249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DEMAND OUTLIVED SUPPLY</a:t>
            </a:r>
            <a:endParaRPr/>
          </a:p>
        </p:txBody>
      </p:sp>
      <p:cxnSp>
        <p:nvCxnSpPr>
          <p:cNvPr id="312" name="Google Shape;312;p12"/>
          <p:cNvCxnSpPr/>
          <p:nvPr/>
        </p:nvCxnSpPr>
        <p:spPr>
          <a:xfrm flipH="1">
            <a:off x="2958912" y="1882171"/>
            <a:ext cx="722945" cy="39958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13" name="Google Shape;313;p12"/>
          <p:cNvSpPr txBox="1"/>
          <p:nvPr/>
        </p:nvSpPr>
        <p:spPr>
          <a:xfrm>
            <a:off x="3621535" y="1611291"/>
            <a:ext cx="1136954" cy="338554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Traffic follows paid media divestment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0" y="610"/>
            <a:ext cx="12191695" cy="68640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822960" y="777240"/>
            <a:ext cx="10515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Changes for next launch</a:t>
            </a:r>
            <a:endParaRPr sz="2800" b="0" i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822960" y="1600200"/>
            <a:ext cx="502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dirty="0"/>
          </a:p>
        </p:txBody>
      </p:sp>
      <p:sp>
        <p:nvSpPr>
          <p:cNvPr id="322" name="Google Shape;322;p13"/>
          <p:cNvSpPr txBox="1"/>
          <p:nvPr/>
        </p:nvSpPr>
        <p:spPr>
          <a:xfrm>
            <a:off x="1402080" y="1652750"/>
            <a:ext cx="10256520" cy="23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 deeper on core sizes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 and replenish. Increase WOS purchasing plan on core sizes and trigger replenishment when ATS breaks threshold.</a:t>
            </a:r>
            <a:endParaRPr sz="1200" b="0" i="0" dirty="0">
              <a:solidFill>
                <a:srgbClr val="BFD5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822960" y="2386584"/>
            <a:ext cx="502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dirty="0"/>
          </a:p>
        </p:txBody>
      </p:sp>
      <p:sp>
        <p:nvSpPr>
          <p:cNvPr id="324" name="Google Shape;324;p13"/>
          <p:cNvSpPr txBox="1"/>
          <p:nvPr/>
        </p:nvSpPr>
        <p:spPr>
          <a:xfrm>
            <a:off x="1411304" y="2442615"/>
            <a:ext cx="10256520" cy="23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Gate and rebalance paid media.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 Tie spend to inventory signals. Throttle when core availability breaks.</a:t>
            </a:r>
            <a:endParaRPr sz="1200" b="0" i="0" dirty="0">
              <a:solidFill>
                <a:srgbClr val="BFD5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822960" y="3172968"/>
            <a:ext cx="502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/>
          </a:p>
        </p:txBody>
      </p:sp>
      <p:sp>
        <p:nvSpPr>
          <p:cNvPr id="326" name="Google Shape;326;p13"/>
          <p:cNvSpPr txBox="1"/>
          <p:nvPr/>
        </p:nvSpPr>
        <p:spPr>
          <a:xfrm>
            <a:off x="1411304" y="3218243"/>
            <a:ext cx="10247296" cy="23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Judge paid social on acquisition economics, not last-click revenue.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Set the CAC target pre-launch and add a day-90 LTV forecast.</a:t>
            </a:r>
            <a:endParaRPr sz="1200" b="0" i="0" dirty="0">
              <a:solidFill>
                <a:srgbClr val="BFD5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822960" y="3959352"/>
            <a:ext cx="502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/>
          </a:p>
        </p:txBody>
      </p:sp>
      <p:sp>
        <p:nvSpPr>
          <p:cNvPr id="328" name="Google Shape;328;p13"/>
          <p:cNvSpPr txBox="1"/>
          <p:nvPr/>
        </p:nvSpPr>
        <p:spPr>
          <a:xfrm>
            <a:off x="822960" y="4745736"/>
            <a:ext cx="502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 dirty="0"/>
          </a:p>
        </p:txBody>
      </p:sp>
      <p:sp>
        <p:nvSpPr>
          <p:cNvPr id="329" name="Google Shape;329;p13"/>
          <p:cNvSpPr txBox="1"/>
          <p:nvPr/>
        </p:nvSpPr>
        <p:spPr>
          <a:xfrm>
            <a:off x="1411304" y="4796427"/>
            <a:ext cx="10256520" cy="23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additional halo effects.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Double down on PDP bundles and item-item recommendations. Message buyers to push cross selling-products.</a:t>
            </a:r>
            <a:endParaRPr sz="1200" b="0" i="0" dirty="0">
              <a:solidFill>
                <a:srgbClr val="BFD5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822960" y="6510528"/>
            <a:ext cx="105156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Salomon NA eCommerce · Vestal Pro launch readout</a:t>
            </a:r>
            <a:endParaRPr/>
          </a:p>
        </p:txBody>
      </p:sp>
      <p:pic>
        <p:nvPicPr>
          <p:cNvPr id="331" name="Google Shape;331;p13" descr="salomon_wordmark_bl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8480" y="292608"/>
            <a:ext cx="960120" cy="11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3"/>
          <p:cNvSpPr txBox="1"/>
          <p:nvPr/>
        </p:nvSpPr>
        <p:spPr>
          <a:xfrm>
            <a:off x="1411304" y="4028548"/>
            <a:ext cx="10247296" cy="23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Cannibalization Management.</a:t>
            </a:r>
            <a:r>
              <a:rPr lang="en-US" sz="1200" b="1" i="0" dirty="0">
                <a:solidFill>
                  <a:srgbClr val="BFD5ED"/>
                </a:solidFill>
              </a:rPr>
              <a:t> </a:t>
            </a:r>
            <a:r>
              <a:rPr lang="en-US" sz="1200" dirty="0">
                <a:solidFill>
                  <a:srgbClr val="BFD5ED"/>
                </a:solidFill>
                <a:latin typeface="Arial"/>
                <a:ea typeface="Arial"/>
                <a:cs typeface="Arial"/>
                <a:sym typeface="Arial"/>
              </a:rPr>
              <a:t>Next launch, improve product positioning, communication, and audience separation against overlapping models. </a:t>
            </a:r>
            <a:endParaRPr sz="1200" b="0" i="0" dirty="0">
              <a:solidFill>
                <a:srgbClr val="BFD5E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822960" y="1965960"/>
            <a:ext cx="105156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MERCI</a:t>
            </a:r>
            <a:endParaRPr sz="4400" b="0" i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Marketing Insights &amp; Analytics</a:t>
            </a:r>
            <a:endParaRPr/>
          </a:p>
        </p:txBody>
      </p:sp>
      <p:pic>
        <p:nvPicPr>
          <p:cNvPr id="340" name="Google Shape;340;p14" descr="salomon_wordmar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900000"/>
            <a:ext cx="2560320" cy="29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4" descr="The image shows a steep, rocky mountain side under a cloudy sky.&#10;&#10;AI-generated content may be incorrect.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-64851" y="0"/>
            <a:ext cx="13452826" cy="795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APPENDIX</a:t>
            </a:r>
            <a:endParaRPr sz="4400" b="0" i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Marketing Insights &amp; Analytics</a:t>
            </a:r>
            <a:endParaRPr/>
          </a:p>
        </p:txBody>
      </p:sp>
      <p:pic>
        <p:nvPicPr>
          <p:cNvPr id="349" name="Google Shape;349;p15" descr="salomon_wordmar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900000"/>
            <a:ext cx="2560320" cy="29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EEECE1"/>
      </a:lt2>
      <a:accent1>
        <a:srgbClr val="DA291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2339</Words>
  <Application>Microsoft Office PowerPoint</Application>
  <PresentationFormat>Widescreen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Anderson, Edward Clifford (eca4zm)</dc:creator>
  <cp:lastModifiedBy>Anderson, Edward Clifford (eca4zm)</cp:lastModifiedBy>
  <cp:revision>18</cp:revision>
  <dcterms:created xsi:type="dcterms:W3CDTF">2013-01-27T09:14:16Z</dcterms:created>
  <dcterms:modified xsi:type="dcterms:W3CDTF">2026-07-20T02:27:55Z</dcterms:modified>
</cp:coreProperties>
</file>