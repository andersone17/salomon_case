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2_0.xml" ContentType="application/vnd.ms-powerpoint.comments+xml"/>
  <Override PartName="/ppt/comments/modernComment_101_0.xml" ContentType="application/vnd.ms-powerpoint.comments+xml"/>
  <Override PartName="/ppt/comments/modernComment_111_F9A21C54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60" r:id="rId5"/>
    <p:sldId id="270" r:id="rId6"/>
    <p:sldId id="263" r:id="rId7"/>
    <p:sldId id="262" r:id="rId8"/>
    <p:sldId id="273" r:id="rId9"/>
    <p:sldId id="264" r:id="rId10"/>
    <p:sldId id="265" r:id="rId11"/>
    <p:sldId id="274" r:id="rId12"/>
    <p:sldId id="267" r:id="rId13"/>
    <p:sldId id="268" r:id="rId14"/>
    <p:sldId id="272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CB7528-0317-1151-A7B7-34D5B6A94F6F}" name="Anderson, Edward Clifford (eca4zm)" initials="EA" userId="S::eca4zm@virginia.edu::8b27aeba-14ab-4313-9339-48da5a11e8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6" d="100"/>
          <a:sy n="106" d="100"/>
        </p:scale>
        <p:origin x="52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37015C-7D34-49FA-BAA9-B6942D33995A}" authorId="{F7CB7528-0317-1151-A7B7-34D5B6A94F6F}" created="2026-07-17T16:24:44.055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US"/>
          <a:t>Mention brand awareness on this slide?? 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32E033-8FC5-4A17-8ABC-1855FDCC5737}" authorId="{F7CB7528-0317-1151-A7B7-34D5B6A94F6F}" created="2026-07-18T22:30:59.564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Maybe too many words on this slide??</a:t>
        </a:r>
      </a:p>
    </p188:txBody>
  </p188:cm>
</p188:cmLst>
</file>

<file path=ppt/comments/modernComment_111_F9A21C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1D2F72-3A38-41AD-A3F8-C7F5E69541D1}" authorId="{F7CB7528-0317-1151-A7B7-34D5B6A94F6F}" created="2026-07-17T19:32:02.408">
    <pc:sldMkLst xmlns:pc="http://schemas.microsoft.com/office/powerpoint/2013/main/command">
      <pc:docMk/>
      <pc:sldMk cId="4188150868" sldId="273"/>
    </pc:sldMkLst>
    <p188:txBody>
      <a:bodyPr/>
      <a:lstStyle/>
      <a:p>
        <a:r>
          <a:rPr lang="en-US"/>
          <a:t>SLIDE NEEDS WORK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25129-58E4-4099-B0F9-A79165BFBD3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4B57B-4552-441A-AA75-72A3C605A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4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reality, we would want a more nuanced, geo and channel based estimate of incremental ROAS instead of a uniform application.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4B57B-4552-441A-AA75-72A3C605AD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51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Weeks run from the June 1 launch; weeks 4–7 are post-campaign (Jun 21–Jul 19). Core-size availability = share of core sizes (M9–11, W7–9) in stock, daily average. PDP conversion = Vestal Pro units ÷ PDP views, 7-day average. Unmet demand = campaign-period conversion (4.6%) applied to weeks 4–7 PDP traffic, less actual units, at the $145 average selling price. Illustrative synthetic case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4B57B-4552-441A-AA75-72A3C605AD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1_F9A21C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 dirty="0">
                <a:solidFill>
                  <a:srgbClr val="FFFFFF"/>
                </a:solidFill>
                <a:latin typeface="Georgia"/>
              </a:rPr>
              <a:t>Vestal Pro </a:t>
            </a:r>
            <a:r>
              <a:rPr lang="en-US" sz="4400" b="0" i="0" dirty="0">
                <a:solidFill>
                  <a:srgbClr val="FFFFFF"/>
                </a:solidFill>
                <a:latin typeface="Georgia"/>
              </a:rPr>
              <a:t>Shoe </a:t>
            </a:r>
            <a:r>
              <a:rPr sz="4400" b="0" i="0" dirty="0">
                <a:solidFill>
                  <a:srgbClr val="FFFFFF"/>
                </a:solidFill>
                <a:latin typeface="Georgia"/>
              </a:rPr>
              <a:t>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3E8EDE"/>
                </a:solidFill>
                <a:latin typeface="Georgia"/>
              </a:rPr>
              <a:t>Campaign Performance </a:t>
            </a:r>
            <a:r>
              <a:rPr lang="en-US" sz="2400" b="0" i="0" dirty="0">
                <a:solidFill>
                  <a:srgbClr val="3E8EDE"/>
                </a:solidFill>
                <a:latin typeface="Georgia"/>
              </a:rPr>
              <a:t>Report</a:t>
            </a:r>
            <a:endParaRPr sz="2400" b="0" i="0" dirty="0">
              <a:solidFill>
                <a:srgbClr val="3E8EDE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451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North America eCommerce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Active campaign: </a:t>
            </a:r>
            <a:r>
              <a:rPr lang="en-US" sz="1300" b="0" i="0" dirty="0">
                <a:solidFill>
                  <a:srgbClr val="FFFFFF"/>
                </a:solidFill>
                <a:latin typeface="Arial"/>
              </a:rPr>
              <a:t>June 1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– </a:t>
            </a:r>
            <a:r>
              <a:rPr lang="en-US" sz="1300" b="0" i="0" dirty="0">
                <a:solidFill>
                  <a:srgbClr val="FFFFFF"/>
                </a:solidFill>
                <a:latin typeface="Arial"/>
              </a:rPr>
              <a:t>June 20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, 202</a:t>
            </a:r>
            <a:r>
              <a:rPr lang="en-US" sz="1300" b="0" i="0" dirty="0">
                <a:solidFill>
                  <a:srgbClr val="FFFFFF"/>
                </a:solidFill>
                <a:latin typeface="Arial"/>
              </a:rPr>
              <a:t>6</a:t>
            </a:r>
            <a:endParaRPr sz="13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757575"/>
                </a:solidFill>
                <a:latin typeface="Arial"/>
              </a:rPr>
              <a:t>Marketing Insights &amp; Analytics  ·  </a:t>
            </a:r>
            <a:r>
              <a:rPr lang="en-US" sz="1000" b="0" i="0" dirty="0">
                <a:solidFill>
                  <a:srgbClr val="757575"/>
                </a:solidFill>
                <a:latin typeface="Arial"/>
              </a:rPr>
              <a:t>**</a:t>
            </a:r>
            <a:r>
              <a:rPr sz="1000" b="0" i="0" dirty="0">
                <a:solidFill>
                  <a:srgbClr val="757575"/>
                </a:solidFill>
                <a:latin typeface="Arial"/>
              </a:rPr>
              <a:t>synthetic case data</a:t>
            </a:r>
            <a:r>
              <a:rPr lang="en-US" sz="1000" b="0" i="0" dirty="0">
                <a:solidFill>
                  <a:srgbClr val="757575"/>
                </a:solidFill>
                <a:latin typeface="Arial"/>
              </a:rPr>
              <a:t>**</a:t>
            </a:r>
            <a:endParaRPr sz="1000" b="0" i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7" name="Picture 6" descr="salomon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00000"/>
            <a:ext cx="2560320" cy="293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768716-E813-22B1-DA55-7CCD827955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-531516"/>
            <a:ext cx="13527464" cy="9018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CAMPAIGN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dirty="0">
                <a:solidFill>
                  <a:srgbClr val="000000"/>
                </a:solidFill>
                <a:latin typeface="Georgia"/>
              </a:rPr>
              <a:t>20-day GTM campaign; success measured against campaign forecast.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4933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PRIMARY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Create incremental footwear revenue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Acquire new trail-running consumers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Establish Vestal Pro </a:t>
            </a:r>
            <a:r>
              <a:rPr lang="en-US" sz="1250" b="0" i="0" dirty="0">
                <a:solidFill>
                  <a:srgbClr val="333333"/>
                </a:solidFill>
                <a:latin typeface="Arial"/>
              </a:rPr>
              <a:t>as flagship Salomon ultra-running shoe</a:t>
            </a:r>
            <a:endParaRPr sz="12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SECONDARY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539496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Grow the email / SMS consumer database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Generate halo demand across adjacent trail categories</a:t>
            </a:r>
            <a:endParaRPr lang="en-US" sz="1250" b="0" i="0" dirty="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333333"/>
                </a:solidFill>
                <a:latin typeface="Arial"/>
              </a:rPr>
              <a:t>•  Increase Salomon brand awareness</a:t>
            </a:r>
            <a:endParaRPr sz="1250" b="0" i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Limit cannibalization of existing footwear franchises</a:t>
            </a:r>
            <a:endParaRPr lang="en-US" sz="12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94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126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Incremental revenue ≥ +10% vs no-campaign counterfactual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New customers ≥ 25% of Vestal Pro purchasers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Cannibalization &lt; </a:t>
            </a:r>
            <a:r>
              <a:rPr lang="en-US" sz="1250" dirty="0">
                <a:solidFill>
                  <a:srgbClr val="333333"/>
                </a:solidFill>
                <a:latin typeface="Arial"/>
              </a:rPr>
              <a:t>15</a:t>
            </a:r>
            <a:r>
              <a:rPr sz="1250" b="0" i="0" dirty="0">
                <a:solidFill>
                  <a:srgbClr val="333333"/>
                </a:solidFill>
                <a:latin typeface="Arial"/>
              </a:rPr>
              <a:t>% of Vestal Pro sales</a:t>
            </a:r>
          </a:p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333333"/>
                </a:solidFill>
                <a:latin typeface="Arial"/>
              </a:rPr>
              <a:t>•  Halo ≥ +5% lift across adjacent trail categories</a:t>
            </a:r>
            <a:endParaRPr lang="en-US" sz="1250" b="0" i="0" dirty="0">
              <a:solidFill>
                <a:srgbClr val="333333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333333"/>
                </a:solidFill>
                <a:latin typeface="Arial"/>
              </a:rPr>
              <a:t>•  Branded search ≥ 10% vs counterfactual baseline.</a:t>
            </a:r>
            <a:endParaRPr sz="12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MEASUREMENT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3630168" cy="12344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5047488"/>
            <a:ext cx="3246120" cy="782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 dirty="0">
                <a:solidFill>
                  <a:srgbClr val="000000"/>
                </a:solidFill>
                <a:latin typeface="Arial"/>
              </a:rPr>
              <a:t>PRE-CAMPAIGN BASELINE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b="0" i="0" dirty="0">
                <a:solidFill>
                  <a:srgbClr val="757575"/>
                </a:solidFill>
                <a:latin typeface="Arial"/>
              </a:rPr>
              <a:t>March 1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 – </a:t>
            </a:r>
            <a:r>
              <a:rPr lang="en-US" sz="1100" b="0" i="0" dirty="0">
                <a:solidFill>
                  <a:srgbClr val="757575"/>
                </a:solidFill>
                <a:latin typeface="Arial"/>
              </a:rPr>
              <a:t>May 31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 ·</a:t>
            </a:r>
            <a:r>
              <a:rPr lang="en-US" sz="1100" b="0" i="0" dirty="0">
                <a:solidFill>
                  <a:srgbClr val="757575"/>
                </a:solidFill>
                <a:latin typeface="Arial"/>
              </a:rPr>
              <a:t> 13 Weeks</a:t>
            </a:r>
            <a:endParaRPr sz="1100" b="0" i="0" dirty="0">
              <a:solidFill>
                <a:srgbClr val="757575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333333"/>
                </a:solidFill>
                <a:latin typeface="Arial"/>
              </a:rPr>
              <a:t>Status Quo </a:t>
            </a:r>
            <a:r>
              <a:rPr sz="1000" b="0" i="0" dirty="0">
                <a:solidFill>
                  <a:srgbClr val="333333"/>
                </a:solidFill>
                <a:latin typeface="Arial"/>
              </a:rPr>
              <a:t>demand, traffic, and channel patterns</a:t>
            </a:r>
            <a:r>
              <a:rPr lang="en-US" sz="1000" b="0" i="0" dirty="0">
                <a:solidFill>
                  <a:srgbClr val="333333"/>
                </a:solidFill>
                <a:latin typeface="Arial"/>
              </a:rPr>
              <a:t>. 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333333"/>
                </a:solidFill>
                <a:latin typeface="Arial"/>
              </a:rPr>
              <a:t>Minimal activations and no launches.</a:t>
            </a:r>
            <a:endParaRPr sz="100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4892040"/>
            <a:ext cx="3630168" cy="1234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5047488"/>
            <a:ext cx="3246120" cy="744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 dirty="0">
                <a:solidFill>
                  <a:srgbClr val="FFFFFF"/>
                </a:solidFill>
                <a:latin typeface="Arial"/>
              </a:rPr>
              <a:t>ACTIVE CAMPAIGN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b="0" i="0" dirty="0">
                <a:solidFill>
                  <a:srgbClr val="0057B8"/>
                </a:solidFill>
                <a:latin typeface="Arial"/>
              </a:rPr>
              <a:t>June 1</a:t>
            </a:r>
            <a:r>
              <a:rPr sz="1100" b="0" i="0" dirty="0">
                <a:solidFill>
                  <a:srgbClr val="0057B8"/>
                </a:solidFill>
                <a:latin typeface="Arial"/>
              </a:rPr>
              <a:t> – </a:t>
            </a:r>
            <a:r>
              <a:rPr lang="en-US" sz="1100" b="0" i="0" dirty="0">
                <a:solidFill>
                  <a:srgbClr val="0057B8"/>
                </a:solidFill>
                <a:latin typeface="Arial"/>
              </a:rPr>
              <a:t>June 20</a:t>
            </a:r>
            <a:r>
              <a:rPr sz="1100" b="0" i="0" dirty="0">
                <a:solidFill>
                  <a:srgbClr val="0057B8"/>
                </a:solidFill>
                <a:latin typeface="Arial"/>
              </a:rPr>
              <a:t> · </a:t>
            </a:r>
            <a:r>
              <a:rPr lang="en-US" sz="1100" dirty="0">
                <a:solidFill>
                  <a:srgbClr val="0057B8"/>
                </a:solidFill>
                <a:latin typeface="Arial"/>
              </a:rPr>
              <a:t>3 </a:t>
            </a:r>
            <a:r>
              <a:rPr sz="1100" b="0" i="0" dirty="0">
                <a:solidFill>
                  <a:srgbClr val="0057B8"/>
                </a:solidFill>
                <a:latin typeface="Arial"/>
              </a:rPr>
              <a:t>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FFFFFF"/>
                </a:solidFill>
                <a:latin typeface="Arial"/>
              </a:rPr>
              <a:t>GTM Strategy</a:t>
            </a:r>
            <a:r>
              <a:rPr lang="en-US" sz="1000" dirty="0">
                <a:solidFill>
                  <a:srgbClr val="FFFFFF"/>
                </a:solidFill>
                <a:latin typeface="Arial"/>
              </a:rPr>
              <a:t> supported by 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paid media, CRM, site merchandising</a:t>
            </a:r>
            <a:r>
              <a:rPr lang="en-US" sz="1000" b="0" i="0" dirty="0">
                <a:solidFill>
                  <a:srgbClr val="FFFFFF"/>
                </a:solidFill>
                <a:latin typeface="Arial"/>
              </a:rPr>
              <a:t>, and affiliate partners.</a:t>
            </a:r>
            <a:endParaRPr sz="10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9016" y="4892040"/>
            <a:ext cx="3630168" cy="12344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5047488"/>
            <a:ext cx="3246120" cy="744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 dirty="0">
                <a:solidFill>
                  <a:srgbClr val="000000"/>
                </a:solidFill>
                <a:latin typeface="Arial"/>
              </a:rPr>
              <a:t>POST-CAMPAIGN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dirty="0">
                <a:solidFill>
                  <a:srgbClr val="757575"/>
                </a:solidFill>
                <a:latin typeface="Arial"/>
              </a:rPr>
              <a:t>June 21 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– </a:t>
            </a:r>
            <a:r>
              <a:rPr lang="en-US" sz="1100" b="0" i="0" dirty="0">
                <a:solidFill>
                  <a:srgbClr val="757575"/>
                </a:solidFill>
                <a:latin typeface="Arial"/>
              </a:rPr>
              <a:t>July 20 </a:t>
            </a:r>
            <a:r>
              <a:rPr sz="1100" b="0" i="0" dirty="0">
                <a:solidFill>
                  <a:srgbClr val="757575"/>
                </a:solidFill>
                <a:latin typeface="Arial"/>
              </a:rPr>
              <a:t>· 4 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000" b="0" i="0" dirty="0">
                <a:solidFill>
                  <a:srgbClr val="333333"/>
                </a:solidFill>
                <a:latin typeface="Arial"/>
              </a:rPr>
              <a:t>Demand persistence</a:t>
            </a:r>
            <a:r>
              <a:rPr sz="1000" b="0" i="0" dirty="0">
                <a:solidFill>
                  <a:srgbClr val="333333"/>
                </a:solidFill>
                <a:latin typeface="Arial"/>
              </a:rPr>
              <a:t>, delayed returns, </a:t>
            </a:r>
            <a:r>
              <a:rPr lang="en-US" sz="1000" b="0" i="0" dirty="0">
                <a:solidFill>
                  <a:srgbClr val="333333"/>
                </a:solidFill>
                <a:latin typeface="Arial"/>
              </a:rPr>
              <a:t>CLV retention measurement.</a:t>
            </a:r>
            <a:endParaRPr sz="100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3</a:t>
            </a:r>
          </a:p>
        </p:txBody>
      </p:sp>
      <p:pic>
        <p:nvPicPr>
          <p:cNvPr id="19" name="Picture 18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Successful Launch; Monitor for continued cannibalization and shifting sales mix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INCREMENTAL FOOTWEAR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0057B8"/>
                </a:solidFill>
                <a:latin typeface="Arial"/>
              </a:rPr>
              <a:t>+33%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+$134.6K vs modeled no-campaign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12463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+10%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NEW-CUSTOMER SHARE, VESTAL PRO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57B8"/>
                </a:solidFill>
                <a:latin typeface="Arial"/>
              </a:rP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590 of 1,335 buyers new to Salomon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712463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25%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FRANCHISE CANNIBALIZATION, 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057B8"/>
                </a:solidFill>
                <a:latin typeface="Arial"/>
              </a:rPr>
              <a:t>22–30%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17–42% across baseline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3712463"/>
            <a:ext cx="2331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757575"/>
                </a:solidFill>
                <a:latin typeface="Arial"/>
              </a:rPr>
              <a:t>Guardrail &lt;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10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%  ·  </a:t>
            </a:r>
            <a:r>
              <a:rPr lang="en-US" sz="1050" b="1" i="0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FLAG &amp; MONITOR</a:t>
            </a:r>
            <a:endParaRPr sz="1050" b="1" i="0" dirty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34272" y="1481328"/>
            <a:ext cx="2706624" cy="260604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700784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ADJACENT-CATEGORY HALO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0057B8"/>
                </a:solidFill>
                <a:latin typeface="Arial"/>
              </a:rPr>
              <a:t>+9%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27248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95% CI +3% to +15% vs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12463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+5%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11183112" cy="17830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681728"/>
            <a:ext cx="10469880" cy="112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VERDICT — a commercial success </a:t>
            </a:r>
            <a:r>
              <a:rPr lang="en-US" sz="1400" b="1" i="0" dirty="0">
                <a:solidFill>
                  <a:srgbClr val="FFFFFF"/>
                </a:solidFill>
                <a:latin typeface="Arial"/>
              </a:rPr>
              <a:t>limited by availability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 dirty="0">
                <a:solidFill>
                  <a:srgbClr val="FFFFFF"/>
                </a:solidFill>
                <a:latin typeface="Arial"/>
              </a:rPr>
              <a:t>The Vestal Pro delivered $207.7K of </a:t>
            </a:r>
            <a:r>
              <a:rPr sz="1250" b="0" i="0" u="sng" dirty="0">
                <a:solidFill>
                  <a:srgbClr val="FFFFFF"/>
                </a:solidFill>
                <a:latin typeface="Arial"/>
              </a:rPr>
              <a:t>direct revenue</a:t>
            </a:r>
            <a:r>
              <a:rPr sz="1250" b="0" i="0" dirty="0">
                <a:solidFill>
                  <a:srgbClr val="FFFFFF"/>
                </a:solidFill>
                <a:latin typeface="Arial"/>
              </a:rPr>
              <a:t> and $142.5K of </a:t>
            </a:r>
            <a:r>
              <a:rPr sz="1250" b="0" i="0" u="sng" dirty="0">
                <a:solidFill>
                  <a:srgbClr val="FFFFFF"/>
                </a:solidFill>
                <a:latin typeface="Arial"/>
              </a:rPr>
              <a:t>net incremental revenue</a:t>
            </a:r>
            <a:r>
              <a:rPr sz="1250" b="0" i="0" dirty="0">
                <a:solidFill>
                  <a:srgbClr val="FFFFFF"/>
                </a:solidFill>
                <a:latin typeface="Arial"/>
              </a:rPr>
              <a:t> (+29% vs the no-campaign baseline).</a:t>
            </a:r>
            <a:endParaRPr lang="en-US" sz="1250" b="0" i="0" dirty="0">
              <a:solidFill>
                <a:srgbClr val="FFFFFF"/>
              </a:solidFill>
              <a:latin typeface="Arial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b="0" i="0" dirty="0">
                <a:solidFill>
                  <a:srgbClr val="FFFFFF"/>
                </a:solidFill>
                <a:latin typeface="Arial"/>
              </a:rPr>
              <a:t>Gross Margin was $114.2K. After direct marketing expenses, </a:t>
            </a:r>
            <a:r>
              <a:rPr lang="en-US" sz="1250" b="0" i="0" u="sng" dirty="0">
                <a:solidFill>
                  <a:srgbClr val="FFFFFF"/>
                </a:solidFill>
                <a:latin typeface="Arial"/>
              </a:rPr>
              <a:t>Contribution Margin</a:t>
            </a:r>
            <a:r>
              <a:rPr lang="en-US" sz="1250" b="0" i="0" dirty="0">
                <a:solidFill>
                  <a:srgbClr val="FFFFFF"/>
                </a:solidFill>
                <a:latin typeface="Arial"/>
              </a:rPr>
              <a:t> (CM3) is $24.1K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u="sng" dirty="0">
                <a:solidFill>
                  <a:srgbClr val="FFFFFF"/>
                </a:solidFill>
                <a:latin typeface="Arial"/>
              </a:rPr>
              <a:t>Limited factors</a:t>
            </a:r>
            <a:r>
              <a:rPr lang="en-US" sz="1250" dirty="0">
                <a:solidFill>
                  <a:srgbClr val="FFFFFF"/>
                </a:solidFill>
                <a:latin typeface="Arial"/>
              </a:rPr>
              <a:t> included cannibalization of existing portfolio and limited availability in core sizes.</a:t>
            </a:r>
            <a:endParaRPr sz="125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2</a:t>
            </a:r>
          </a:p>
        </p:txBody>
      </p:sp>
      <p:pic>
        <p:nvPicPr>
          <p:cNvPr id="28" name="Picture 27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TOPLINE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Footwear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revenue was 33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% above the no-campaign baseline throughout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the launch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 · Baseline: pre-period trend + weekly seasonality; </a:t>
            </a:r>
            <a:r>
              <a:rPr sz="800" b="0" i="0" dirty="0" err="1">
                <a:solidFill>
                  <a:srgbClr val="757575"/>
                </a:solidFill>
                <a:latin typeface="Arial"/>
              </a:rPr>
              <a:t>backtest</a:t>
            </a:r>
            <a:r>
              <a:rPr sz="800" b="0" i="0" dirty="0">
                <a:solidFill>
                  <a:srgbClr val="757575"/>
                </a:solidFill>
                <a:latin typeface="Arial"/>
              </a:rPr>
              <a:t> MAPE 10.1%</a:t>
            </a:r>
            <a:r>
              <a:rPr lang="en-US" sz="800" dirty="0">
                <a:solidFill>
                  <a:srgbClr val="757575"/>
                </a:solidFill>
                <a:latin typeface="Arial"/>
              </a:rPr>
              <a:t> · FOOTWEAR ONLY</a:t>
            </a:r>
            <a:endParaRPr sz="8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5</a:t>
            </a:r>
          </a:p>
        </p:txBody>
      </p:sp>
      <p:pic>
        <p:nvPicPr>
          <p:cNvPr id="10" name="Picture 9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27" name="Picture 26" descr="The diagram illustrates a comparison of actual footwear revenue against a modeled baseline without campaigns, showing fluctuations over a period from April to July 2026.&#10;&#10;AI-generated content may be incorrect.">
            <a:extLst>
              <a:ext uri="{FF2B5EF4-FFF2-40B4-BE49-F238E27FC236}">
                <a16:creationId xmlns:a16="http://schemas.microsoft.com/office/drawing/2014/main" id="{64434D0D-7640-3878-BE81-3F62CC1E3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371973"/>
            <a:ext cx="8178093" cy="463920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E82E62F-FA01-E7F7-6EF9-0FEF33029B3C}"/>
              </a:ext>
            </a:extLst>
          </p:cNvPr>
          <p:cNvSpPr txBox="1"/>
          <p:nvPr/>
        </p:nvSpPr>
        <p:spPr>
          <a:xfrm>
            <a:off x="3951484" y="1693790"/>
            <a:ext cx="1394238" cy="1461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/>
            <a:r>
              <a:rPr sz="950" i="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Campaign start · </a:t>
            </a:r>
            <a:r>
              <a:rPr lang="en-US" sz="9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June 1</a:t>
            </a:r>
            <a:endParaRPr sz="95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</p:txBody>
      </p:sp>
      <p:cxnSp>
        <p:nvCxnSpPr>
          <p:cNvPr id="30" name="Connector 4">
            <a:extLst>
              <a:ext uri="{FF2B5EF4-FFF2-40B4-BE49-F238E27FC236}">
                <a16:creationId xmlns:a16="http://schemas.microsoft.com/office/drawing/2014/main" id="{2182B22E-D2F7-9B21-00D8-2C74D8A23957}"/>
              </a:ext>
            </a:extLst>
          </p:cNvPr>
          <p:cNvCxnSpPr>
            <a:cxnSpLocks/>
          </p:cNvCxnSpPr>
          <p:nvPr/>
        </p:nvCxnSpPr>
        <p:spPr>
          <a:xfrm>
            <a:off x="4607553" y="1870947"/>
            <a:ext cx="0" cy="3760267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2DB04F6-878A-7650-2CA9-516870587838}"/>
              </a:ext>
            </a:extLst>
          </p:cNvPr>
          <p:cNvCxnSpPr>
            <a:cxnSpLocks/>
          </p:cNvCxnSpPr>
          <p:nvPr/>
        </p:nvCxnSpPr>
        <p:spPr>
          <a:xfrm>
            <a:off x="6011870" y="1907414"/>
            <a:ext cx="0" cy="1063352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4C3E16-9C64-DE44-353F-A9C88D8B0E76}"/>
              </a:ext>
            </a:extLst>
          </p:cNvPr>
          <p:cNvSpPr txBox="1"/>
          <p:nvPr/>
        </p:nvSpPr>
        <p:spPr>
          <a:xfrm>
            <a:off x="5619129" y="1735937"/>
            <a:ext cx="802357" cy="1461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50" i="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Final comms</a:t>
            </a:r>
            <a:endParaRPr sz="95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4D8EF9-9D81-0106-B82E-21450F2E84FB}"/>
              </a:ext>
            </a:extLst>
          </p:cNvPr>
          <p:cNvSpPr txBox="1"/>
          <p:nvPr/>
        </p:nvSpPr>
        <p:spPr>
          <a:xfrm>
            <a:off x="8745156" y="1989167"/>
            <a:ext cx="3108960" cy="2717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 dirty="0">
                <a:solidFill>
                  <a:srgbClr val="757575"/>
                </a:solidFill>
                <a:latin typeface="Arial"/>
              </a:rPr>
              <a:t>ACTIVE CAMPAIGN, </a:t>
            </a:r>
            <a:r>
              <a:rPr lang="en-US" sz="1000" b="1" i="0" dirty="0">
                <a:solidFill>
                  <a:srgbClr val="757575"/>
                </a:solidFill>
                <a:latin typeface="Arial"/>
              </a:rPr>
              <a:t>~3 </a:t>
            </a:r>
            <a:r>
              <a:rPr sz="1000" b="1" i="0" dirty="0">
                <a:solidFill>
                  <a:srgbClr val="757575"/>
                </a:solidFill>
                <a:latin typeface="Arial"/>
              </a:rPr>
              <a:t>WEEKS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 dirty="0">
                <a:solidFill>
                  <a:srgbClr val="757575"/>
                </a:solidFill>
                <a:latin typeface="Arial"/>
              </a:rPr>
              <a:t>Observed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333333"/>
                </a:solidFill>
                <a:latin typeface="Arial"/>
              </a:rPr>
              <a:t>$</a:t>
            </a:r>
            <a:r>
              <a:rPr lang="en-US" sz="2200" b="1" dirty="0">
                <a:solidFill>
                  <a:srgbClr val="333333"/>
                </a:solidFill>
                <a:latin typeface="Arial"/>
              </a:rPr>
              <a:t>262.8</a:t>
            </a:r>
            <a:r>
              <a:rPr sz="2200" b="1" i="0" dirty="0">
                <a:solidFill>
                  <a:srgbClr val="333333"/>
                </a:solidFill>
                <a:latin typeface="Arial"/>
              </a:rPr>
              <a:t>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 dirty="0">
                <a:solidFill>
                  <a:srgbClr val="757575"/>
                </a:solidFill>
                <a:latin typeface="Arial"/>
              </a:rPr>
              <a:t>Counterfactual baseline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lang="en-US" sz="2200" b="1" i="0" dirty="0">
                <a:solidFill>
                  <a:srgbClr val="757575"/>
                </a:solidFill>
                <a:latin typeface="Arial"/>
              </a:rPr>
              <a:t>$193.5</a:t>
            </a:r>
            <a:r>
              <a:rPr sz="2200" b="1" i="0" dirty="0">
                <a:solidFill>
                  <a:srgbClr val="757575"/>
                </a:solidFill>
                <a:latin typeface="Arial"/>
              </a:rPr>
              <a:t>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 dirty="0">
                <a:solidFill>
                  <a:srgbClr val="757575"/>
                </a:solidFill>
                <a:latin typeface="Arial"/>
              </a:rPr>
              <a:t>Incremental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0057B8"/>
                </a:solidFill>
                <a:latin typeface="Arial"/>
              </a:rPr>
              <a:t>+$</a:t>
            </a:r>
            <a:r>
              <a:rPr lang="en-US" sz="2200" b="1" dirty="0">
                <a:solidFill>
                  <a:srgbClr val="0057B8"/>
                </a:solidFill>
                <a:latin typeface="Arial"/>
              </a:rPr>
              <a:t>69.3</a:t>
            </a:r>
            <a:r>
              <a:rPr sz="2200" b="1" i="0" dirty="0">
                <a:solidFill>
                  <a:srgbClr val="0057B8"/>
                </a:solidFill>
                <a:latin typeface="Arial"/>
              </a:rPr>
              <a:t>K  (+</a:t>
            </a:r>
            <a:r>
              <a:rPr lang="en-US" sz="2200" b="1" i="0" dirty="0">
                <a:solidFill>
                  <a:srgbClr val="0057B8"/>
                </a:solidFill>
                <a:latin typeface="Arial"/>
              </a:rPr>
              <a:t>35.8</a:t>
            </a:r>
            <a:r>
              <a:rPr sz="2200" b="1" i="0" dirty="0">
                <a:solidFill>
                  <a:srgbClr val="0057B8"/>
                </a:solidFill>
                <a:latin typeface="Arial"/>
              </a:rPr>
              <a:t>%)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 dirty="0">
                <a:solidFill>
                  <a:srgbClr val="333333"/>
                </a:solidFill>
                <a:latin typeface="Arial"/>
              </a:rPr>
              <a:t>95% CI +3</a:t>
            </a:r>
            <a:r>
              <a:rPr lang="en-US" sz="1050" b="0" i="0" dirty="0">
                <a:solidFill>
                  <a:srgbClr val="333333"/>
                </a:solidFill>
                <a:latin typeface="Arial"/>
              </a:rPr>
              <a:t>2</a:t>
            </a:r>
            <a:r>
              <a:rPr sz="1050" b="0" i="0" dirty="0">
                <a:solidFill>
                  <a:srgbClr val="333333"/>
                </a:solidFill>
                <a:latin typeface="Arial"/>
              </a:rPr>
              <a:t>% to +</a:t>
            </a:r>
            <a:r>
              <a:rPr lang="en-US" sz="1050" dirty="0">
                <a:solidFill>
                  <a:srgbClr val="333333"/>
                </a:solidFill>
                <a:latin typeface="Arial"/>
              </a:rPr>
              <a:t>40</a:t>
            </a:r>
            <a:r>
              <a:rPr sz="1050" b="0" i="0" dirty="0">
                <a:solidFill>
                  <a:srgbClr val="333333"/>
                </a:solidFill>
                <a:latin typeface="Arial"/>
              </a:rPr>
              <a:t>% · every campaign week ran above baseline · peak gap +$</a:t>
            </a:r>
            <a:r>
              <a:rPr lang="en-US" sz="1050" dirty="0">
                <a:solidFill>
                  <a:srgbClr val="333333"/>
                </a:solidFill>
                <a:latin typeface="Arial"/>
              </a:rPr>
              <a:t>29</a:t>
            </a:r>
            <a:r>
              <a:rPr sz="1050" b="0" i="0" dirty="0">
                <a:solidFill>
                  <a:srgbClr val="333333"/>
                </a:solidFill>
                <a:latin typeface="Arial"/>
              </a:rPr>
              <a:t>K in launch week</a:t>
            </a:r>
            <a:endParaRPr lang="en-US" sz="10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421296-6D36-5BA2-0BBB-85ACABA9BD75}"/>
              </a:ext>
            </a:extLst>
          </p:cNvPr>
          <p:cNvSpPr txBox="1"/>
          <p:nvPr/>
        </p:nvSpPr>
        <p:spPr>
          <a:xfrm>
            <a:off x="6655432" y="1870947"/>
            <a:ext cx="1591173" cy="1461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Incrementality Persists</a:t>
            </a:r>
            <a:endParaRPr sz="95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6B8B920B-D082-C7E8-9CD9-051B8E07D7AA}"/>
              </a:ext>
            </a:extLst>
          </p:cNvPr>
          <p:cNvSpPr/>
          <p:nvPr/>
        </p:nvSpPr>
        <p:spPr>
          <a:xfrm rot="5400000">
            <a:off x="7157421" y="2512903"/>
            <a:ext cx="292388" cy="1539807"/>
          </a:xfrm>
          <a:prstGeom prst="leftBrac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88AC56-9AB6-D5E4-79F2-FDD7D90EF49B}"/>
              </a:ext>
            </a:extLst>
          </p:cNvPr>
          <p:cNvCxnSpPr>
            <a:cxnSpLocks/>
          </p:cNvCxnSpPr>
          <p:nvPr/>
        </p:nvCxnSpPr>
        <p:spPr>
          <a:xfrm flipH="1">
            <a:off x="7306008" y="2040342"/>
            <a:ext cx="145011" cy="109627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0DEA-41C2-4717-7BB7-2E2510AA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270C0-0E14-AE60-2BDE-B604056B919A}"/>
              </a:ext>
            </a:extLst>
          </p:cNvPr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757575"/>
                </a:solidFill>
                <a:latin typeface="Arial"/>
              </a:rPr>
              <a:t>SALES DECOMPOSITION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C6D62-E787-BDC4-A8A4-88F4F066067B}"/>
              </a:ext>
            </a:extLst>
          </p:cNvPr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Contribution Margin of ~4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K limited by Franchise Shift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C852A-0947-CC31-24EA-21558B7529F1}"/>
              </a:ext>
            </a:extLst>
          </p:cNvPr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D592D-5118-0F52-8A16-F0154A8C5542}"/>
              </a:ext>
            </a:extLst>
          </p:cNvPr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6</a:t>
            </a:r>
          </a:p>
        </p:txBody>
      </p:sp>
      <p:pic>
        <p:nvPicPr>
          <p:cNvPr id="8" name="Picture 7" descr="salomon_wordmark_black.png">
            <a:extLst>
              <a:ext uri="{FF2B5EF4-FFF2-40B4-BE49-F238E27FC236}">
                <a16:creationId xmlns:a16="http://schemas.microsoft.com/office/drawing/2014/main" id="{5EE0F2A8-B8E1-20F0-A76D-D19F00756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10" name="Picture 9" descr="The diagram illustrates the net campaign value of $35K, after accounting for direct marketing spend ($43K), COGS ($31K), and resulting in a contribution margin of $4K.&#10;&#10;AI-generated content may be incorrect.">
            <a:extLst>
              <a:ext uri="{FF2B5EF4-FFF2-40B4-BE49-F238E27FC236}">
                <a16:creationId xmlns:a16="http://schemas.microsoft.com/office/drawing/2014/main" id="{7565D719-965D-D210-8AFA-EC5825F0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62" y="1172764"/>
            <a:ext cx="7817207" cy="4565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17997E-14A7-467E-4AF8-2DFB786A3FE8}"/>
              </a:ext>
            </a:extLst>
          </p:cNvPr>
          <p:cNvSpPr txBox="1"/>
          <p:nvPr/>
        </p:nvSpPr>
        <p:spPr>
          <a:xfrm>
            <a:off x="7774445" y="2233767"/>
            <a:ext cx="4272519" cy="2647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Baseline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$234.0K of business would have occurred without the campaign and is excluded. Only movement vs. baseline is counted.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Sales Shift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$30.5K of Vestal Pro revenue displaced Ultra Glide and Sense Ride sales, net of </a:t>
            </a:r>
            <a:r>
              <a:rPr lang="en-US" sz="1100" dirty="0" err="1">
                <a:solidFill>
                  <a:srgbClr val="333333"/>
                </a:solidFill>
                <a:latin typeface="Arial"/>
              </a:rPr>
              <a:t>Speedcross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 gains (19–32% of Vestal Pro units).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Marketing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$74.6K campaign spend less $31.6K baseline 20-day run rate → $43.0K additional spend.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dirty="0">
                <a:solidFill>
                  <a:srgbClr val="333333"/>
                </a:solidFill>
                <a:latin typeface="Arial"/>
              </a:rPr>
              <a:t>	</a:t>
            </a:r>
            <a:r>
              <a:rPr lang="en-US" sz="1100" i="1" dirty="0">
                <a:solidFill>
                  <a:srgbClr val="333333"/>
                </a:solidFill>
                <a:latin typeface="Arial"/>
              </a:rPr>
              <a:t>** Paid investment is persistent (more on this…) **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Return on Marketing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$77.5K ÷ $43.0K = 1.80× on a revenue basis.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100" b="1" dirty="0">
                <a:solidFill>
                  <a:srgbClr val="333333"/>
                </a:solidFill>
                <a:latin typeface="Arial"/>
              </a:rPr>
              <a:t>Contribution Margin (CM3)</a:t>
            </a:r>
            <a:r>
              <a:rPr lang="en-US" sz="1100" dirty="0">
                <a:solidFill>
                  <a:srgbClr val="333333"/>
                </a:solidFill>
                <a:latin typeface="Arial"/>
              </a:rPr>
              <a:t>: After accounting for COGS and direct overhead, CM3 sit at $3.5K.</a:t>
            </a:r>
            <a:endParaRPr lang="en-US" sz="1100" b="0" i="0" dirty="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DE4B2E-FBA8-C266-0E27-5E9BF89C30B6}"/>
              </a:ext>
            </a:extLst>
          </p:cNvPr>
          <p:cNvCxnSpPr>
            <a:cxnSpLocks/>
          </p:cNvCxnSpPr>
          <p:nvPr/>
        </p:nvCxnSpPr>
        <p:spPr>
          <a:xfrm flipH="1">
            <a:off x="4168942" y="3778197"/>
            <a:ext cx="661737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B29B8B-707A-5ED5-BC88-D4D5FAC23634}"/>
              </a:ext>
            </a:extLst>
          </p:cNvPr>
          <p:cNvSpPr txBox="1"/>
          <p:nvPr/>
        </p:nvSpPr>
        <p:spPr>
          <a:xfrm>
            <a:off x="4775970" y="3647392"/>
            <a:ext cx="2078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Persistent effect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362A5B-97B9-4102-9411-46125E1F3F7A}"/>
              </a:ext>
            </a:extLst>
          </p:cNvPr>
          <p:cNvCxnSpPr>
            <a:cxnSpLocks/>
          </p:cNvCxnSpPr>
          <p:nvPr/>
        </p:nvCxnSpPr>
        <p:spPr>
          <a:xfrm flipH="1">
            <a:off x="4090865" y="2502569"/>
            <a:ext cx="5113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213073-8F80-0566-7942-346C278D95C4}"/>
              </a:ext>
            </a:extLst>
          </p:cNvPr>
          <p:cNvSpPr txBox="1"/>
          <p:nvPr/>
        </p:nvSpPr>
        <p:spPr>
          <a:xfrm>
            <a:off x="4602207" y="2361606"/>
            <a:ext cx="11400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Primary Concern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32138-DFC6-EF7A-370B-04972780E333}"/>
              </a:ext>
            </a:extLst>
          </p:cNvPr>
          <p:cNvSpPr txBox="1"/>
          <p:nvPr/>
        </p:nvSpPr>
        <p:spPr>
          <a:xfrm>
            <a:off x="7774445" y="1911952"/>
            <a:ext cx="5394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757575"/>
                </a:solidFill>
                <a:latin typeface="Arial"/>
              </a:rPr>
              <a:t>INCREMENTALITY BREAKDOWN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49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CANNIBALIZATION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BREAKDOWN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19–32% of Vestal Pro units shifted from existing shoes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; exceeding 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10% threshold.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 · Unit baselines per franchise; range reflects </a:t>
            </a:r>
            <a:r>
              <a:rPr lang="en-US" sz="800" b="0" i="0" dirty="0">
                <a:solidFill>
                  <a:srgbClr val="757575"/>
                </a:solidFill>
                <a:latin typeface="Arial"/>
              </a:rPr>
              <a:t>baseline forecast uncertainty</a:t>
            </a:r>
            <a:endParaRPr sz="8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8</a:t>
            </a:r>
          </a:p>
        </p:txBody>
      </p:sp>
      <p:pic>
        <p:nvPicPr>
          <p:cNvPr id="12" name="Picture 11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16" name="Picture 15" descr="The image displays a chart comparing campaign-period unit changes to an expected baseline, showing a +2% increase, -15% decrease, and -26% decrease, with categories labeled as Ultra Glide, Sense Ride, and Speedcross.&#10;&#10;AI-generated content may be incorrect.">
            <a:extLst>
              <a:ext uri="{FF2B5EF4-FFF2-40B4-BE49-F238E27FC236}">
                <a16:creationId xmlns:a16="http://schemas.microsoft.com/office/drawing/2014/main" id="{BE3DF061-0D4F-724D-5B57-0E4889E1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8609"/>
            <a:ext cx="7214614" cy="42806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3AA3B7-4504-7461-E05E-7A04EC99A85D}"/>
              </a:ext>
            </a:extLst>
          </p:cNvPr>
          <p:cNvSpPr txBox="1"/>
          <p:nvPr/>
        </p:nvSpPr>
        <p:spPr>
          <a:xfrm>
            <a:off x="7086600" y="137224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OVERALL CANNIBALIZATION ESTIMATE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EC008-E86B-BB1E-B68A-E0227EE13781}"/>
              </a:ext>
            </a:extLst>
          </p:cNvPr>
          <p:cNvSpPr txBox="1"/>
          <p:nvPr/>
        </p:nvSpPr>
        <p:spPr>
          <a:xfrm>
            <a:off x="7086600" y="1840512"/>
            <a:ext cx="4572000" cy="75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DA291C"/>
                </a:solidFill>
                <a:latin typeface="Arial"/>
              </a:rPr>
              <a:t>19–32%</a:t>
            </a:r>
            <a:endParaRPr sz="1300" b="0" i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150" b="0" i="0" dirty="0">
                <a:solidFill>
                  <a:srgbClr val="757575"/>
                </a:solidFill>
                <a:latin typeface="Arial"/>
              </a:rPr>
              <a:t>Goal &lt; </a:t>
            </a:r>
            <a:r>
              <a:rPr lang="en-US" sz="1150" b="0" i="0" dirty="0">
                <a:solidFill>
                  <a:srgbClr val="757575"/>
                </a:solidFill>
                <a:latin typeface="Arial"/>
              </a:rPr>
              <a:t>10</a:t>
            </a:r>
            <a:r>
              <a:rPr sz="1150" b="0" i="0" dirty="0">
                <a:solidFill>
                  <a:srgbClr val="757575"/>
                </a:solidFill>
                <a:latin typeface="Arial"/>
              </a:rPr>
              <a:t>% · </a:t>
            </a:r>
            <a:r>
              <a:rPr sz="1150" b="1" i="0" dirty="0">
                <a:solidFill>
                  <a:schemeClr val="accent1"/>
                </a:solidFill>
                <a:latin typeface="Arial"/>
              </a:rPr>
              <a:t>WATCH</a:t>
            </a:r>
            <a:endParaRPr sz="115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A2D8F-D114-4311-F64E-C1212D5B5A9F}"/>
              </a:ext>
            </a:extLst>
          </p:cNvPr>
          <p:cNvSpPr txBox="1"/>
          <p:nvPr/>
        </p:nvSpPr>
        <p:spPr>
          <a:xfrm>
            <a:off x="8737707" y="1930997"/>
            <a:ext cx="2280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  <a:latin typeface="Arial"/>
              </a:rPr>
              <a:t>of Vestal Pro units cannibalized existing portfolio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642DC-B5C0-3D18-ECD9-49E05A17835B}"/>
              </a:ext>
            </a:extLst>
          </p:cNvPr>
          <p:cNvSpPr txBox="1"/>
          <p:nvPr/>
        </p:nvSpPr>
        <p:spPr>
          <a:xfrm>
            <a:off x="7086600" y="2863959"/>
            <a:ext cx="4572000" cy="1979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The three baseline estimates are 19%, 28%, and 32%, with a median of 28%.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$30.5K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 of existing-shoe revenue was displaced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by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about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31%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of Vestal Pro's $99.8K direct revenue.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Sales shift is concentrated where product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positioning overlaps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. </a:t>
            </a:r>
            <a:endParaRPr lang="en-US" sz="1150" b="0" i="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en-US" sz="1150" b="0" i="0" dirty="0">
                <a:solidFill>
                  <a:srgbClr val="333333"/>
                </a:solidFill>
                <a:latin typeface="Arial"/>
              </a:rPr>
              <a:t>•  The launch remains net positive: +$69.3K in additional footwear revenue after the shift.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150" dirty="0">
                <a:solidFill>
                  <a:srgbClr val="333333"/>
                </a:solidFill>
                <a:latin typeface="Arial"/>
              </a:rPr>
              <a:t>• </a:t>
            </a:r>
            <a:r>
              <a:rPr lang="en-US" sz="1150" dirty="0" err="1">
                <a:solidFill>
                  <a:srgbClr val="333333"/>
                </a:solidFill>
                <a:latin typeface="Arial"/>
              </a:rPr>
              <a:t>Speedcross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 displacement is insignificant.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E3D2DA-5796-3584-EDB3-ED2796F107D6}"/>
              </a:ext>
            </a:extLst>
          </p:cNvPr>
          <p:cNvSpPr txBox="1"/>
          <p:nvPr/>
        </p:nvSpPr>
        <p:spPr>
          <a:xfrm>
            <a:off x="7086600" y="5293372"/>
            <a:ext cx="4572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MANAGE</a:t>
            </a:r>
            <a:r>
              <a:rPr lang="en-US" sz="1100" b="1" i="1" dirty="0">
                <a:latin typeface="Arial"/>
              </a:rPr>
              <a:t> </a:t>
            </a:r>
            <a:r>
              <a:rPr lang="en-US" sz="1100" i="1" dirty="0">
                <a:latin typeface="Arial"/>
              </a:rPr>
              <a:t>franchise shift with merchandising that reduces head-to-head substitution. </a:t>
            </a:r>
            <a:endParaRPr sz="1100" i="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CUSTOMER ACQUISITION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AND LTV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4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0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% of Vestal Pro 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buyers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 were new to Salomon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. A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cquired at half early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481328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ACQUISITION</a:t>
            </a:r>
            <a:r>
              <a:rPr lang="en-US" sz="1000" b="1" i="0" dirty="0">
                <a:solidFill>
                  <a:srgbClr val="757575"/>
                </a:solidFill>
                <a:latin typeface="Arial"/>
              </a:rPr>
              <a:t> METRICS</a:t>
            </a:r>
            <a:endParaRPr sz="100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1847088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 dirty="0">
                <a:solidFill>
                  <a:srgbClr val="333333"/>
                </a:solidFill>
                <a:latin typeface="Arial"/>
              </a:rPr>
              <a:t>$10</a:t>
            </a:r>
            <a:r>
              <a:rPr lang="en-US" sz="2100" b="1" i="0" dirty="0">
                <a:solidFill>
                  <a:srgbClr val="333333"/>
                </a:solidFill>
                <a:latin typeface="Arial"/>
              </a:rPr>
              <a:t>2</a:t>
            </a:r>
            <a:r>
              <a:rPr sz="2100" b="1" i="0" dirty="0">
                <a:solidFill>
                  <a:srgbClr val="333333"/>
                </a:solidFill>
                <a:latin typeface="Arial"/>
              </a:rPr>
              <a:t>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Blended CAC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$155.8K spend ÷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730 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new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34640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 dirty="0">
                <a:solidFill>
                  <a:srgbClr val="333333"/>
                </a:solidFill>
                <a:latin typeface="Arial"/>
              </a:rPr>
              <a:t>$1</a:t>
            </a:r>
            <a:r>
              <a:rPr lang="en-US" sz="2100" b="1" i="0" dirty="0">
                <a:solidFill>
                  <a:srgbClr val="333333"/>
                </a:solidFill>
                <a:latin typeface="Arial"/>
              </a:rPr>
              <a:t>29</a:t>
            </a:r>
            <a:r>
              <a:rPr sz="2100" b="1" i="0" dirty="0">
                <a:solidFill>
                  <a:srgbClr val="333333"/>
                </a:solidFill>
                <a:latin typeface="Arial"/>
              </a:rPr>
              <a:t>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First-order value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average first basket, new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22191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 dirty="0">
                <a:solidFill>
                  <a:srgbClr val="0057B8"/>
                </a:solidFill>
                <a:latin typeface="Arial"/>
              </a:rPr>
              <a:t>$</a:t>
            </a:r>
            <a:r>
              <a:rPr lang="en-US" sz="2100" b="1" i="0" dirty="0">
                <a:solidFill>
                  <a:srgbClr val="0057B8"/>
                </a:solidFill>
                <a:latin typeface="Arial"/>
              </a:rPr>
              <a:t>188</a:t>
            </a:r>
            <a:r>
              <a:rPr sz="2100" b="1" i="0" dirty="0">
                <a:solidFill>
                  <a:srgbClr val="0057B8"/>
                </a:solidFill>
                <a:latin typeface="Arial"/>
              </a:rPr>
              <a:t>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Early customer value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revenue through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June 20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 ·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1.8</a:t>
            </a:r>
            <a:r>
              <a:rPr sz="1050" b="0" i="0" dirty="0">
                <a:solidFill>
                  <a:srgbClr val="757575"/>
                </a:solidFill>
                <a:latin typeface="Arial"/>
              </a:rPr>
              <a:t>× 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809744"/>
            <a:ext cx="3474720" cy="51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2100" b="1" dirty="0">
                <a:solidFill>
                  <a:srgbClr val="333333"/>
                </a:solidFill>
                <a:latin typeface="Arial"/>
              </a:rPr>
              <a:t>28.1</a:t>
            </a:r>
            <a:r>
              <a:rPr sz="2100" b="1" i="0" dirty="0">
                <a:solidFill>
                  <a:srgbClr val="333333"/>
                </a:solidFill>
                <a:latin typeface="Arial"/>
              </a:rPr>
              <a:t>%   </a:t>
            </a:r>
            <a:r>
              <a:rPr sz="1200" b="1" i="0" dirty="0">
                <a:solidFill>
                  <a:srgbClr val="333333"/>
                </a:solidFill>
                <a:latin typeface="Arial"/>
              </a:rPr>
              <a:t>Post-period repeat rate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 dirty="0">
                <a:solidFill>
                  <a:srgbClr val="757575"/>
                </a:solidFill>
                <a:latin typeface="Arial"/>
              </a:rPr>
              <a:t>repurchased within 4 weeks of </a:t>
            </a:r>
            <a:r>
              <a:rPr lang="en-US" sz="1050" b="0" i="0" dirty="0">
                <a:solidFill>
                  <a:srgbClr val="757575"/>
                </a:solidFill>
                <a:latin typeface="Arial"/>
              </a:rPr>
              <a:t>initial purchase</a:t>
            </a:r>
            <a:endParaRPr sz="105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3879" y="5074920"/>
            <a:ext cx="3520440" cy="749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1,361 email and 678 SMS adds during the 20-day campaign.</a:t>
            </a:r>
            <a:endParaRPr sz="1050" b="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New Vestal Pro buyers opt in at 72% email / 40% SMS, vs 51% / 24% for existing buyers.</a:t>
            </a:r>
            <a:endParaRPr sz="1050" b="0" i="0" dirty="0">
              <a:solidFill>
                <a:schemeClr val="tx2">
                  <a:lumMod val="50000"/>
                  <a:lumOff val="50000"/>
                </a:schemeClr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7</a:t>
            </a:r>
          </a:p>
        </p:txBody>
      </p:sp>
      <p:pic>
        <p:nvPicPr>
          <p:cNvPr id="19" name="Picture 18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21" name="Picture 20" descr="The image displays a pie chart indicating that 25% of Vestal Pro buyers choose to pass, with new Salomon products being more popular at 268 and existing products at 399.&#10;&#10;AI-generated content may be incorrect.">
            <a:extLst>
              <a:ext uri="{FF2B5EF4-FFF2-40B4-BE49-F238E27FC236}">
                <a16:creationId xmlns:a16="http://schemas.microsoft.com/office/drawing/2014/main" id="{EDD06685-1F8D-CD67-638F-B32B434A1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08656"/>
            <a:ext cx="4313947" cy="3805518"/>
          </a:xfrm>
          <a:prstGeom prst="rect">
            <a:avLst/>
          </a:prstGeom>
        </p:spPr>
      </p:pic>
      <p:pic>
        <p:nvPicPr>
          <p:cNvPr id="23" name="Picture 22" descr="The diagram illustrates an increasing trend in daily database additions, with percentages rising from +35% to +37% and a significant increase in email activity, contrasted with a smaller growth in SMS engagement.&#10;&#10;AI-generated content may be incorrect.">
            <a:extLst>
              <a:ext uri="{FF2B5EF4-FFF2-40B4-BE49-F238E27FC236}">
                <a16:creationId xmlns:a16="http://schemas.microsoft.com/office/drawing/2014/main" id="{8A7433B0-14CE-40AB-7678-59C5DDFC7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277" y="1481327"/>
            <a:ext cx="4530844" cy="3497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F1A2-49D4-AE4A-1D0A-23C7A225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F255B-BC9F-3F24-461F-7B00C6BE6B54}"/>
              </a:ext>
            </a:extLst>
          </p:cNvPr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CUSTOMER ACQUISITION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AND LTV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D5D81-D5F6-4AAE-1E2A-8080FB2F4082}"/>
              </a:ext>
            </a:extLst>
          </p:cNvPr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Projected 24-month value of ~$387 per new customer; 3.8× acquisition cost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7D67C6-323C-82EF-4AC6-94AA08868144}"/>
              </a:ext>
            </a:extLst>
          </p:cNvPr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D1226-9BE7-41CB-399A-C53415DF9AB7}"/>
              </a:ext>
            </a:extLst>
          </p:cNvPr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7</a:t>
            </a:r>
          </a:p>
        </p:txBody>
      </p:sp>
      <p:pic>
        <p:nvPicPr>
          <p:cNvPr id="19" name="Picture 18" descr="salomon_wordmark_black.png">
            <a:extLst>
              <a:ext uri="{FF2B5EF4-FFF2-40B4-BE49-F238E27FC236}">
                <a16:creationId xmlns:a16="http://schemas.microsoft.com/office/drawing/2014/main" id="{C54FDC2E-F88A-4793-C382-698F26484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pic>
        <p:nvPicPr>
          <p:cNvPr id="5" name="Picture 4" descr="The diagram illustrates the projected and actual customer lifetime values, including the first order, blended customer acquisition cost (CAC), and the cumulative value per customer over time.&#10;&#10;AI-generated content may be incorrect.">
            <a:extLst>
              <a:ext uri="{FF2B5EF4-FFF2-40B4-BE49-F238E27FC236}">
                <a16:creationId xmlns:a16="http://schemas.microsoft.com/office/drawing/2014/main" id="{4BADB25B-6C91-F75F-9BCD-A697A8C85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834765"/>
            <a:ext cx="6484213" cy="402353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9F3486-0308-AEA3-B6CD-45160B32CA97}"/>
              </a:ext>
            </a:extLst>
          </p:cNvPr>
          <p:cNvCxnSpPr/>
          <p:nvPr/>
        </p:nvCxnSpPr>
        <p:spPr>
          <a:xfrm>
            <a:off x="5877289" y="2135926"/>
            <a:ext cx="0" cy="42578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ED6645-9556-3AB4-7674-3147830657AB}"/>
              </a:ext>
            </a:extLst>
          </p:cNvPr>
          <p:cNvSpPr txBox="1"/>
          <p:nvPr/>
        </p:nvSpPr>
        <p:spPr>
          <a:xfrm>
            <a:off x="5065149" y="1916665"/>
            <a:ext cx="1779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CLV cohort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A0C35-1420-E2C8-050C-10BB01FA0712}"/>
              </a:ext>
            </a:extLst>
          </p:cNvPr>
          <p:cNvSpPr txBox="1"/>
          <p:nvPr/>
        </p:nvSpPr>
        <p:spPr>
          <a:xfrm>
            <a:off x="7909069" y="2444115"/>
            <a:ext cx="3589511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• 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LTV Forecast of $387/customer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at 24 months (3.8x CAC) based on prior CLV cohort analysis.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•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Value is front-loaded: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We will see most of the LTV within the first 12 months (Roughly 86% accrues within the first year).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2">
                  <a:lumMod val="75000"/>
                  <a:lumOff val="25000"/>
                </a:schemeClr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• Currently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outperforming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/>
              </a:rPr>
              <a:t>LTV forecast at $188 after 4 weeks (1.8x CAC)</a:t>
            </a:r>
            <a:endParaRPr lang="en-US" sz="1200" dirty="0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4A273-82C4-4482-7C3F-54AA497D6B79}"/>
              </a:ext>
            </a:extLst>
          </p:cNvPr>
          <p:cNvSpPr txBox="1"/>
          <p:nvPr/>
        </p:nvSpPr>
        <p:spPr>
          <a:xfrm>
            <a:off x="7909069" y="2016692"/>
            <a:ext cx="5394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757575"/>
                </a:solidFill>
                <a:latin typeface="Arial"/>
              </a:rPr>
              <a:t>LIFETIME VALUE FORECAST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150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A335441-E4DE-8121-4407-C74C03AA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1308688"/>
            <a:ext cx="6832397" cy="408145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HALO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 i="0" dirty="0">
                <a:solidFill>
                  <a:srgbClr val="000000"/>
                </a:solidFill>
                <a:latin typeface="Georgia"/>
              </a:rPr>
              <a:t>Adjacent categories lifted +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20</a:t>
            </a:r>
            <a:r>
              <a:rPr sz="2300" b="0" i="0" dirty="0">
                <a:solidFill>
                  <a:srgbClr val="000000"/>
                </a:solidFill>
                <a:latin typeface="Georgia"/>
              </a:rPr>
              <a:t>%</a:t>
            </a:r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 driven by larger Vestal Pro carts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86600" y="135560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757575"/>
                </a:solidFill>
                <a:latin typeface="Arial"/>
              </a:rPr>
              <a:t>ATTACH RATE TO VESTAL PRO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752361"/>
            <a:ext cx="45720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400" b="1" dirty="0">
                <a:solidFill>
                  <a:srgbClr val="333333"/>
                </a:solidFill>
                <a:latin typeface="Arial"/>
              </a:rPr>
              <a:t>21</a:t>
            </a:r>
            <a:r>
              <a:rPr sz="3400" b="1" i="0" dirty="0">
                <a:solidFill>
                  <a:srgbClr val="333333"/>
                </a:solidFill>
                <a:latin typeface="Arial"/>
              </a:rPr>
              <a:t>.</a:t>
            </a:r>
            <a:r>
              <a:rPr lang="en-US" sz="3400" b="1" i="0" dirty="0">
                <a:solidFill>
                  <a:srgbClr val="333333"/>
                </a:solidFill>
                <a:latin typeface="Arial"/>
              </a:rPr>
              <a:t>6</a:t>
            </a:r>
            <a:r>
              <a:rPr sz="3400" b="1" i="0" dirty="0">
                <a:solidFill>
                  <a:srgbClr val="333333"/>
                </a:solidFill>
                <a:latin typeface="Arial"/>
              </a:rPr>
              <a:t>%</a:t>
            </a:r>
            <a:r>
              <a:rPr sz="1300" b="0" i="0" dirty="0">
                <a:solidFill>
                  <a:srgbClr val="757575"/>
                </a:solidFill>
                <a:latin typeface="Arial"/>
              </a:rPr>
              <a:t>   </a:t>
            </a:r>
            <a:r>
              <a:rPr lang="en-US" sz="1300" b="0" i="0" dirty="0">
                <a:solidFill>
                  <a:srgbClr val="757575"/>
                </a:solidFill>
                <a:latin typeface="Arial"/>
              </a:rPr>
              <a:t>+4.1ppts</a:t>
            </a:r>
            <a:r>
              <a:rPr sz="1300" b="0" i="0" dirty="0">
                <a:solidFill>
                  <a:srgbClr val="757575"/>
                </a:solidFill>
                <a:latin typeface="Arial"/>
              </a:rPr>
              <a:t> vs </a:t>
            </a:r>
            <a:r>
              <a:rPr lang="en-US" sz="1300" b="0" i="0" dirty="0">
                <a:solidFill>
                  <a:srgbClr val="757575"/>
                </a:solidFill>
                <a:latin typeface="Arial"/>
              </a:rPr>
              <a:t>17.5</a:t>
            </a:r>
            <a:r>
              <a:rPr sz="1300" b="0" i="0" dirty="0">
                <a:solidFill>
                  <a:srgbClr val="757575"/>
                </a:solidFill>
                <a:latin typeface="Arial"/>
              </a:rPr>
              <a:t>% </a:t>
            </a:r>
            <a:r>
              <a:rPr lang="en-US" sz="1300" b="0" i="0" dirty="0">
                <a:solidFill>
                  <a:srgbClr val="757575"/>
                </a:solidFill>
                <a:latin typeface="Arial"/>
              </a:rPr>
              <a:t>historical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9873" y="3158502"/>
            <a:ext cx="4572000" cy="1378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Halo effect realized mostly through larger Vestal Pro carts. New buyers attached accessories at a higher rate. Standalone adjacent demand up only 1%. </a:t>
            </a:r>
            <a:endParaRPr sz="1150" b="0" i="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Accessories led (+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2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6.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5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%); apparel followed (+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17.4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%). Other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adjacent categories lifted at 20.3%</a:t>
            </a:r>
            <a:endParaRPr sz="1150" b="0" i="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sz="1150" b="1" i="0" dirty="0">
                <a:solidFill>
                  <a:srgbClr val="333333"/>
                </a:solidFill>
                <a:latin typeface="Arial"/>
              </a:rPr>
              <a:t>Opportunity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: </a:t>
            </a:r>
            <a:endParaRPr lang="en-US" sz="115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 · Baseline: pre-period trend + weekly seasonality per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9</a:t>
            </a:r>
          </a:p>
        </p:txBody>
      </p:sp>
      <p:pic>
        <p:nvPicPr>
          <p:cNvPr id="12" name="Picture 11" descr="salomon_wordmar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40CD73-0872-1A2D-8929-3A1EC9B9F84C}"/>
              </a:ext>
            </a:extLst>
          </p:cNvPr>
          <p:cNvSpPr txBox="1"/>
          <p:nvPr/>
        </p:nvSpPr>
        <p:spPr>
          <a:xfrm>
            <a:off x="7380662" y="4615964"/>
            <a:ext cx="4117918" cy="1470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PDP bundles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(socks, jerseys, hydration) and enhanced item-item recommendation systems to support ancillary products.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Email &amp; CRM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messaging to Vestal Pro customers supporting frequent follow-up purchase products.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150" dirty="0">
                <a:solidFill>
                  <a:srgbClr val="333333"/>
                </a:solidFill>
                <a:latin typeface="Arial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D3317A-960A-E670-34EC-7362A111778B}"/>
              </a:ext>
            </a:extLst>
          </p:cNvPr>
          <p:cNvSpPr txBox="1"/>
          <p:nvPr/>
        </p:nvSpPr>
        <p:spPr>
          <a:xfrm>
            <a:off x="7079161" y="2346028"/>
            <a:ext cx="45720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400" b="1" dirty="0">
                <a:solidFill>
                  <a:srgbClr val="333333"/>
                </a:solidFill>
                <a:latin typeface="Arial"/>
              </a:rPr>
              <a:t>$8.2K</a:t>
            </a:r>
            <a:r>
              <a:rPr sz="1300" b="0" i="0" dirty="0">
                <a:solidFill>
                  <a:srgbClr val="757575"/>
                </a:solidFill>
                <a:latin typeface="Arial"/>
              </a:rPr>
              <a:t>   </a:t>
            </a:r>
            <a:r>
              <a:rPr lang="en-US" sz="1300" dirty="0">
                <a:solidFill>
                  <a:srgbClr val="757575"/>
                </a:solidFill>
                <a:latin typeface="Arial"/>
              </a:rPr>
              <a:t>of incremental halo revenue</a:t>
            </a:r>
            <a:endParaRPr lang="en-US" sz="1300" b="0" i="0" dirty="0">
              <a:solidFill>
                <a:srgbClr val="75757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isplays a bar chart comparing the incremental Return on Advertising Spend (ROAS) across different marketing channels, with Email being the most effective at 8.7x ROAS and SMS at 3.2x ROAS.&#10;&#10;AI-generated content may be incorrect.">
            <a:extLst>
              <a:ext uri="{FF2B5EF4-FFF2-40B4-BE49-F238E27FC236}">
                <a16:creationId xmlns:a16="http://schemas.microsoft.com/office/drawing/2014/main" id="{B3697564-00AE-4773-C959-74D5978E1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39" y="1456092"/>
            <a:ext cx="6712610" cy="38558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2944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All channels cleared breakeven except for paid social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6963" y="5119841"/>
            <a:ext cx="11337357" cy="1161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 dirty="0">
                <a:solidFill>
                  <a:srgbClr val="333333"/>
                </a:solidFill>
                <a:latin typeface="Arial"/>
              </a:rPr>
              <a:t>•  CRM: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8% of spend, 4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7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% of attributed revenue.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Efficient activation of an existing low-funnel audience. High-intent buyers inflate the metric.</a:t>
            </a:r>
            <a:endParaRPr sz="1150" b="0" i="0" dirty="0">
              <a:solidFill>
                <a:srgbClr val="333333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 dirty="0">
                <a:solidFill>
                  <a:srgbClr val="333333"/>
                </a:solidFill>
                <a:latin typeface="Arial"/>
              </a:rPr>
              <a:t>•  Paid social: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60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% of spend at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only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0.3× </a:t>
            </a:r>
            <a:r>
              <a:rPr sz="1150" b="0" i="0" dirty="0" err="1">
                <a:solidFill>
                  <a:srgbClr val="333333"/>
                </a:solidFill>
                <a:latin typeface="Arial"/>
              </a:rPr>
              <a:t>iROAS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. </a:t>
            </a:r>
            <a:r>
              <a:rPr lang="en-US" sz="1150" i="1" dirty="0">
                <a:solidFill>
                  <a:srgbClr val="333333"/>
                </a:solidFill>
                <a:latin typeface="Arial"/>
              </a:rPr>
              <a:t>However,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PS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acquired 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297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 of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730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new customers (4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1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%) at $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151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 CAC vs $</a:t>
            </a:r>
            <a:r>
              <a:rPr lang="en-US" sz="1150" b="0" i="0" dirty="0">
                <a:solidFill>
                  <a:srgbClr val="333333"/>
                </a:solidFill>
                <a:latin typeface="Arial"/>
              </a:rPr>
              <a:t>188 </a:t>
            </a:r>
            <a:r>
              <a:rPr sz="1150" b="0" i="0" dirty="0">
                <a:solidFill>
                  <a:srgbClr val="333333"/>
                </a:solidFill>
                <a:latin typeface="Arial"/>
              </a:rPr>
              <a:t>early value.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Acquisition will pay back via LTV. </a:t>
            </a:r>
            <a:endParaRPr lang="en-US" sz="1150" b="0" i="0" dirty="0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1" i="0" dirty="0">
                <a:solidFill>
                  <a:srgbClr val="333333"/>
                </a:solidFill>
                <a:latin typeface="Arial"/>
              </a:rPr>
              <a:t>•  Paid search: </a:t>
            </a:r>
            <a:r>
              <a:rPr lang="en-US" sz="1150" i="0" dirty="0">
                <a:solidFill>
                  <a:srgbClr val="333333"/>
                </a:solidFill>
                <a:latin typeface="Arial"/>
              </a:rPr>
              <a:t>25% of spend at 1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× </a:t>
            </a:r>
            <a:r>
              <a:rPr lang="en-US" sz="1150" i="0" dirty="0" err="1">
                <a:solidFill>
                  <a:srgbClr val="333333"/>
                </a:solidFill>
                <a:latin typeface="Arial"/>
              </a:rPr>
              <a:t>iROAS</a:t>
            </a:r>
            <a:r>
              <a:rPr lang="en-US" sz="1150" i="0" dirty="0">
                <a:solidFill>
                  <a:srgbClr val="333333"/>
                </a:solidFill>
                <a:latin typeface="Arial"/>
              </a:rPr>
              <a:t>.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Second largest acquisition source (175 new customers at $108 CAC).</a:t>
            </a:r>
            <a:r>
              <a:rPr lang="en-US" sz="1150" i="0" dirty="0">
                <a:solidFill>
                  <a:srgbClr val="333333"/>
                </a:solidFill>
                <a:latin typeface="Arial"/>
              </a:rPr>
              <a:t> Efficiency dropped through campaign as size curves broke. 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 Affiliate: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7% of spend at 1.4× </a:t>
            </a:r>
            <a:r>
              <a:rPr lang="en-US" sz="1150" dirty="0" err="1">
                <a:solidFill>
                  <a:srgbClr val="333333"/>
                </a:solidFill>
                <a:latin typeface="Arial"/>
              </a:rPr>
              <a:t>iROAS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 and lowest CAC at $82. Small share but positive. </a:t>
            </a:r>
            <a:r>
              <a:rPr lang="en-US" sz="1150" b="1" dirty="0">
                <a:solidFill>
                  <a:srgbClr val="333333"/>
                </a:solidFill>
                <a:latin typeface="Arial"/>
              </a:rPr>
              <a:t>TEST SCALING</a:t>
            </a:r>
            <a:endParaRPr lang="en-US" sz="115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salomon_wordmark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89065526-7F01-A908-165C-B694638D5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819983"/>
              </p:ext>
            </p:extLst>
          </p:nvPr>
        </p:nvGraphicFramePr>
        <p:xfrm>
          <a:off x="6497065" y="2244422"/>
          <a:ext cx="5347368" cy="16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851378" imgH="1536885" progId="Excel.Sheet.12">
                  <p:embed/>
                </p:oleObj>
              </mc:Choice>
              <mc:Fallback>
                <p:oleObj name="Worksheet" r:id="rId5" imgW="4851378" imgH="15368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7065" y="2244422"/>
                        <a:ext cx="5347368" cy="16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396B63-8D83-1FC9-12AE-69A01233EF33}"/>
              </a:ext>
            </a:extLst>
          </p:cNvPr>
          <p:cNvCxnSpPr>
            <a:cxnSpLocks/>
          </p:cNvCxnSpPr>
          <p:nvPr/>
        </p:nvCxnSpPr>
        <p:spPr>
          <a:xfrm>
            <a:off x="10698480" y="1804737"/>
            <a:ext cx="674370" cy="40830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A8A9F11-6579-2EB6-9AFC-5779DC3CD209}"/>
              </a:ext>
            </a:extLst>
          </p:cNvPr>
          <p:cNvSpPr txBox="1"/>
          <p:nvPr/>
        </p:nvSpPr>
        <p:spPr>
          <a:xfrm>
            <a:off x="9745579" y="1418247"/>
            <a:ext cx="1503948" cy="41549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ROAS </a:t>
            </a:r>
            <a: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× Incremental Revenue Factor of .34</a:t>
            </a:r>
            <a:endParaRPr lang="en-US" sz="105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883E-C3D1-82A4-6748-8190617F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C0539-FE04-BD54-83A9-73B9941D3325}"/>
              </a:ext>
            </a:extLst>
          </p:cNvPr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757575"/>
                </a:solidFill>
                <a:latin typeface="Arial"/>
              </a:rPr>
              <a:t>BRAND AWARENESS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A3802-CC4F-64E2-DDC7-6AD865C43E5A}"/>
              </a:ext>
            </a:extLst>
          </p:cNvPr>
          <p:cNvSpPr txBox="1"/>
          <p:nvPr/>
        </p:nvSpPr>
        <p:spPr>
          <a:xfrm>
            <a:off x="502920" y="560683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Campaign investment supports persisten</a:t>
            </a:r>
            <a:r>
              <a:rPr lang="en-US" sz="2300" dirty="0">
                <a:solidFill>
                  <a:srgbClr val="000000"/>
                </a:solidFill>
                <a:latin typeface="Georgia"/>
              </a:rPr>
              <a:t>t brand awareness and recognition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793E5-4D4D-7FB2-01C7-AD5D000CF3F1}"/>
              </a:ext>
            </a:extLst>
          </p:cNvPr>
          <p:cNvSpPr txBox="1"/>
          <p:nvPr/>
        </p:nvSpPr>
        <p:spPr>
          <a:xfrm>
            <a:off x="3474719" y="4905912"/>
            <a:ext cx="7871059" cy="1557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Paid Media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investment during campaign supports lasting brand awareness impact. </a:t>
            </a:r>
            <a:endParaRPr lang="en-US" sz="1150" b="1" dirty="0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Brand impressions and clicks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+20% during campaign and persist at +22% above pre-campaign levels in the final two weeks (Jul 7–20). Brand awareness did not decay with media spend.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Non-brand search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 rose slightly (+8%) and reverted toward baseline (+5%) after campaign. The win is in brand awareness, not ultra-running market or seasonality.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Brand Clicks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lifted in-line with impressions. Impression quality did not deteriorate.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7106E-FBC3-0F31-6161-E3F76BB43CAB}"/>
              </a:ext>
            </a:extLst>
          </p:cNvPr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</a:t>
            </a:r>
            <a:r>
              <a:rPr lang="en-US" sz="800" b="0" i="0" dirty="0">
                <a:solidFill>
                  <a:srgbClr val="757575"/>
                </a:solidFill>
                <a:latin typeface="Arial"/>
              </a:rPr>
              <a:t>t</a:t>
            </a:r>
            <a:endParaRPr sz="800" b="0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59157-4A39-1346-F89C-119B20A43B7F}"/>
              </a:ext>
            </a:extLst>
          </p:cNvPr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salomon_wordmark_black.png">
            <a:extLst>
              <a:ext uri="{FF2B5EF4-FFF2-40B4-BE49-F238E27FC236}">
                <a16:creationId xmlns:a16="http://schemas.microsoft.com/office/drawing/2014/main" id="{E4B2EC17-CFD8-6BE3-B4B2-7FD57DA01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D7BB72-875B-5150-097E-F03B45B74A8C}"/>
              </a:ext>
            </a:extLst>
          </p:cNvPr>
          <p:cNvSpPr txBox="1"/>
          <p:nvPr/>
        </p:nvSpPr>
        <p:spPr>
          <a:xfrm>
            <a:off x="608197" y="4875135"/>
            <a:ext cx="96493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400" b="1" dirty="0">
                <a:solidFill>
                  <a:srgbClr val="333333"/>
                </a:solidFill>
                <a:latin typeface="Arial"/>
              </a:rPr>
              <a:t>22</a:t>
            </a:r>
            <a:r>
              <a:rPr sz="3400" b="1" i="0" dirty="0">
                <a:solidFill>
                  <a:srgbClr val="333333"/>
                </a:solidFill>
                <a:latin typeface="Arial"/>
              </a:rPr>
              <a:t>%</a:t>
            </a:r>
            <a:endParaRPr lang="en-US" sz="1300" b="0" i="0" dirty="0">
              <a:solidFill>
                <a:srgbClr val="757575"/>
              </a:solidFill>
              <a:latin typeface="Arial"/>
            </a:endParaRPr>
          </a:p>
        </p:txBody>
      </p:sp>
      <p:pic>
        <p:nvPicPr>
          <p:cNvPr id="17" name="Picture 16" descr="The image displays a comparison of branded and non-brand search impressions over a period of time, showing that branded searches have a higher click-through rate (CTR) than non-branded searches.&#10;&#10;AI-generated content may be incorrect.">
            <a:extLst>
              <a:ext uri="{FF2B5EF4-FFF2-40B4-BE49-F238E27FC236}">
                <a16:creationId xmlns:a16="http://schemas.microsoft.com/office/drawing/2014/main" id="{6EBDC609-DBD8-4127-A393-DDD8CB46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80479"/>
            <a:ext cx="10385659" cy="37649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CA05D9D-6860-46A0-EEA3-78A2F31AB904}"/>
              </a:ext>
            </a:extLst>
          </p:cNvPr>
          <p:cNvSpPr txBox="1"/>
          <p:nvPr/>
        </p:nvSpPr>
        <p:spPr>
          <a:xfrm>
            <a:off x="1413710" y="4905912"/>
            <a:ext cx="1548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lift in branded </a:t>
            </a:r>
          </a:p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search impressions.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57B17A-567A-60A7-A566-96F6DA4B6736}"/>
              </a:ext>
            </a:extLst>
          </p:cNvPr>
          <p:cNvSpPr txBox="1"/>
          <p:nvPr/>
        </p:nvSpPr>
        <p:spPr>
          <a:xfrm>
            <a:off x="1413710" y="5495928"/>
            <a:ext cx="1368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Impression quality </a:t>
            </a:r>
          </a:p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measured by CTR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4413CB-B074-936F-6595-A65F2885C110}"/>
              </a:ext>
            </a:extLst>
          </p:cNvPr>
          <p:cNvCxnSpPr>
            <a:cxnSpLocks/>
          </p:cNvCxnSpPr>
          <p:nvPr/>
        </p:nvCxnSpPr>
        <p:spPr>
          <a:xfrm>
            <a:off x="7259853" y="1697695"/>
            <a:ext cx="97458" cy="425879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ACB880-3B4F-3980-D19D-9C40D7F13F85}"/>
              </a:ext>
            </a:extLst>
          </p:cNvPr>
          <p:cNvSpPr txBox="1"/>
          <p:nvPr/>
        </p:nvSpPr>
        <p:spPr>
          <a:xfrm>
            <a:off x="7080584" y="1395728"/>
            <a:ext cx="1233235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Lag due to 7day MA and paid media ramp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D77B82-D9B1-335A-A848-BE1B3463E6D5}"/>
              </a:ext>
            </a:extLst>
          </p:cNvPr>
          <p:cNvCxnSpPr>
            <a:cxnSpLocks/>
          </p:cNvCxnSpPr>
          <p:nvPr/>
        </p:nvCxnSpPr>
        <p:spPr>
          <a:xfrm flipH="1">
            <a:off x="8840802" y="1597142"/>
            <a:ext cx="291166" cy="328305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CC043C5-101E-A406-D606-9B0508017A6C}"/>
              </a:ext>
            </a:extLst>
          </p:cNvPr>
          <p:cNvSpPr txBox="1"/>
          <p:nvPr/>
        </p:nvSpPr>
        <p:spPr>
          <a:xfrm>
            <a:off x="8672762" y="1367373"/>
            <a:ext cx="918411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Persistence brand lift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035CF-A420-4BB4-D1AA-20BC3C317100}"/>
              </a:ext>
            </a:extLst>
          </p:cNvPr>
          <p:cNvSpPr txBox="1"/>
          <p:nvPr/>
        </p:nvSpPr>
        <p:spPr>
          <a:xfrm>
            <a:off x="608197" y="5588260"/>
            <a:ext cx="96493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  <a:latin typeface="Arial"/>
              </a:rPr>
              <a:t>STABLE</a:t>
            </a:r>
            <a:endParaRPr lang="en-US" sz="1700" b="0" i="0" dirty="0">
              <a:solidFill>
                <a:srgbClr val="75757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3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he image displays a line graph illustrating the trend in conversion rates for a campaign ending on June 20, with a notable gap in conversion after the third week, and the number of views per day.&#10;&#10;AI-generated content may be incorrect.">
            <a:extLst>
              <a:ext uri="{FF2B5EF4-FFF2-40B4-BE49-F238E27FC236}">
                <a16:creationId xmlns:a16="http://schemas.microsoft.com/office/drawing/2014/main" id="{DC93BDA9-5446-2A02-4BE2-13A38A31B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46" y="1335506"/>
            <a:ext cx="6765620" cy="40738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57575"/>
                </a:solidFill>
                <a:latin typeface="Arial"/>
              </a:rPr>
              <a:t>INVENTORY</a:t>
            </a:r>
            <a:r>
              <a:rPr lang="en-US" sz="1050" b="1" i="0" dirty="0">
                <a:solidFill>
                  <a:srgbClr val="757575"/>
                </a:solidFill>
                <a:latin typeface="Arial"/>
              </a:rPr>
              <a:t> AND SALES PLANNING</a:t>
            </a:r>
            <a:endParaRPr sz="1050" b="1" i="0" dirty="0">
              <a:solidFill>
                <a:srgbClr val="757575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62478"/>
            <a:ext cx="112014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300" b="0" i="0" dirty="0">
                <a:solidFill>
                  <a:srgbClr val="000000"/>
                </a:solidFill>
                <a:latin typeface="Georgia"/>
              </a:rPr>
              <a:t>Broken size curves after 6 weeks cost an estimated $16.2K in demand</a:t>
            </a:r>
            <a:endParaRPr sz="2300" b="0" i="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11566" y="2241529"/>
            <a:ext cx="4692754" cy="3138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 dirty="0">
                <a:solidFill>
                  <a:srgbClr val="333333"/>
                </a:solidFill>
                <a:latin typeface="Arial"/>
              </a:rPr>
              <a:t>•  </a:t>
            </a:r>
            <a:r>
              <a:rPr lang="en-US" sz="1150" b="1" i="0" dirty="0">
                <a:solidFill>
                  <a:srgbClr val="333333"/>
                </a:solidFill>
                <a:latin typeface="Arial"/>
              </a:rPr>
              <a:t>Inventory (not demand)</a:t>
            </a:r>
            <a:r>
              <a:rPr lang="en-US" sz="1150" i="0" dirty="0">
                <a:solidFill>
                  <a:srgbClr val="333333"/>
                </a:solidFill>
                <a:latin typeface="Arial"/>
              </a:rPr>
              <a:t> constrained the campaign and demand capture.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Core sizes fell below 90% threshold by week 3.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Conversion rate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depression depressed from 4.6% </a:t>
            </a:r>
            <a:r>
              <a:rPr lang="en-US" sz="1150" dirty="0">
                <a:solidFill>
                  <a:srgbClr val="333333"/>
                </a:solidFill>
                <a:latin typeface="Arial"/>
                <a:sym typeface="Wingdings" panose="05000000000000000000" pitchFamily="2" charset="2"/>
              </a:rPr>
              <a:t> 3% due to inventory constraints. 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Unmet Demand: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112 units // ~16.2K value, modeled through conversion drop from baseline.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No substitution offset </a:t>
            </a:r>
            <a:r>
              <a:rPr lang="en-US" sz="1150" dirty="0">
                <a:solidFill>
                  <a:srgbClr val="333333"/>
                </a:solidFill>
                <a:latin typeface="Arial"/>
              </a:rPr>
              <a:t>counteracted lost Vestral Pro sales. Adjacent shoe categories held flat.</a:t>
            </a:r>
            <a:endParaRPr lang="en-US" sz="1150" i="0" dirty="0">
              <a:solidFill>
                <a:srgbClr val="333333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en-US" sz="1150" b="1" dirty="0">
                <a:solidFill>
                  <a:srgbClr val="333333"/>
                </a:solidFill>
                <a:latin typeface="Arial"/>
              </a:rPr>
              <a:t>• Opportunity:</a:t>
            </a:r>
          </a:p>
          <a:p>
            <a:r>
              <a:rPr lang="en-US" sz="1150" dirty="0">
                <a:solidFill>
                  <a:srgbClr val="333333"/>
                </a:solidFill>
                <a:latin typeface="Arial"/>
              </a:rPr>
              <a:t>    • Increase WOS purchasing plan on core sizes to create sales buffer.</a:t>
            </a:r>
          </a:p>
          <a:p>
            <a:r>
              <a:rPr lang="en-US" sz="1150" dirty="0">
                <a:solidFill>
                  <a:srgbClr val="333333"/>
                </a:solidFill>
                <a:latin typeface="Arial"/>
              </a:rPr>
              <a:t>    • Tie inventory indicators to purchasing and paid media actions including replenishment triggers and paid spend throttling. </a:t>
            </a:r>
            <a:endParaRPr lang="en-US" sz="1200" dirty="0"/>
          </a:p>
          <a:p>
            <a:pPr>
              <a:lnSpc>
                <a:spcPct val="112000"/>
              </a:lnSpc>
              <a:spcAft>
                <a:spcPts val="1000"/>
              </a:spcAft>
            </a:pPr>
            <a:endParaRPr sz="1150" b="0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salomon_wordmark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3A123F-D889-5543-5F4E-48B42A7D09F3}"/>
              </a:ext>
            </a:extLst>
          </p:cNvPr>
          <p:cNvCxnSpPr>
            <a:cxnSpLocks/>
          </p:cNvCxnSpPr>
          <p:nvPr/>
        </p:nvCxnSpPr>
        <p:spPr>
          <a:xfrm flipH="1" flipV="1">
            <a:off x="2314873" y="5322824"/>
            <a:ext cx="362153" cy="43734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306BD2-80C3-9950-1643-9CBA5E2AA22F}"/>
              </a:ext>
            </a:extLst>
          </p:cNvPr>
          <p:cNvSpPr txBox="1"/>
          <p:nvPr/>
        </p:nvSpPr>
        <p:spPr>
          <a:xfrm>
            <a:off x="2352173" y="5635846"/>
            <a:ext cx="854243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Sizes = M9-11 &amp; W7-9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4249D8-A3FE-DFB2-A52A-7BEFDDE3427B}"/>
              </a:ext>
            </a:extLst>
          </p:cNvPr>
          <p:cNvCxnSpPr>
            <a:cxnSpLocks/>
          </p:cNvCxnSpPr>
          <p:nvPr/>
        </p:nvCxnSpPr>
        <p:spPr>
          <a:xfrm flipV="1">
            <a:off x="669757" y="4932947"/>
            <a:ext cx="0" cy="657941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F5D0070-7EAD-3B01-D4D0-FA685B2A2A3A}"/>
              </a:ext>
            </a:extLst>
          </p:cNvPr>
          <p:cNvSpPr txBox="1"/>
          <p:nvPr/>
        </p:nvSpPr>
        <p:spPr>
          <a:xfrm>
            <a:off x="344904" y="5466569"/>
            <a:ext cx="854243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June 1  Campaign Start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3385BE-5ABE-2284-3C03-5F02C31A420F}"/>
              </a:ext>
            </a:extLst>
          </p:cNvPr>
          <p:cNvSpPr txBox="1"/>
          <p:nvPr/>
        </p:nvSpPr>
        <p:spPr>
          <a:xfrm>
            <a:off x="6908093" y="1828845"/>
            <a:ext cx="2324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OUTLIVED SUPPLY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54AC80-F1C8-395A-031B-55B86C63EB0E}"/>
              </a:ext>
            </a:extLst>
          </p:cNvPr>
          <p:cNvCxnSpPr>
            <a:cxnSpLocks/>
          </p:cNvCxnSpPr>
          <p:nvPr/>
        </p:nvCxnSpPr>
        <p:spPr>
          <a:xfrm flipH="1">
            <a:off x="2958912" y="1882171"/>
            <a:ext cx="722945" cy="39958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418E6C6-1DF5-6D65-7AF1-E25B0CA107E5}"/>
              </a:ext>
            </a:extLst>
          </p:cNvPr>
          <p:cNvSpPr txBox="1"/>
          <p:nvPr/>
        </p:nvSpPr>
        <p:spPr>
          <a:xfrm>
            <a:off x="3621535" y="1611291"/>
            <a:ext cx="1136954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Traffic follows paid media divestment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016"/>
            <a:ext cx="12191695" cy="6864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057B8"/>
                </a:solidFill>
                <a:latin typeface="Arial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0" i="0" dirty="0">
                <a:solidFill>
                  <a:srgbClr val="FFFFFF"/>
                </a:solidFill>
                <a:latin typeface="Georgia"/>
              </a:rPr>
              <a:t>Changes for next launch</a:t>
            </a:r>
            <a:endParaRPr sz="2800" b="0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5288" y="1618488"/>
            <a:ext cx="9966960" cy="384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dirty="0">
                <a:solidFill>
                  <a:srgbClr val="FFFFFF"/>
                </a:solidFill>
                <a:latin typeface="Arial"/>
              </a:rPr>
              <a:t>Buy deeper on core sizes</a:t>
            </a:r>
            <a:r>
              <a:rPr lang="en-US" sz="1150" dirty="0">
                <a:solidFill>
                  <a:srgbClr val="BFD5ED"/>
                </a:solidFill>
                <a:latin typeface="Arial"/>
              </a:rPr>
              <a:t> and replenish behind the launch. Core-size availability broke 90% in week 2 and bottomed near 43%, costing ≈112 units (≈$16.2K). Increase the WOS purchasing plan on core sizes and trigger replenishment order when ATS breaks threshold.</a:t>
            </a:r>
            <a:endParaRPr sz="1150" b="0" i="0" dirty="0">
              <a:solidFill>
                <a:srgbClr val="BFD5ED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04872"/>
            <a:ext cx="9966960" cy="384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250" b="1" i="0" dirty="0">
                <a:solidFill>
                  <a:srgbClr val="FFFFFF"/>
                </a:solidFill>
                <a:latin typeface="Arial"/>
              </a:rPr>
              <a:t>Gate and rebalance paid media.</a:t>
            </a:r>
            <a:r>
              <a:rPr lang="en-US" sz="1150" dirty="0">
                <a:solidFill>
                  <a:srgbClr val="BFD5ED"/>
                </a:solidFill>
                <a:latin typeface="Arial"/>
              </a:rPr>
              <a:t> Tie spend to inventory signals. Throttle when core availability breaks 90% rather than pushing traffic into a broken size curve. 41% of new customers at $151 CAC vs $188 early value; set the CAC target pre-launch and add a day-90 LTV readout.</a:t>
            </a:r>
            <a:endParaRPr sz="1150" b="0" i="0" dirty="0">
              <a:solidFill>
                <a:srgbClr val="BFD5ED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91256"/>
            <a:ext cx="9966960" cy="384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dirty="0">
                <a:solidFill>
                  <a:srgbClr val="FFFFFF"/>
                </a:solidFill>
                <a:latin typeface="Arial"/>
              </a:rPr>
              <a:t>Judge paid social on acquisition economics, not last-click revenue. </a:t>
            </a:r>
            <a:r>
              <a:rPr lang="en-US" sz="1150" dirty="0">
                <a:solidFill>
                  <a:srgbClr val="BFD5ED"/>
                </a:solidFill>
                <a:latin typeface="Arial"/>
              </a:rPr>
              <a:t>41% of new customers at $151 CAC vs $188 early value; set the CAC target pre-launch and add a day-90 LTV forecast.</a:t>
            </a:r>
            <a:endParaRPr sz="1150" b="0" i="0" dirty="0">
              <a:solidFill>
                <a:srgbClr val="BFD5ED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95935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57B8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13009"/>
            <a:ext cx="9966960" cy="384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50" b="1" dirty="0">
                <a:solidFill>
                  <a:srgbClr val="FFFFFF"/>
                </a:solidFill>
                <a:latin typeface="Arial"/>
              </a:rPr>
              <a:t>Support additional halo effects. </a:t>
            </a:r>
            <a:r>
              <a:rPr lang="en-US" sz="1150" dirty="0">
                <a:solidFill>
                  <a:srgbClr val="BFD5ED"/>
                </a:solidFill>
                <a:latin typeface="Arial"/>
              </a:rPr>
              <a:t>Double down on PDP bundles and item-item recommendations. Message buyers to push cross selling-products and common follow-up purchases.</a:t>
            </a:r>
            <a:endParaRPr sz="1150" b="0" i="0" dirty="0">
              <a:solidFill>
                <a:srgbClr val="BFD5ED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6510528"/>
            <a:ext cx="10515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757575"/>
                </a:solidFill>
                <a:latin typeface="Arial"/>
              </a:rPr>
              <a:t>Salomon NA eCommerce · Vestal Pro launch readout</a:t>
            </a:r>
          </a:p>
        </p:txBody>
      </p:sp>
      <p:pic>
        <p:nvPicPr>
          <p:cNvPr id="18" name="Picture 17" descr="salomon_wordmark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92608"/>
            <a:ext cx="960120" cy="1100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9E99627-A663-9D03-0D57-4198FBF9A0FD}"/>
              </a:ext>
            </a:extLst>
          </p:cNvPr>
          <p:cNvSpPr txBox="1"/>
          <p:nvPr/>
        </p:nvSpPr>
        <p:spPr>
          <a:xfrm>
            <a:off x="1411304" y="3959352"/>
            <a:ext cx="9966960" cy="384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50" b="1" i="0" dirty="0">
                <a:solidFill>
                  <a:srgbClr val="FFFFFF"/>
                </a:solidFill>
                <a:latin typeface="Arial"/>
              </a:rPr>
              <a:t>Cannibalization Management</a:t>
            </a:r>
            <a:r>
              <a:rPr sz="1250" b="1" i="0" dirty="0">
                <a:solidFill>
                  <a:srgbClr val="FFFFFF"/>
                </a:solidFill>
                <a:latin typeface="Arial"/>
              </a:rPr>
              <a:t>. </a:t>
            </a:r>
            <a:r>
              <a:rPr lang="en-US" sz="1150" dirty="0">
                <a:solidFill>
                  <a:srgbClr val="BFD5ED"/>
                </a:solidFill>
                <a:latin typeface="Arial"/>
              </a:rPr>
              <a:t>~28% of Vestal Pro units shifted from existing shoes displacing with $30.5K.  Next launch, improve product positioning, communication, and audience separation against overlapping models. Monitor cannibalization throughout campaign.</a:t>
            </a:r>
            <a:endParaRPr sz="1150" b="0" i="0" dirty="0">
              <a:solidFill>
                <a:srgbClr val="BFD5E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D774-5215-56D0-5E2D-5BEB935C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2B0E74-D5E6-28E0-4424-F20FC2FD15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88DE6-B55D-C61B-F685-4F509F0716EE}"/>
              </a:ext>
            </a:extLst>
          </p:cNvPr>
          <p:cNvSpPr txBox="1"/>
          <p:nvPr/>
        </p:nvSpPr>
        <p:spPr>
          <a:xfrm>
            <a:off x="822960" y="1965960"/>
            <a:ext cx="1051560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Georgia"/>
              </a:rPr>
              <a:t>THANK YOU</a:t>
            </a:r>
          </a:p>
          <a:p>
            <a:pPr algn="l"/>
            <a:r>
              <a:rPr lang="en-US" sz="4400" b="0" i="0" dirty="0">
                <a:solidFill>
                  <a:srgbClr val="FFFFFF"/>
                </a:solidFill>
                <a:latin typeface="Georgia"/>
              </a:rPr>
              <a:t>MERCI</a:t>
            </a:r>
            <a:endParaRPr sz="4400" b="0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12117-B385-77DE-78A5-DC270890AC11}"/>
              </a:ext>
            </a:extLst>
          </p:cNvPr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757575"/>
                </a:solidFill>
                <a:latin typeface="Arial"/>
              </a:rPr>
              <a:t>Marketing Insights &amp; Analytics</a:t>
            </a:r>
          </a:p>
        </p:txBody>
      </p:sp>
      <p:pic>
        <p:nvPicPr>
          <p:cNvPr id="7" name="Picture 6" descr="salomon_wordmark_white.png">
            <a:extLst>
              <a:ext uri="{FF2B5EF4-FFF2-40B4-BE49-F238E27FC236}">
                <a16:creationId xmlns:a16="http://schemas.microsoft.com/office/drawing/2014/main" id="{4137F25F-3223-1AA1-5222-9B0CA75E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00000"/>
            <a:ext cx="2560320" cy="293370"/>
          </a:xfrm>
          <a:prstGeom prst="rect">
            <a:avLst/>
          </a:prstGeom>
        </p:spPr>
      </p:pic>
      <p:pic>
        <p:nvPicPr>
          <p:cNvPr id="5" name="Picture 4" descr="The image shows a steep, rocky mountain side under a cloudy sky.&#10;&#10;AI-generated content may be incorrect.">
            <a:extLst>
              <a:ext uri="{FF2B5EF4-FFF2-40B4-BE49-F238E27FC236}">
                <a16:creationId xmlns:a16="http://schemas.microsoft.com/office/drawing/2014/main" id="{5D256C6D-8464-4352-96C6-EE210AA6C5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4851" y="0"/>
            <a:ext cx="13452826" cy="79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5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A7C4-DD03-977A-26ED-597F0799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9E9FC8-0A6C-639A-55CC-FF675D22BB1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55F5F-4D4F-01B7-4269-502598763585}"/>
              </a:ext>
            </a:extLst>
          </p:cNvPr>
          <p:cNvSpPr txBox="1"/>
          <p:nvPr/>
        </p:nvSpPr>
        <p:spPr>
          <a:xfrm>
            <a:off x="822960" y="1965960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Georgia"/>
              </a:rPr>
              <a:t>APPENDIX</a:t>
            </a:r>
            <a:endParaRPr sz="4400" b="0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042CB-5990-BF91-038A-7DA5859E0C0B}"/>
              </a:ext>
            </a:extLst>
          </p:cNvPr>
          <p:cNvSpPr txBox="1"/>
          <p:nvPr/>
        </p:nvSpPr>
        <p:spPr>
          <a:xfrm>
            <a:off x="822960" y="6080760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757575"/>
                </a:solidFill>
                <a:latin typeface="Arial"/>
              </a:rPr>
              <a:t>Marketing Insights &amp; Analytics</a:t>
            </a:r>
          </a:p>
        </p:txBody>
      </p:sp>
      <p:pic>
        <p:nvPicPr>
          <p:cNvPr id="7" name="Picture 6" descr="salomon_wordmark_white.png">
            <a:extLst>
              <a:ext uri="{FF2B5EF4-FFF2-40B4-BE49-F238E27FC236}">
                <a16:creationId xmlns:a16="http://schemas.microsoft.com/office/drawing/2014/main" id="{7E51FCA6-267E-8599-5BE8-75256019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00000"/>
            <a:ext cx="2560320" cy="29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7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DA291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1936</Words>
  <Application>Microsoft Office PowerPoint</Application>
  <PresentationFormat>Widescreen</PresentationFormat>
  <Paragraphs>202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Georgia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Anderson, Edward Clifford (eca4zm)</cp:lastModifiedBy>
  <cp:revision>41</cp:revision>
  <dcterms:created xsi:type="dcterms:W3CDTF">2013-01-27T09:14:16Z</dcterms:created>
  <dcterms:modified xsi:type="dcterms:W3CDTF">2026-07-18T22:48:09Z</dcterms:modified>
  <cp:category/>
</cp:coreProperties>
</file>